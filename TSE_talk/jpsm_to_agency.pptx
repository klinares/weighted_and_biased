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Quality indicator</c:v>
                </c:pt>
              </c:strCache>
            </c:strRef>
          </c:tx>
          <c:spPr>
            <a:solidFill>
              <a:srgbClr val="1B2A4A"/>
            </a:solidFill>
            <a:ln w="28575" cap="flat">
              <a:solidFill>
                <a:srgbClr val="1B2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2A4A"/>
              </a:solidFill>
              <a:ln w="9525" cap="flat">
                <a:solidFill>
                  <a:srgbClr val="1B2A4A"/>
                </a:solidFill>
                <a:prstDash val="solid"/>
                <a:round/>
              </a:ln>
              <a:effectLst/>
            </c:spPr>
          </c:marker>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Sheet1!$B$2:$B$25</c:f>
              <c:numCache>
                <c:formatCode>General</c:formatCode>
                <c:ptCount val="24"/>
                <c:pt idx="0">
                  <c:v>0.721</c:v>
                </c:pt>
                <c:pt idx="1">
                  <c:v>0.718</c:v>
                </c:pt>
                <c:pt idx="2">
                  <c:v>0.724</c:v>
                </c:pt>
                <c:pt idx="3">
                  <c:v>0.719</c:v>
                </c:pt>
                <c:pt idx="4">
                  <c:v>0.722</c:v>
                </c:pt>
                <c:pt idx="5">
                  <c:v>0.716</c:v>
                </c:pt>
                <c:pt idx="6">
                  <c:v>0.723</c:v>
                </c:pt>
                <c:pt idx="7">
                  <c:v>0.72</c:v>
                </c:pt>
                <c:pt idx="8">
                  <c:v>0.717</c:v>
                </c:pt>
                <c:pt idx="9">
                  <c:v>0.722</c:v>
                </c:pt>
                <c:pt idx="10">
                  <c:v>0.719</c:v>
                </c:pt>
                <c:pt idx="11">
                  <c:v>0.725</c:v>
                </c:pt>
                <c:pt idx="12">
                  <c:v>0.718</c:v>
                </c:pt>
                <c:pt idx="13">
                  <c:v>0.721</c:v>
                </c:pt>
                <c:pt idx="14">
                  <c:v>0.72</c:v>
                </c:pt>
                <c:pt idx="15">
                  <c:v>0.717</c:v>
                </c:pt>
                <c:pt idx="16">
                  <c:v>0.716</c:v>
                </c:pt>
                <c:pt idx="17">
                  <c:v>0.675</c:v>
                </c:pt>
                <c:pt idx="18">
                  <c:v>0.668</c:v>
                </c:pt>
                <c:pt idx="19">
                  <c:v>0.704</c:v>
                </c:pt>
                <c:pt idx="20">
                  <c:v>0.715</c:v>
                </c:pt>
                <c:pt idx="21">
                  <c:v>0.719</c:v>
                </c:pt>
                <c:pt idx="22">
                  <c:v>0.722</c:v>
                </c:pt>
                <c:pt idx="23">
                  <c:v>0.72</c:v>
                </c:pt>
              </c:numCache>
            </c:numRef>
          </c:val>
          <c:smooth val="0"/>
        </c:ser>
        <c:ser>
          <c:idx val="1"/>
          <c:order val="1"/>
          <c:tx>
            <c:strRef>
              <c:f>Sheet1!$C$1</c:f>
              <c:strCache>
                <c:ptCount val="1"/>
                <c:pt idx="0">
                  <c:v>Center line</c:v>
                </c:pt>
              </c:strCache>
            </c:strRef>
          </c:tx>
          <c:spPr>
            <a:solidFill>
              <a:srgbClr val="6B7280"/>
            </a:solidFill>
            <a:ln w="28575" cap="flat">
              <a:solidFill>
                <a:srgbClr val="6B72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7280"/>
              </a:solidFill>
              <a:ln w="9525" cap="flat">
                <a:solidFill>
                  <a:srgbClr val="6B7280"/>
                </a:solidFill>
                <a:prstDash val="solid"/>
                <a:round/>
              </a:ln>
              <a:effectLst/>
            </c:spPr>
          </c:marker>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Sheet1!$C$2:$C$25</c:f>
              <c:numCache>
                <c:formatCode>General</c:formatCode>
                <c:ptCount val="24"/>
                <c:pt idx="0">
                  <c:v>0.72</c:v>
                </c:pt>
                <c:pt idx="1">
                  <c:v>0.72</c:v>
                </c:pt>
                <c:pt idx="2">
                  <c:v>0.72</c:v>
                </c:pt>
                <c:pt idx="3">
                  <c:v>0.72</c:v>
                </c:pt>
                <c:pt idx="4">
                  <c:v>0.72</c:v>
                </c:pt>
                <c:pt idx="5">
                  <c:v>0.72</c:v>
                </c:pt>
                <c:pt idx="6">
                  <c:v>0.72</c:v>
                </c:pt>
                <c:pt idx="7">
                  <c:v>0.72</c:v>
                </c:pt>
                <c:pt idx="8">
                  <c:v>0.72</c:v>
                </c:pt>
                <c:pt idx="9">
                  <c:v>0.72</c:v>
                </c:pt>
                <c:pt idx="10">
                  <c:v>0.72</c:v>
                </c:pt>
                <c:pt idx="11">
                  <c:v>0.72</c:v>
                </c:pt>
                <c:pt idx="12">
                  <c:v>0.72</c:v>
                </c:pt>
                <c:pt idx="13">
                  <c:v>0.72</c:v>
                </c:pt>
                <c:pt idx="14">
                  <c:v>0.72</c:v>
                </c:pt>
                <c:pt idx="15">
                  <c:v>0.72</c:v>
                </c:pt>
                <c:pt idx="16">
                  <c:v>0.72</c:v>
                </c:pt>
                <c:pt idx="17">
                  <c:v>0.72</c:v>
                </c:pt>
                <c:pt idx="18">
                  <c:v>0.72</c:v>
                </c:pt>
                <c:pt idx="19">
                  <c:v>0.72</c:v>
                </c:pt>
                <c:pt idx="20">
                  <c:v>0.72</c:v>
                </c:pt>
                <c:pt idx="21">
                  <c:v>0.72</c:v>
                </c:pt>
                <c:pt idx="22">
                  <c:v>0.72</c:v>
                </c:pt>
                <c:pt idx="23">
                  <c:v>0.72</c:v>
                </c:pt>
              </c:numCache>
            </c:numRef>
          </c:val>
          <c:smooth val="0"/>
        </c:ser>
        <c:ser>
          <c:idx val="2"/>
          <c:order val="2"/>
          <c:tx>
            <c:strRef>
              <c:f>Sheet1!$D$1</c:f>
              <c:strCache>
                <c:ptCount val="1"/>
                <c:pt idx="0">
                  <c:v>Upper limit (3σ)</c:v>
                </c:pt>
              </c:strCache>
            </c:strRef>
          </c:tx>
          <c:spPr>
            <a:solidFill>
              <a:srgbClr val="9C2C2C"/>
            </a:solidFill>
            <a:ln w="28575" cap="flat">
              <a:solidFill>
                <a:srgbClr val="9C2C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C2C2C"/>
              </a:solidFill>
              <a:ln w="9525" cap="flat">
                <a:solidFill>
                  <a:srgbClr val="9C2C2C"/>
                </a:solidFill>
                <a:prstDash val="solid"/>
                <a:round/>
              </a:ln>
              <a:effectLst/>
            </c:spPr>
          </c:marker>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Sheet1!$D$2:$D$25</c:f>
              <c:numCache>
                <c:formatCode>General</c:formatCode>
                <c:ptCount val="24"/>
                <c:pt idx="0">
                  <c:v>0.756</c:v>
                </c:pt>
                <c:pt idx="1">
                  <c:v>0.756</c:v>
                </c:pt>
                <c:pt idx="2">
                  <c:v>0.756</c:v>
                </c:pt>
                <c:pt idx="3">
                  <c:v>0.756</c:v>
                </c:pt>
                <c:pt idx="4">
                  <c:v>0.756</c:v>
                </c:pt>
                <c:pt idx="5">
                  <c:v>0.756</c:v>
                </c:pt>
                <c:pt idx="6">
                  <c:v>0.756</c:v>
                </c:pt>
                <c:pt idx="7">
                  <c:v>0.756</c:v>
                </c:pt>
                <c:pt idx="8">
                  <c:v>0.756</c:v>
                </c:pt>
                <c:pt idx="9">
                  <c:v>0.756</c:v>
                </c:pt>
                <c:pt idx="10">
                  <c:v>0.756</c:v>
                </c:pt>
                <c:pt idx="11">
                  <c:v>0.756</c:v>
                </c:pt>
                <c:pt idx="12">
                  <c:v>0.756</c:v>
                </c:pt>
                <c:pt idx="13">
                  <c:v>0.756</c:v>
                </c:pt>
                <c:pt idx="14">
                  <c:v>0.756</c:v>
                </c:pt>
                <c:pt idx="15">
                  <c:v>0.756</c:v>
                </c:pt>
                <c:pt idx="16">
                  <c:v>0.756</c:v>
                </c:pt>
                <c:pt idx="17">
                  <c:v>0.756</c:v>
                </c:pt>
                <c:pt idx="18">
                  <c:v>0.756</c:v>
                </c:pt>
                <c:pt idx="19">
                  <c:v>0.756</c:v>
                </c:pt>
                <c:pt idx="20">
                  <c:v>0.756</c:v>
                </c:pt>
                <c:pt idx="21">
                  <c:v>0.756</c:v>
                </c:pt>
                <c:pt idx="22">
                  <c:v>0.756</c:v>
                </c:pt>
                <c:pt idx="23">
                  <c:v>0.756</c:v>
                </c:pt>
              </c:numCache>
            </c:numRef>
          </c:val>
          <c:smooth val="0"/>
        </c:ser>
        <c:ser>
          <c:idx val="3"/>
          <c:order val="3"/>
          <c:tx>
            <c:strRef>
              <c:f>Sheet1!$E$1</c:f>
              <c:strCache>
                <c:ptCount val="1"/>
                <c:pt idx="0">
                  <c:v>Lower limit (3σ)</c:v>
                </c:pt>
              </c:strCache>
            </c:strRef>
          </c:tx>
          <c:spPr>
            <a:solidFill>
              <a:srgbClr val="9C2C2C"/>
            </a:solidFill>
            <a:ln w="28575" cap="flat">
              <a:solidFill>
                <a:srgbClr val="9C2C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C2C2C"/>
              </a:solidFill>
              <a:ln w="9525" cap="flat">
                <a:solidFill>
                  <a:srgbClr val="9C2C2C"/>
                </a:solidFill>
                <a:prstDash val="solid"/>
                <a:round/>
              </a:ln>
              <a:effectLst/>
            </c:spPr>
          </c:marker>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Sheet1!$E$2:$E$25</c:f>
              <c:numCache>
                <c:formatCode>General</c:formatCode>
                <c:ptCount val="24"/>
                <c:pt idx="0">
                  <c:v>0.684</c:v>
                </c:pt>
                <c:pt idx="1">
                  <c:v>0.684</c:v>
                </c:pt>
                <c:pt idx="2">
                  <c:v>0.684</c:v>
                </c:pt>
                <c:pt idx="3">
                  <c:v>0.684</c:v>
                </c:pt>
                <c:pt idx="4">
                  <c:v>0.684</c:v>
                </c:pt>
                <c:pt idx="5">
                  <c:v>0.684</c:v>
                </c:pt>
                <c:pt idx="6">
                  <c:v>0.684</c:v>
                </c:pt>
                <c:pt idx="7">
                  <c:v>0.684</c:v>
                </c:pt>
                <c:pt idx="8">
                  <c:v>0.684</c:v>
                </c:pt>
                <c:pt idx="9">
                  <c:v>0.684</c:v>
                </c:pt>
                <c:pt idx="10">
                  <c:v>0.684</c:v>
                </c:pt>
                <c:pt idx="11">
                  <c:v>0.684</c:v>
                </c:pt>
                <c:pt idx="12">
                  <c:v>0.684</c:v>
                </c:pt>
                <c:pt idx="13">
                  <c:v>0.684</c:v>
                </c:pt>
                <c:pt idx="14">
                  <c:v>0.684</c:v>
                </c:pt>
                <c:pt idx="15">
                  <c:v>0.684</c:v>
                </c:pt>
                <c:pt idx="16">
                  <c:v>0.684</c:v>
                </c:pt>
                <c:pt idx="17">
                  <c:v>0.684</c:v>
                </c:pt>
                <c:pt idx="18">
                  <c:v>0.684</c:v>
                </c:pt>
                <c:pt idx="19">
                  <c:v>0.684</c:v>
                </c:pt>
                <c:pt idx="20">
                  <c:v>0.684</c:v>
                </c:pt>
                <c:pt idx="21">
                  <c:v>0.684</c:v>
                </c:pt>
                <c:pt idx="22">
                  <c:v>0.684</c:v>
                </c:pt>
                <c:pt idx="23">
                  <c:v>0.684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B7280"/>
                    </a:solidFill>
                    <a:latin typeface="Arial"/>
                  </a:defRPr>
                </a:pPr>
                <a:r>
                  <a:rPr sz="1000" b="0" i="0" u="none" strike="noStrike">
                    <a:solidFill>
                      <a:srgbClr val="6B7280"/>
                    </a:solidFill>
                    <a:latin typeface="Arial"/>
                  </a:rPr>
                  <a:t>Field week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0.77"/>
          <c:min val="0.65"/>
        </c:scaling>
        <c:delete val="0"/>
        <c:axPos val="l"/>
        <c:majorGridlines>
          <c:spPr>
            <a:ln w="6350" cap="flat">
              <a:solidFill>
                <a:srgbClr val="EA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280"/>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for ~18 minutes; questions at the end. The title is the thesis: the quality of what comes out (inferences) is bounded by the quality of what goes in, and Total Survey Error is how we reason about that across surveys, big data, and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portable thing from the program is not a technique but a mindset: name where error can enter, then decide where to spend effort. That mindset lets us reason about AI tools without hype or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for the whole degree, organized by domain rather than by course number. The left-accent colors preview the deck's color logic: blue = representation/design, amber = measurement, navy = inference, green = computing and new methods. The message: this wasn't a statistics degree or a data-science degree — it was both, anchored to how data is actually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portable thing is a mindset: name where error can enter, then decide where to spend effort — which lets us judge AI tools without hype or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is Groves and colleagues. The power of TSE is a complete vocabulary, so we can locate the largest, most tractable error and target it under a budget rather than chasing one number like the response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along each arm; labels by the arrows are the named error sources. Both arms converge on the survey statistic — accuracy is what survives to the final statistic. As analysts we usually receive the data at the far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Reframed per the expanded MSE in the reading notes (Biemer &amp; Lyberg). The key correction: bias and variance do NOT map onto measurement vs representation. The representation arm contributes the most familiar variance (sampling) and major biases (coverage, nonresponse); the measurement arm contributes both bias (e.g., social desirability) and variance (interviewer effects). Coloring each component by arm shows both arms feed both bias and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Kevin's uploaded figure. Amaya, Biemer &amp; Kinyon (2020) call it the Total Error Framework (TEF) — eight components, with the survey and big-data processes parallel and converging at Model, Create estimates, Draw inference. Note: the row/column/cell view of big-data error is a DIFFERENT, earlier framework (Biemer 2016b), which this paper explicitly contrasts with the TEF.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Grounded in the Amaya/Biemer/Kinyon intro and the reading notes: big data supplement, not replace. Caveats — coverage/domain and content/measurement differences (Schober et al. 2016), query and interpretation error (Hsieh &amp; Murphy 2017, 'Total Twitter Error'), and validity drift (Google Flu Trends; Lazer et al. 2014, 'big data hubris'; quantity is not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dimensions are exactly what the accuracy-centered TSE framework leaves out. The practical payoff: it reframes the question from “how much data can we collect” to “where do we invest — in more data, or in reducing a specific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Design-based inference means using weights, strata, and clusters when computing estimates and standard errors. Ignoring them biases point estimates and understates variance — the single most common analytic mistake this book is written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is verbatim from the coursework. The online-only example matters because the error gets misnamed constantly — it's a frame problem, and no sample size fixes it. The bias formula has two levers: the size of the uncovered group and how different they are on the outcome. Because the uncovered are invisible in our own data, detection requires external benchmarks (ACS-type comparisons) or studies that measure frame membership. Repairs from the coverage unit: redefine the population honestly, combine multiple frames (adjusting selection probabilities for multiplicity), link missing units to selected ones, and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AAPOR dispositions give us four standard rates — RR1 the most conservative, RR4 the most liberal because it counts partials and adjusts unknown-eligibility cases by e. Right: Groves (2006) is the canonical result — across 30 studies, nonresponse bias averaged about 9% in absolute relative terms, and the correlation between the response rate and the bias was only about 0.33. Bias lives in the covariance between response propensity and the survey variable, so it differs across estimates within one survey. Bottom line is from the coursework: a balanced 40% beats a skewed 60% — chasing rate can amplify imbalance and increase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2×2 is Little &amp; Vartivarian (2005) from the weighting unit. The conventional wisdom — weighting trades bias for variance — is an oversimplification. If the adjustment variable relates only to nonresponse (bottom-left), variance goes up and bias doesn't move. If it relates strongly to the outcome too (bottom-right), weighting reduces both — that's the target for every adjustment. The GPA example: females responded at 50%, males at 25%, so males get 4× weights; if gender doesn't predict GPA you've added variability for nothing. Hence the punchline for modern practice: in ML-based weighting, variable choice beats algorithm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public-opinion audience this is the most visceral slide: the question itself is an instrument and it can be miscalibrated. Wording effects are not small — response scales changed heavy-drinking reports and gambling-expenditure wording produced 5-fold differences. Satisficing (Krosnick) rises with task difficulty and falls with ability and motivation — straightlining is the symptom. Memory errors (telescoping) and social desirability edit answers; the PATH validation found 87.5% agreement between tobacco self-reports and saliva. And interviewers contribute variance — the design effect grows with intraclass correlation and workload. The defenses are all standard JPSM toolkit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is verbatim from the coursework. The headline number: in a metadata review, roughly half of published secondary analyses did not use the survey weights (West, Sakshaug &amp; Aurelien 2016, PLoS One) — and the prevalence had not improved over time. What design-based means concretely: weights make point estimates speak for the population; strata and clusters are needed for honest standard errors; skipping them biases estimates and overstates significance. Unlike coverage or nonresponse, this error needs no budget to fix — it's the analyst's own choice, which is why the six-step process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Curtin, Presser &amp; Singer (2000) studied the Index of Consumer Sentiment as call attempts and refusal conversions rose over the years. Two findings: who's hard to reach is systematic — many-call respondents were younger, more affluent, more optimistic; refusal conversions older, less educated, less optimistic — so response propensity correlates with the outcome. But estimates of CHANGE over time were remarkably robust, because harder and easier respondents change at similar rates. The tracker implication is mine but follows directly: levels are fragile, trends are sturdier, so design consistency and disclosure are what protect a time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Buskirk's hierarchy (NLP is a related subfield, omitted here for simplicity). The point for us: an LLM is a probabilistic text generator, which is exactly why we treat its output as a new error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Buskirk's central argument and a useful litmus test for any proposed AI use: is it operating the survey, or making an inferential claim? The former is fair game; the latter needs human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Balanced on purpose. Promise: questionnaire diversification (Yun 2024), conversational probes (Shoubik 2025), cheap labeling (Gilardi 2023, ~30x cheaper than MTurk). Precaution: negatively-keyed items (Barends 2024), silicon samples less variable (Bisbee 2023) and skewed (Santurkar 2023), autonomous AI evading detection (Westwood 2025, PNAS), smaller models behind by ~20 points (Mellon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measurement problem first and a modeling problem second. The instrument has latent structure; a good imputation should honor it, not flatten it into independent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insight: raw psychometric parameters don't help an LLM, but the model's conclusions, written as language, do. Anchor-and-adjust limits how far the model's free-form reasoning can drift. Code: github.com/klinares/Latent_to_Language.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present this as a framework and an evaluation design, not a claim that it beats everything. The contribution is a disciplined, measurement-aware way to bring LLMs into imputation while keeping the error sources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for an agency is people who can both run the methods and explain and defend them. The reproducibility habit — everything in code, rendered from source — is what makes a result auditable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commitments are paired: monitoring tells us whether quality is holding, and disciplined experimentation tells us whether a new tool helps before we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illustrative; the discipline is the point. A metric you watch over time, with a rule for when to investigate, beats a single end-of-field summary. Borrowed from statistical process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agency frame without overclaiming — keep it general, no program specifics. The message: methodological rigor is what lets us adopt new tools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distinction: the 2020 TEF (Amaya, Biemer &amp; Kinyon) is the eight-component framework on the earlier slide; the row/column/cell view is Biemer (2016b), a separate framework. Hsieh &amp; Murphy and Schober et al. ground the big-data caveats.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22960" y="1188720"/>
            <a:ext cx="1371600" cy="91440"/>
          </a:xfrm>
          <a:prstGeom prst="rect">
            <a:avLst/>
          </a:prstGeom>
          <a:solidFill>
            <a:srgbClr val="2C6E9C"/>
          </a:solidFill>
          <a:ln/>
        </p:spPr>
      </p:sp>
      <p:sp>
        <p:nvSpPr>
          <p:cNvPr id="3" name="Shape 1"/>
          <p:cNvSpPr/>
          <p:nvPr/>
        </p:nvSpPr>
        <p:spPr>
          <a:xfrm>
            <a:off x="822960" y="1389888"/>
            <a:ext cx="868680" cy="91440"/>
          </a:xfrm>
          <a:prstGeom prst="rect">
            <a:avLst/>
          </a:prstGeom>
          <a:solidFill>
            <a:srgbClr val="B5651D"/>
          </a:solidFill>
          <a:ln/>
        </p:spPr>
      </p:sp>
      <p:sp>
        <p:nvSpPr>
          <p:cNvPr id="4" name="Text 2"/>
          <p:cNvSpPr/>
          <p:nvPr/>
        </p:nvSpPr>
        <p:spPr>
          <a:xfrm>
            <a:off x="777240" y="1691640"/>
            <a:ext cx="7955280" cy="91440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Garbage In, Inference Out?</a:t>
            </a:r>
            <a:endParaRPr lang="en-US" sz="4200" dirty="0"/>
          </a:p>
        </p:txBody>
      </p:sp>
      <p:sp>
        <p:nvSpPr>
          <p:cNvPr id="5" name="Text 3"/>
          <p:cNvSpPr/>
          <p:nvPr/>
        </p:nvSpPr>
        <p:spPr>
          <a:xfrm>
            <a:off x="822960" y="2724912"/>
            <a:ext cx="7589520" cy="640080"/>
          </a:xfrm>
          <a:prstGeom prst="rect">
            <a:avLst/>
          </a:prstGeom>
          <a:noFill/>
          <a:ln/>
        </p:spPr>
        <p:txBody>
          <a:bodyPr wrap="square" lIns="0" tIns="0" rIns="0" bIns="0" rtlCol="0" anchor="ctr"/>
          <a:lstStyle/>
          <a:p>
            <a:pPr indent="0" marL="0">
              <a:lnSpc>
                <a:spcPct val="110000"/>
              </a:lnSpc>
              <a:buNone/>
            </a:pPr>
            <a:r>
              <a:rPr lang="en-US" sz="1700" i="1" dirty="0">
                <a:solidFill>
                  <a:srgbClr val="D6E6F2"/>
                </a:solidFill>
                <a:latin typeface="Calibri" pitchFamily="34" charset="0"/>
                <a:ea typeface="Calibri" pitchFamily="34" charset="-122"/>
                <a:cs typeface="Calibri" pitchFamily="34" charset="-120"/>
              </a:rPr>
              <a:t>Total Survey Error as a quality lens for surveys, big data, and AI</a:t>
            </a:r>
            <a:endParaRPr lang="en-US" sz="1700" dirty="0"/>
          </a:p>
        </p:txBody>
      </p:sp>
      <p:sp>
        <p:nvSpPr>
          <p:cNvPr id="6" name="Text 4"/>
          <p:cNvSpPr/>
          <p:nvPr/>
        </p:nvSpPr>
        <p:spPr>
          <a:xfrm>
            <a:off x="822960" y="4160520"/>
            <a:ext cx="786384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Kevin Linares</a:t>
            </a:r>
            <a:pPr indent="0" marL="0">
              <a:buNone/>
            </a:pPr>
            <a:r>
              <a:rPr lang="en-US" sz="1350" dirty="0">
                <a:solidFill>
                  <a:srgbClr val="AEB9CC"/>
                </a:solidFill>
                <a:latin typeface="Calibri" pitchFamily="34" charset="0"/>
                <a:ea typeface="Calibri" pitchFamily="34" charset="-122"/>
                <a:cs typeface="Calibri" pitchFamily="34" charset="-120"/>
              </a:rPr>
              <a:t>   ·   University of Maryland JPSM   ·   University of Michigan SRC</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Roadmap</a:t>
            </a:r>
            <a:endParaRPr lang="en-US" sz="2700" dirty="0"/>
          </a:p>
        </p:txBody>
      </p:sp>
      <p:sp>
        <p:nvSpPr>
          <p:cNvPr id="4" name="Shape 2"/>
          <p:cNvSpPr/>
          <p:nvPr/>
        </p:nvSpPr>
        <p:spPr>
          <a:xfrm>
            <a:off x="548640" y="1298448"/>
            <a:ext cx="365760" cy="365760"/>
          </a:xfrm>
          <a:prstGeom prst="ellipse">
            <a:avLst/>
          </a:prstGeom>
          <a:solidFill>
            <a:srgbClr val="6B7280"/>
          </a:solidFill>
          <a:ln/>
        </p:spPr>
      </p:sp>
      <p:sp>
        <p:nvSpPr>
          <p:cNvPr id="5" name="Text 3"/>
          <p:cNvSpPr/>
          <p:nvPr/>
        </p:nvSpPr>
        <p:spPr>
          <a:xfrm>
            <a:off x="548640" y="12984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78992" y="1261872"/>
            <a:ext cx="7589520" cy="420624"/>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Why this matters for us</a:t>
            </a:r>
            <a:endParaRPr lang="en-US" sz="1500" dirty="0"/>
          </a:p>
        </p:txBody>
      </p:sp>
      <p:sp>
        <p:nvSpPr>
          <p:cNvPr id="7" name="Shape 5"/>
          <p:cNvSpPr/>
          <p:nvPr/>
        </p:nvSpPr>
        <p:spPr>
          <a:xfrm>
            <a:off x="548640" y="1728216"/>
            <a:ext cx="365760" cy="365760"/>
          </a:xfrm>
          <a:prstGeom prst="ellipse">
            <a:avLst/>
          </a:prstGeom>
          <a:solidFill>
            <a:srgbClr val="1B2A4A"/>
          </a:solidFill>
          <a:ln/>
        </p:spPr>
      </p:sp>
      <p:sp>
        <p:nvSpPr>
          <p:cNvPr id="8" name="Text 6"/>
          <p:cNvSpPr/>
          <p:nvPr/>
        </p:nvSpPr>
        <p:spPr>
          <a:xfrm>
            <a:off x="548640" y="17282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78992" y="1691640"/>
            <a:ext cx="7589520" cy="420624"/>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Two years at a glance</a:t>
            </a:r>
            <a:endParaRPr lang="en-US" sz="1500" dirty="0"/>
          </a:p>
        </p:txBody>
      </p:sp>
      <p:sp>
        <p:nvSpPr>
          <p:cNvPr id="10" name="Shape 8"/>
          <p:cNvSpPr/>
          <p:nvPr/>
        </p:nvSpPr>
        <p:spPr>
          <a:xfrm>
            <a:off x="548640" y="2157984"/>
            <a:ext cx="365760" cy="365760"/>
          </a:xfrm>
          <a:prstGeom prst="ellipse">
            <a:avLst/>
          </a:prstGeom>
          <a:solidFill>
            <a:srgbClr val="2C6E9C"/>
          </a:solidFill>
          <a:ln/>
        </p:spPr>
      </p:sp>
      <p:sp>
        <p:nvSpPr>
          <p:cNvPr id="11" name="Text 9"/>
          <p:cNvSpPr/>
          <p:nvPr/>
        </p:nvSpPr>
        <p:spPr>
          <a:xfrm>
            <a:off x="548640" y="21579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78992" y="2121408"/>
            <a:ext cx="7589520" cy="420624"/>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Foundation: the Total Survey Error framework</a:t>
            </a:r>
            <a:endParaRPr lang="en-US" sz="1500" dirty="0"/>
          </a:p>
        </p:txBody>
      </p:sp>
      <p:sp>
        <p:nvSpPr>
          <p:cNvPr id="13" name="Shape 11"/>
          <p:cNvSpPr/>
          <p:nvPr/>
        </p:nvSpPr>
        <p:spPr>
          <a:xfrm>
            <a:off x="548640" y="2587752"/>
            <a:ext cx="365760" cy="365760"/>
          </a:xfrm>
          <a:prstGeom prst="ellipse">
            <a:avLst/>
          </a:prstGeom>
          <a:solidFill>
            <a:srgbClr val="2C6E9C"/>
          </a:solidFill>
          <a:ln/>
        </p:spPr>
      </p:sp>
      <p:sp>
        <p:nvSpPr>
          <p:cNvPr id="14" name="Text 12"/>
          <p:cNvSpPr/>
          <p:nvPr/>
        </p:nvSpPr>
        <p:spPr>
          <a:xfrm>
            <a:off x="548640" y="2587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078992" y="2551176"/>
            <a:ext cx="7589520" cy="420624"/>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Deep dives: coverage, response rates, weighting, measurement, analysis</a:t>
            </a:r>
            <a:endParaRPr lang="en-US" sz="1500" dirty="0"/>
          </a:p>
        </p:txBody>
      </p:sp>
      <p:sp>
        <p:nvSpPr>
          <p:cNvPr id="16" name="Shape 14"/>
          <p:cNvSpPr/>
          <p:nvPr/>
        </p:nvSpPr>
        <p:spPr>
          <a:xfrm>
            <a:off x="548640" y="3017520"/>
            <a:ext cx="365760" cy="365760"/>
          </a:xfrm>
          <a:prstGeom prst="ellipse">
            <a:avLst/>
          </a:prstGeom>
          <a:solidFill>
            <a:srgbClr val="B5651D"/>
          </a:solidFill>
          <a:ln/>
        </p:spPr>
      </p:sp>
      <p:sp>
        <p:nvSpPr>
          <p:cNvPr id="17" name="Text 15"/>
          <p:cNvSpPr/>
          <p:nvPr/>
        </p:nvSpPr>
        <p:spPr>
          <a:xfrm>
            <a:off x="548640" y="3017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078992" y="2980944"/>
            <a:ext cx="7589520" cy="420624"/>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The emerging AI landscape in survey research (Buskirk, 2026)</a:t>
            </a:r>
            <a:endParaRPr lang="en-US" sz="1500" dirty="0"/>
          </a:p>
        </p:txBody>
      </p:sp>
      <p:sp>
        <p:nvSpPr>
          <p:cNvPr id="19" name="Shape 17"/>
          <p:cNvSpPr/>
          <p:nvPr/>
        </p:nvSpPr>
        <p:spPr>
          <a:xfrm>
            <a:off x="548640" y="3447288"/>
            <a:ext cx="365760" cy="365760"/>
          </a:xfrm>
          <a:prstGeom prst="ellipse">
            <a:avLst/>
          </a:prstGeom>
          <a:solidFill>
            <a:srgbClr val="B5651D"/>
          </a:solidFill>
          <a:ln/>
        </p:spPr>
      </p:sp>
      <p:sp>
        <p:nvSpPr>
          <p:cNvPr id="20" name="Text 18"/>
          <p:cNvSpPr/>
          <p:nvPr/>
        </p:nvSpPr>
        <p:spPr>
          <a:xfrm>
            <a:off x="548640" y="3447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078992" y="3410712"/>
            <a:ext cx="7589520" cy="420624"/>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My capstone: Latent-to-Language (L2L)</a:t>
            </a:r>
            <a:endParaRPr lang="en-US" sz="1500" dirty="0"/>
          </a:p>
        </p:txBody>
      </p:sp>
      <p:sp>
        <p:nvSpPr>
          <p:cNvPr id="22" name="Shape 20"/>
          <p:cNvSpPr/>
          <p:nvPr/>
        </p:nvSpPr>
        <p:spPr>
          <a:xfrm>
            <a:off x="548640" y="3877056"/>
            <a:ext cx="365760" cy="365760"/>
          </a:xfrm>
          <a:prstGeom prst="ellipse">
            <a:avLst/>
          </a:prstGeom>
          <a:solidFill>
            <a:srgbClr val="1B2A4A"/>
          </a:solidFill>
          <a:ln/>
        </p:spPr>
      </p:sp>
      <p:sp>
        <p:nvSpPr>
          <p:cNvPr id="23" name="Text 21"/>
          <p:cNvSpPr/>
          <p:nvPr/>
        </p:nvSpPr>
        <p:spPr>
          <a:xfrm>
            <a:off x="548640" y="38770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4" name="Text 22"/>
          <p:cNvSpPr/>
          <p:nvPr/>
        </p:nvSpPr>
        <p:spPr>
          <a:xfrm>
            <a:off x="1078992" y="3840480"/>
            <a:ext cx="7589520" cy="420624"/>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Where I trained: JPSM &amp; the Michigan SRC</a:t>
            </a:r>
            <a:endParaRPr lang="en-US" sz="1500" dirty="0"/>
          </a:p>
        </p:txBody>
      </p:sp>
      <p:sp>
        <p:nvSpPr>
          <p:cNvPr id="25" name="Shape 23"/>
          <p:cNvSpPr/>
          <p:nvPr/>
        </p:nvSpPr>
        <p:spPr>
          <a:xfrm>
            <a:off x="548640" y="4306824"/>
            <a:ext cx="365760" cy="365760"/>
          </a:xfrm>
          <a:prstGeom prst="ellipse">
            <a:avLst/>
          </a:prstGeom>
          <a:solidFill>
            <a:srgbClr val="3A7D44"/>
          </a:solidFill>
          <a:ln/>
        </p:spPr>
      </p:sp>
      <p:sp>
        <p:nvSpPr>
          <p:cNvPr id="26" name="Text 24"/>
          <p:cNvSpPr/>
          <p:nvPr/>
        </p:nvSpPr>
        <p:spPr>
          <a:xfrm>
            <a:off x="548640" y="43068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7" name="Text 25"/>
          <p:cNvSpPr/>
          <p:nvPr/>
        </p:nvSpPr>
        <p:spPr>
          <a:xfrm>
            <a:off x="1078992" y="4270248"/>
            <a:ext cx="7589520" cy="420624"/>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Bringing it back: monitor quality &amp; experiment responsibly</a:t>
            </a:r>
            <a:endParaRPr lang="en-US" sz="1500" dirty="0"/>
          </a:p>
        </p:txBody>
      </p:sp>
      <p:sp>
        <p:nvSpPr>
          <p:cNvPr id="28" name="Text 26"/>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1B2A4A"/>
                </a:solidFill>
                <a:latin typeface="Calibri" pitchFamily="34" charset="0"/>
                <a:ea typeface="Calibri" pitchFamily="34" charset="-122"/>
                <a:cs typeface="Calibri" pitchFamily="34" charset="-120"/>
              </a:rPr>
              <a:t>THE LAST TWO YEARS</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Two years at a glance</a:t>
            </a:r>
            <a:endParaRPr lang="en-US" sz="2700" dirty="0"/>
          </a:p>
        </p:txBody>
      </p:sp>
      <p:sp>
        <p:nvSpPr>
          <p:cNvPr id="4" name="Text 2"/>
          <p:cNvSpPr/>
          <p:nvPr/>
        </p:nvSpPr>
        <p:spPr>
          <a:xfrm>
            <a:off x="502920" y="1243584"/>
            <a:ext cx="8229600" cy="274320"/>
          </a:xfrm>
          <a:prstGeom prst="rect">
            <a:avLst/>
          </a:prstGeom>
          <a:noFill/>
          <a:ln/>
        </p:spPr>
        <p:txBody>
          <a:bodyPr wrap="square" lIns="0" tIns="0" rIns="0" bIns="0" rtlCol="0" anchor="ctr"/>
          <a:lstStyle/>
          <a:p>
            <a:pPr indent="0" marL="0">
              <a:buNone/>
            </a:pPr>
            <a:r>
              <a:rPr lang="en-US" sz="1250" i="1" dirty="0">
                <a:solidFill>
                  <a:srgbClr val="262B33"/>
                </a:solidFill>
                <a:latin typeface="Calibri" pitchFamily="34" charset="0"/>
                <a:ea typeface="Calibri" pitchFamily="34" charset="-122"/>
                <a:cs typeface="Calibri" pitchFamily="34" charset="-120"/>
              </a:rPr>
              <a:t>The MS in Survey &amp; Data Science, by domain — every deep dive that follows traces back to this coursework.</a:t>
            </a:r>
            <a:endParaRPr lang="en-US" sz="1250" dirty="0"/>
          </a:p>
        </p:txBody>
      </p:sp>
      <p:sp>
        <p:nvSpPr>
          <p:cNvPr id="5" name="Shape 3"/>
          <p:cNvSpPr/>
          <p:nvPr/>
        </p:nvSpPr>
        <p:spPr>
          <a:xfrm>
            <a:off x="502920" y="1609344"/>
            <a:ext cx="4041648" cy="658368"/>
          </a:xfrm>
          <a:prstGeom prst="rect">
            <a:avLst/>
          </a:prstGeom>
          <a:solidFill>
            <a:srgbClr val="EEF1F6"/>
          </a:solidFill>
          <a:ln/>
        </p:spPr>
      </p:sp>
      <p:sp>
        <p:nvSpPr>
          <p:cNvPr id="6" name="Shape 4"/>
          <p:cNvSpPr/>
          <p:nvPr/>
        </p:nvSpPr>
        <p:spPr>
          <a:xfrm>
            <a:off x="502920" y="1609344"/>
            <a:ext cx="64008" cy="658368"/>
          </a:xfrm>
          <a:prstGeom prst="rect">
            <a:avLst/>
          </a:prstGeom>
          <a:solidFill>
            <a:srgbClr val="2C6E9C"/>
          </a:solidFill>
          <a:ln/>
        </p:spPr>
      </p:sp>
      <p:sp>
        <p:nvSpPr>
          <p:cNvPr id="7" name="Text 5"/>
          <p:cNvSpPr/>
          <p:nvPr/>
        </p:nvSpPr>
        <p:spPr>
          <a:xfrm>
            <a:off x="704088" y="1673352"/>
            <a:ext cx="3675888" cy="256032"/>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Sampling design</a:t>
            </a:r>
            <a:endParaRPr lang="en-US" sz="1250" dirty="0"/>
          </a:p>
        </p:txBody>
      </p:sp>
      <p:sp>
        <p:nvSpPr>
          <p:cNvPr id="8" name="Text 6"/>
          <p:cNvSpPr/>
          <p:nvPr/>
        </p:nvSpPr>
        <p:spPr>
          <a:xfrm>
            <a:off x="704088" y="1947672"/>
            <a:ext cx="3675888" cy="292608"/>
          </a:xfrm>
          <a:prstGeom prst="rect">
            <a:avLst/>
          </a:prstGeom>
          <a:noFill/>
          <a:ln/>
        </p:spPr>
        <p:txBody>
          <a:bodyPr wrap="square" lIns="0" tIns="0" rIns="0" bIns="0" rtlCol="0" anchor="ctr"/>
          <a:lstStyle/>
          <a:p>
            <a:pPr indent="0" marL="0">
              <a:lnSpc>
                <a:spcPct val="95000"/>
              </a:lnSpc>
              <a:buNone/>
            </a:pPr>
            <a:r>
              <a:rPr lang="en-US" sz="950" dirty="0">
                <a:solidFill>
                  <a:srgbClr val="4B5563"/>
                </a:solidFill>
                <a:latin typeface="Calibri" pitchFamily="34" charset="0"/>
                <a:ea typeface="Calibri" pitchFamily="34" charset="-122"/>
                <a:cs typeface="Calibri" pitchFamily="34" charset="-120"/>
              </a:rPr>
              <a:t>Applied Sampling · Survey Sampling</a:t>
            </a:r>
            <a:endParaRPr lang="en-US" sz="950" dirty="0"/>
          </a:p>
        </p:txBody>
      </p:sp>
      <p:sp>
        <p:nvSpPr>
          <p:cNvPr id="9" name="Shape 7"/>
          <p:cNvSpPr/>
          <p:nvPr/>
        </p:nvSpPr>
        <p:spPr>
          <a:xfrm>
            <a:off x="4782312" y="1609344"/>
            <a:ext cx="4041648" cy="658368"/>
          </a:xfrm>
          <a:prstGeom prst="rect">
            <a:avLst/>
          </a:prstGeom>
          <a:solidFill>
            <a:srgbClr val="EEF1F6"/>
          </a:solidFill>
          <a:ln/>
        </p:spPr>
      </p:sp>
      <p:sp>
        <p:nvSpPr>
          <p:cNvPr id="10" name="Shape 8"/>
          <p:cNvSpPr/>
          <p:nvPr/>
        </p:nvSpPr>
        <p:spPr>
          <a:xfrm>
            <a:off x="4782312" y="1609344"/>
            <a:ext cx="64008" cy="658368"/>
          </a:xfrm>
          <a:prstGeom prst="rect">
            <a:avLst/>
          </a:prstGeom>
          <a:solidFill>
            <a:srgbClr val="2C6E9C"/>
          </a:solidFill>
          <a:ln/>
        </p:spPr>
      </p:sp>
      <p:sp>
        <p:nvSpPr>
          <p:cNvPr id="11" name="Text 9"/>
          <p:cNvSpPr/>
          <p:nvPr/>
        </p:nvSpPr>
        <p:spPr>
          <a:xfrm>
            <a:off x="4983480" y="1673352"/>
            <a:ext cx="3675888" cy="256032"/>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Data collection &amp; nonresponse</a:t>
            </a:r>
            <a:endParaRPr lang="en-US" sz="1250" dirty="0"/>
          </a:p>
        </p:txBody>
      </p:sp>
      <p:sp>
        <p:nvSpPr>
          <p:cNvPr id="12" name="Text 10"/>
          <p:cNvSpPr/>
          <p:nvPr/>
        </p:nvSpPr>
        <p:spPr>
          <a:xfrm>
            <a:off x="4983480" y="1947672"/>
            <a:ext cx="3675888" cy="292608"/>
          </a:xfrm>
          <a:prstGeom prst="rect">
            <a:avLst/>
          </a:prstGeom>
          <a:noFill/>
          <a:ln/>
        </p:spPr>
        <p:txBody>
          <a:bodyPr wrap="square" lIns="0" tIns="0" rIns="0" bIns="0" rtlCol="0" anchor="ctr"/>
          <a:lstStyle/>
          <a:p>
            <a:pPr indent="0" marL="0">
              <a:lnSpc>
                <a:spcPct val="95000"/>
              </a:lnSpc>
              <a:buNone/>
            </a:pPr>
            <a:r>
              <a:rPr lang="en-US" sz="950" dirty="0">
                <a:solidFill>
                  <a:srgbClr val="4B5563"/>
                </a:solidFill>
                <a:latin typeface="Calibri" pitchFamily="34" charset="0"/>
                <a:ea typeface="Calibri" pitchFamily="34" charset="-122"/>
                <a:cs typeface="Calibri" pitchFamily="34" charset="-120"/>
              </a:rPr>
              <a:t>Fundamentals of Data Collection I &amp; II</a:t>
            </a:r>
            <a:endParaRPr lang="en-US" sz="950" dirty="0"/>
          </a:p>
        </p:txBody>
      </p:sp>
      <p:sp>
        <p:nvSpPr>
          <p:cNvPr id="13" name="Shape 11"/>
          <p:cNvSpPr/>
          <p:nvPr/>
        </p:nvSpPr>
        <p:spPr>
          <a:xfrm>
            <a:off x="502920" y="2395728"/>
            <a:ext cx="4041648" cy="658368"/>
          </a:xfrm>
          <a:prstGeom prst="rect">
            <a:avLst/>
          </a:prstGeom>
          <a:solidFill>
            <a:srgbClr val="EEF1F6"/>
          </a:solidFill>
          <a:ln/>
        </p:spPr>
      </p:sp>
      <p:sp>
        <p:nvSpPr>
          <p:cNvPr id="14" name="Shape 12"/>
          <p:cNvSpPr/>
          <p:nvPr/>
        </p:nvSpPr>
        <p:spPr>
          <a:xfrm>
            <a:off x="502920" y="2395728"/>
            <a:ext cx="64008" cy="658368"/>
          </a:xfrm>
          <a:prstGeom prst="rect">
            <a:avLst/>
          </a:prstGeom>
          <a:solidFill>
            <a:srgbClr val="B5651D"/>
          </a:solidFill>
          <a:ln/>
        </p:spPr>
      </p:sp>
      <p:sp>
        <p:nvSpPr>
          <p:cNvPr id="15" name="Text 13"/>
          <p:cNvSpPr/>
          <p:nvPr/>
        </p:nvSpPr>
        <p:spPr>
          <a:xfrm>
            <a:off x="704088" y="2459736"/>
            <a:ext cx="3675888" cy="256032"/>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Measurement &amp; questionnaires</a:t>
            </a:r>
            <a:endParaRPr lang="en-US" sz="1250" dirty="0"/>
          </a:p>
        </p:txBody>
      </p:sp>
      <p:sp>
        <p:nvSpPr>
          <p:cNvPr id="16" name="Text 14"/>
          <p:cNvSpPr/>
          <p:nvPr/>
        </p:nvSpPr>
        <p:spPr>
          <a:xfrm>
            <a:off x="704088" y="2734056"/>
            <a:ext cx="3675888" cy="292608"/>
          </a:xfrm>
          <a:prstGeom prst="rect">
            <a:avLst/>
          </a:prstGeom>
          <a:noFill/>
          <a:ln/>
        </p:spPr>
        <p:txBody>
          <a:bodyPr wrap="square" lIns="0" tIns="0" rIns="0" bIns="0" rtlCol="0" anchor="ctr"/>
          <a:lstStyle/>
          <a:p>
            <a:pPr indent="0" marL="0">
              <a:lnSpc>
                <a:spcPct val="95000"/>
              </a:lnSpc>
              <a:buNone/>
            </a:pPr>
            <a:r>
              <a:rPr lang="en-US" sz="950" dirty="0">
                <a:solidFill>
                  <a:srgbClr val="4B5563"/>
                </a:solidFill>
                <a:latin typeface="Calibri" pitchFamily="34" charset="0"/>
                <a:ea typeface="Calibri" pitchFamily="34" charset="-122"/>
                <a:cs typeface="Calibri" pitchFamily="34" charset="-120"/>
              </a:rPr>
              <a:t>Cognition, Communication &amp; Survey Measurement</a:t>
            </a:r>
            <a:endParaRPr lang="en-US" sz="950" dirty="0"/>
          </a:p>
        </p:txBody>
      </p:sp>
      <p:sp>
        <p:nvSpPr>
          <p:cNvPr id="17" name="Shape 15"/>
          <p:cNvSpPr/>
          <p:nvPr/>
        </p:nvSpPr>
        <p:spPr>
          <a:xfrm>
            <a:off x="4782312" y="2395728"/>
            <a:ext cx="4041648" cy="658368"/>
          </a:xfrm>
          <a:prstGeom prst="rect">
            <a:avLst/>
          </a:prstGeom>
          <a:solidFill>
            <a:srgbClr val="EEF1F6"/>
          </a:solidFill>
          <a:ln/>
        </p:spPr>
      </p:sp>
      <p:sp>
        <p:nvSpPr>
          <p:cNvPr id="18" name="Shape 16"/>
          <p:cNvSpPr/>
          <p:nvPr/>
        </p:nvSpPr>
        <p:spPr>
          <a:xfrm>
            <a:off x="4782312" y="2395728"/>
            <a:ext cx="64008" cy="658368"/>
          </a:xfrm>
          <a:prstGeom prst="rect">
            <a:avLst/>
          </a:prstGeom>
          <a:solidFill>
            <a:srgbClr val="B5651D"/>
          </a:solidFill>
          <a:ln/>
        </p:spPr>
      </p:sp>
      <p:sp>
        <p:nvSpPr>
          <p:cNvPr id="19" name="Text 17"/>
          <p:cNvSpPr/>
          <p:nvPr/>
        </p:nvSpPr>
        <p:spPr>
          <a:xfrm>
            <a:off x="4983480" y="2459736"/>
            <a:ext cx="3675888" cy="256032"/>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Total survey error</a:t>
            </a:r>
            <a:endParaRPr lang="en-US" sz="1250" dirty="0"/>
          </a:p>
        </p:txBody>
      </p:sp>
      <p:sp>
        <p:nvSpPr>
          <p:cNvPr id="20" name="Text 18"/>
          <p:cNvSpPr/>
          <p:nvPr/>
        </p:nvSpPr>
        <p:spPr>
          <a:xfrm>
            <a:off x="4983480" y="2734056"/>
            <a:ext cx="3675888" cy="292608"/>
          </a:xfrm>
          <a:prstGeom prst="rect">
            <a:avLst/>
          </a:prstGeom>
          <a:noFill/>
          <a:ln/>
        </p:spPr>
        <p:txBody>
          <a:bodyPr wrap="square" lIns="0" tIns="0" rIns="0" bIns="0" rtlCol="0" anchor="ctr"/>
          <a:lstStyle/>
          <a:p>
            <a:pPr indent="0" marL="0">
              <a:lnSpc>
                <a:spcPct val="95000"/>
              </a:lnSpc>
              <a:buNone/>
            </a:pPr>
            <a:r>
              <a:rPr lang="en-US" sz="950" dirty="0">
                <a:solidFill>
                  <a:srgbClr val="4B5563"/>
                </a:solidFill>
                <a:latin typeface="Calibri" pitchFamily="34" charset="0"/>
                <a:ea typeface="Calibri" pitchFamily="34" charset="-122"/>
                <a:cs typeface="Calibri" pitchFamily="34" charset="-120"/>
              </a:rPr>
              <a:t>Total Survey Error &amp; Data Quality I &amp; II</a:t>
            </a:r>
            <a:endParaRPr lang="en-US" sz="950" dirty="0"/>
          </a:p>
        </p:txBody>
      </p:sp>
      <p:sp>
        <p:nvSpPr>
          <p:cNvPr id="21" name="Shape 19"/>
          <p:cNvSpPr/>
          <p:nvPr/>
        </p:nvSpPr>
        <p:spPr>
          <a:xfrm>
            <a:off x="502920" y="3182112"/>
            <a:ext cx="4041648" cy="658368"/>
          </a:xfrm>
          <a:prstGeom prst="rect">
            <a:avLst/>
          </a:prstGeom>
          <a:solidFill>
            <a:srgbClr val="EEF1F6"/>
          </a:solidFill>
          <a:ln/>
        </p:spPr>
      </p:sp>
      <p:sp>
        <p:nvSpPr>
          <p:cNvPr id="22" name="Shape 20"/>
          <p:cNvSpPr/>
          <p:nvPr/>
        </p:nvSpPr>
        <p:spPr>
          <a:xfrm>
            <a:off x="502920" y="3182112"/>
            <a:ext cx="64008" cy="658368"/>
          </a:xfrm>
          <a:prstGeom prst="rect">
            <a:avLst/>
          </a:prstGeom>
          <a:solidFill>
            <a:srgbClr val="1B2A4A"/>
          </a:solidFill>
          <a:ln/>
        </p:spPr>
      </p:sp>
      <p:sp>
        <p:nvSpPr>
          <p:cNvPr id="23" name="Text 21"/>
          <p:cNvSpPr/>
          <p:nvPr/>
        </p:nvSpPr>
        <p:spPr>
          <a:xfrm>
            <a:off x="704088" y="3246120"/>
            <a:ext cx="3675888" cy="256032"/>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Complex-sample analysis</a:t>
            </a:r>
            <a:endParaRPr lang="en-US" sz="1250" dirty="0"/>
          </a:p>
        </p:txBody>
      </p:sp>
      <p:sp>
        <p:nvSpPr>
          <p:cNvPr id="24" name="Text 22"/>
          <p:cNvSpPr/>
          <p:nvPr/>
        </p:nvSpPr>
        <p:spPr>
          <a:xfrm>
            <a:off x="704088" y="3520440"/>
            <a:ext cx="3675888" cy="292608"/>
          </a:xfrm>
          <a:prstGeom prst="rect">
            <a:avLst/>
          </a:prstGeom>
          <a:noFill/>
          <a:ln/>
        </p:spPr>
        <p:txBody>
          <a:bodyPr wrap="square" lIns="0" tIns="0" rIns="0" bIns="0" rtlCol="0" anchor="ctr"/>
          <a:lstStyle/>
          <a:p>
            <a:pPr indent="0" marL="0">
              <a:lnSpc>
                <a:spcPct val="95000"/>
              </a:lnSpc>
              <a:buNone/>
            </a:pPr>
            <a:r>
              <a:rPr lang="en-US" sz="950" dirty="0">
                <a:solidFill>
                  <a:srgbClr val="4B5563"/>
                </a:solidFill>
                <a:latin typeface="Calibri" pitchFamily="34" charset="0"/>
                <a:ea typeface="Calibri" pitchFamily="34" charset="-122"/>
                <a:cs typeface="Calibri" pitchFamily="34" charset="-120"/>
              </a:rPr>
              <a:t>Analysis of Complex Sample Survey Data</a:t>
            </a:r>
            <a:endParaRPr lang="en-US" sz="950" dirty="0"/>
          </a:p>
        </p:txBody>
      </p:sp>
      <p:sp>
        <p:nvSpPr>
          <p:cNvPr id="25" name="Shape 23"/>
          <p:cNvSpPr/>
          <p:nvPr/>
        </p:nvSpPr>
        <p:spPr>
          <a:xfrm>
            <a:off x="4782312" y="3182112"/>
            <a:ext cx="4041648" cy="658368"/>
          </a:xfrm>
          <a:prstGeom prst="rect">
            <a:avLst/>
          </a:prstGeom>
          <a:solidFill>
            <a:srgbClr val="EEF1F6"/>
          </a:solidFill>
          <a:ln/>
        </p:spPr>
      </p:sp>
      <p:sp>
        <p:nvSpPr>
          <p:cNvPr id="26" name="Shape 24"/>
          <p:cNvSpPr/>
          <p:nvPr/>
        </p:nvSpPr>
        <p:spPr>
          <a:xfrm>
            <a:off x="4782312" y="3182112"/>
            <a:ext cx="64008" cy="658368"/>
          </a:xfrm>
          <a:prstGeom prst="rect">
            <a:avLst/>
          </a:prstGeom>
          <a:solidFill>
            <a:srgbClr val="1B2A4A"/>
          </a:solidFill>
          <a:ln/>
        </p:spPr>
      </p:sp>
      <p:sp>
        <p:nvSpPr>
          <p:cNvPr id="27" name="Text 25"/>
          <p:cNvSpPr/>
          <p:nvPr/>
        </p:nvSpPr>
        <p:spPr>
          <a:xfrm>
            <a:off x="4983480" y="3246120"/>
            <a:ext cx="3675888" cy="256032"/>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Statistical inference</a:t>
            </a:r>
            <a:endParaRPr lang="en-US" sz="1250" dirty="0"/>
          </a:p>
        </p:txBody>
      </p:sp>
      <p:sp>
        <p:nvSpPr>
          <p:cNvPr id="28" name="Text 26"/>
          <p:cNvSpPr/>
          <p:nvPr/>
        </p:nvSpPr>
        <p:spPr>
          <a:xfrm>
            <a:off x="4983480" y="3520440"/>
            <a:ext cx="3675888" cy="292608"/>
          </a:xfrm>
          <a:prstGeom prst="rect">
            <a:avLst/>
          </a:prstGeom>
          <a:noFill/>
          <a:ln/>
        </p:spPr>
        <p:txBody>
          <a:bodyPr wrap="square" lIns="0" tIns="0" rIns="0" bIns="0" rtlCol="0" anchor="ctr"/>
          <a:lstStyle/>
          <a:p>
            <a:pPr indent="0" marL="0">
              <a:lnSpc>
                <a:spcPct val="95000"/>
              </a:lnSpc>
              <a:buNone/>
            </a:pPr>
            <a:r>
              <a:rPr lang="en-US" sz="950" dirty="0">
                <a:solidFill>
                  <a:srgbClr val="4B5563"/>
                </a:solidFill>
                <a:latin typeface="Calibri" pitchFamily="34" charset="0"/>
                <a:ea typeface="Calibri" pitchFamily="34" charset="-122"/>
                <a:cs typeface="Calibri" pitchFamily="34" charset="-120"/>
              </a:rPr>
              <a:t>Statistical Methods &amp; ML I–II · Fundamentals of Statistical Inference</a:t>
            </a:r>
            <a:endParaRPr lang="en-US" sz="950" dirty="0"/>
          </a:p>
        </p:txBody>
      </p:sp>
      <p:sp>
        <p:nvSpPr>
          <p:cNvPr id="29" name="Shape 27"/>
          <p:cNvSpPr/>
          <p:nvPr/>
        </p:nvSpPr>
        <p:spPr>
          <a:xfrm>
            <a:off x="502920" y="3968496"/>
            <a:ext cx="4041648" cy="658368"/>
          </a:xfrm>
          <a:prstGeom prst="rect">
            <a:avLst/>
          </a:prstGeom>
          <a:solidFill>
            <a:srgbClr val="EEF1F6"/>
          </a:solidFill>
          <a:ln/>
        </p:spPr>
      </p:sp>
      <p:sp>
        <p:nvSpPr>
          <p:cNvPr id="30" name="Shape 28"/>
          <p:cNvSpPr/>
          <p:nvPr/>
        </p:nvSpPr>
        <p:spPr>
          <a:xfrm>
            <a:off x="502920" y="3968496"/>
            <a:ext cx="64008" cy="658368"/>
          </a:xfrm>
          <a:prstGeom prst="rect">
            <a:avLst/>
          </a:prstGeom>
          <a:solidFill>
            <a:srgbClr val="3A7D44"/>
          </a:solidFill>
          <a:ln/>
        </p:spPr>
      </p:sp>
      <p:sp>
        <p:nvSpPr>
          <p:cNvPr id="31" name="Text 29"/>
          <p:cNvSpPr/>
          <p:nvPr/>
        </p:nvSpPr>
        <p:spPr>
          <a:xfrm>
            <a:off x="704088" y="4032504"/>
            <a:ext cx="3675888" cy="256032"/>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ML, big data &amp; AI</a:t>
            </a:r>
            <a:endParaRPr lang="en-US" sz="1250" dirty="0"/>
          </a:p>
        </p:txBody>
      </p:sp>
      <p:sp>
        <p:nvSpPr>
          <p:cNvPr id="32" name="Text 30"/>
          <p:cNvSpPr/>
          <p:nvPr/>
        </p:nvSpPr>
        <p:spPr>
          <a:xfrm>
            <a:off x="704088" y="4306824"/>
            <a:ext cx="3675888" cy="292608"/>
          </a:xfrm>
          <a:prstGeom prst="rect">
            <a:avLst/>
          </a:prstGeom>
          <a:noFill/>
          <a:ln/>
        </p:spPr>
        <p:txBody>
          <a:bodyPr wrap="square" lIns="0" tIns="0" rIns="0" bIns="0" rtlCol="0" anchor="ctr"/>
          <a:lstStyle/>
          <a:p>
            <a:pPr indent="0" marL="0">
              <a:lnSpc>
                <a:spcPct val="95000"/>
              </a:lnSpc>
              <a:buNone/>
            </a:pPr>
            <a:r>
              <a:rPr lang="en-US" sz="950" dirty="0">
                <a:solidFill>
                  <a:srgbClr val="4B5563"/>
                </a:solidFill>
                <a:latin typeface="Calibri" pitchFamily="34" charset="0"/>
                <a:ea typeface="Calibri" pitchFamily="34" charset="-122"/>
                <a:cs typeface="Calibri" pitchFamily="34" charset="-120"/>
              </a:rPr>
              <a:t>Machine Learning for Social Science · Intro to ML &amp; Big Data</a:t>
            </a:r>
            <a:endParaRPr lang="en-US" sz="950" dirty="0"/>
          </a:p>
        </p:txBody>
      </p:sp>
      <p:sp>
        <p:nvSpPr>
          <p:cNvPr id="33" name="Shape 31"/>
          <p:cNvSpPr/>
          <p:nvPr/>
        </p:nvSpPr>
        <p:spPr>
          <a:xfrm>
            <a:off x="4782312" y="3968496"/>
            <a:ext cx="4041648" cy="658368"/>
          </a:xfrm>
          <a:prstGeom prst="rect">
            <a:avLst/>
          </a:prstGeom>
          <a:solidFill>
            <a:srgbClr val="EEF1F6"/>
          </a:solidFill>
          <a:ln/>
        </p:spPr>
      </p:sp>
      <p:sp>
        <p:nvSpPr>
          <p:cNvPr id="34" name="Shape 32"/>
          <p:cNvSpPr/>
          <p:nvPr/>
        </p:nvSpPr>
        <p:spPr>
          <a:xfrm>
            <a:off x="4782312" y="3968496"/>
            <a:ext cx="64008" cy="658368"/>
          </a:xfrm>
          <a:prstGeom prst="rect">
            <a:avLst/>
          </a:prstGeom>
          <a:solidFill>
            <a:srgbClr val="3A7D44"/>
          </a:solidFill>
          <a:ln/>
        </p:spPr>
      </p:sp>
      <p:sp>
        <p:nvSpPr>
          <p:cNvPr id="35" name="Text 33"/>
          <p:cNvSpPr/>
          <p:nvPr/>
        </p:nvSpPr>
        <p:spPr>
          <a:xfrm>
            <a:off x="4983480" y="4032504"/>
            <a:ext cx="3675888" cy="256032"/>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Computing &amp; visualization</a:t>
            </a:r>
            <a:endParaRPr lang="en-US" sz="1250" dirty="0"/>
          </a:p>
        </p:txBody>
      </p:sp>
      <p:sp>
        <p:nvSpPr>
          <p:cNvPr id="36" name="Text 34"/>
          <p:cNvSpPr/>
          <p:nvPr/>
        </p:nvSpPr>
        <p:spPr>
          <a:xfrm>
            <a:off x="4983480" y="4306824"/>
            <a:ext cx="3675888" cy="292608"/>
          </a:xfrm>
          <a:prstGeom prst="rect">
            <a:avLst/>
          </a:prstGeom>
          <a:noFill/>
          <a:ln/>
        </p:spPr>
        <p:txBody>
          <a:bodyPr wrap="square" lIns="0" tIns="0" rIns="0" bIns="0" rtlCol="0" anchor="ctr"/>
          <a:lstStyle/>
          <a:p>
            <a:pPr indent="0" marL="0">
              <a:lnSpc>
                <a:spcPct val="95000"/>
              </a:lnSpc>
              <a:buNone/>
            </a:pPr>
            <a:r>
              <a:rPr lang="en-US" sz="950" dirty="0">
                <a:solidFill>
                  <a:srgbClr val="4B5563"/>
                </a:solidFill>
                <a:latin typeface="Calibri" pitchFamily="34" charset="0"/>
                <a:ea typeface="Calibri" pitchFamily="34" charset="-122"/>
                <a:cs typeface="Calibri" pitchFamily="34" charset="-120"/>
              </a:rPr>
              <a:t>Computing &amp; Data Display · Data Visualization · Practical Tools for Study Design</a:t>
            </a:r>
            <a:endParaRPr lang="en-US" sz="950" dirty="0"/>
          </a:p>
        </p:txBody>
      </p:sp>
      <p:sp>
        <p:nvSpPr>
          <p:cNvPr id="37" name="Text 35"/>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THE BIG IDEA</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What I'm bringing back</a:t>
            </a:r>
            <a:endParaRPr lang="en-US" sz="2700" dirty="0"/>
          </a:p>
        </p:txBody>
      </p:sp>
      <p:sp>
        <p:nvSpPr>
          <p:cNvPr id="4" name="Shape 2"/>
          <p:cNvSpPr/>
          <p:nvPr/>
        </p:nvSpPr>
        <p:spPr>
          <a:xfrm>
            <a:off x="502920" y="1325880"/>
            <a:ext cx="3950208" cy="1481328"/>
          </a:xfrm>
          <a:prstGeom prst="rect">
            <a:avLst/>
          </a:prstGeom>
          <a:solidFill>
            <a:srgbClr val="FFFFFF"/>
          </a:solidFill>
          <a:ln w="12700">
            <a:solidFill>
              <a:srgbClr val="EAECEF"/>
            </a:solidFill>
            <a:prstDash val="solid"/>
          </a:ln>
          <a:effectLst>
            <a:outerShdw sx="100000" sy="100000" kx="0" ky="0" algn="bl" rotWithShape="0" blurRad="88900" dist="25400" dir="8100000">
              <a:srgbClr val="000000">
                <a:alpha val="16000"/>
              </a:srgbClr>
            </a:outerShdw>
          </a:effectLst>
        </p:spPr>
      </p:sp>
      <p:sp>
        <p:nvSpPr>
          <p:cNvPr id="5" name="Shape 3"/>
          <p:cNvSpPr/>
          <p:nvPr/>
        </p:nvSpPr>
        <p:spPr>
          <a:xfrm>
            <a:off x="502920" y="1325880"/>
            <a:ext cx="82296" cy="1481328"/>
          </a:xfrm>
          <a:prstGeom prst="rect">
            <a:avLst/>
          </a:prstGeom>
          <a:solidFill>
            <a:srgbClr val="2C6E9C"/>
          </a:solidFill>
          <a:ln/>
        </p:spPr>
      </p:sp>
      <p:sp>
        <p:nvSpPr>
          <p:cNvPr id="6" name="Text 4"/>
          <p:cNvSpPr/>
          <p:nvPr/>
        </p:nvSpPr>
        <p:spPr>
          <a:xfrm>
            <a:off x="758952" y="1472184"/>
            <a:ext cx="3493008"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Quality must be defended</a:t>
            </a:r>
            <a:endParaRPr lang="en-US" sz="1600" dirty="0"/>
          </a:p>
        </p:txBody>
      </p:sp>
      <p:sp>
        <p:nvSpPr>
          <p:cNvPr id="7" name="Text 5"/>
          <p:cNvSpPr/>
          <p:nvPr/>
        </p:nvSpPr>
        <p:spPr>
          <a:xfrm>
            <a:off x="758952" y="1892808"/>
            <a:ext cx="3493008" cy="804672"/>
          </a:xfrm>
          <a:prstGeom prst="rect">
            <a:avLst/>
          </a:prstGeom>
          <a:noFill/>
          <a:ln/>
        </p:spPr>
        <p:txBody>
          <a:bodyPr wrap="square" lIns="0" tIns="0" rIns="0" bIns="0" rtlCol="0" anchor="ctr"/>
          <a:lstStyle/>
          <a:p>
            <a:pPr indent="0" marL="0">
              <a:lnSpc>
                <a:spcPct val="105000"/>
              </a:lnSpc>
              <a:buNone/>
            </a:pPr>
            <a:r>
              <a:rPr lang="en-US" sz="1300" dirty="0">
                <a:solidFill>
                  <a:srgbClr val="262B33"/>
                </a:solidFill>
                <a:latin typeface="Calibri" pitchFamily="34" charset="0"/>
                <a:ea typeface="Calibri" pitchFamily="34" charset="-122"/>
                <a:cs typeface="Calibri" pitchFamily="34" charset="-120"/>
              </a:rPr>
              <a:t>Our work depends on data whose quality we have to defend, not assume.</a:t>
            </a:r>
            <a:endParaRPr lang="en-US" sz="1300" dirty="0"/>
          </a:p>
        </p:txBody>
      </p:sp>
      <p:sp>
        <p:nvSpPr>
          <p:cNvPr id="8" name="Shape 6"/>
          <p:cNvSpPr/>
          <p:nvPr/>
        </p:nvSpPr>
        <p:spPr>
          <a:xfrm>
            <a:off x="4837176" y="1325880"/>
            <a:ext cx="3950208" cy="1481328"/>
          </a:xfrm>
          <a:prstGeom prst="rect">
            <a:avLst/>
          </a:prstGeom>
          <a:solidFill>
            <a:srgbClr val="FFFFFF"/>
          </a:solidFill>
          <a:ln w="12700">
            <a:solidFill>
              <a:srgbClr val="EAECEF"/>
            </a:solidFill>
            <a:prstDash val="solid"/>
          </a:ln>
          <a:effectLst>
            <a:outerShdw sx="100000" sy="100000" kx="0" ky="0" algn="bl" rotWithShape="0" blurRad="88900" dist="25400" dir="8100000">
              <a:srgbClr val="000000">
                <a:alpha val="16000"/>
              </a:srgbClr>
            </a:outerShdw>
          </a:effectLst>
        </p:spPr>
      </p:sp>
      <p:sp>
        <p:nvSpPr>
          <p:cNvPr id="9" name="Shape 7"/>
          <p:cNvSpPr/>
          <p:nvPr/>
        </p:nvSpPr>
        <p:spPr>
          <a:xfrm>
            <a:off x="4837176" y="1325880"/>
            <a:ext cx="82296" cy="1481328"/>
          </a:xfrm>
          <a:prstGeom prst="rect">
            <a:avLst/>
          </a:prstGeom>
          <a:solidFill>
            <a:srgbClr val="B5651D"/>
          </a:solidFill>
          <a:ln/>
        </p:spPr>
      </p:sp>
      <p:sp>
        <p:nvSpPr>
          <p:cNvPr id="10" name="Text 8"/>
          <p:cNvSpPr/>
          <p:nvPr/>
        </p:nvSpPr>
        <p:spPr>
          <a:xfrm>
            <a:off x="5093208" y="1472184"/>
            <a:ext cx="3493008"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A vendor-neutral framework</a:t>
            </a:r>
            <a:endParaRPr lang="en-US" sz="1600" dirty="0"/>
          </a:p>
        </p:txBody>
      </p:sp>
      <p:sp>
        <p:nvSpPr>
          <p:cNvPr id="11" name="Text 9"/>
          <p:cNvSpPr/>
          <p:nvPr/>
        </p:nvSpPr>
        <p:spPr>
          <a:xfrm>
            <a:off x="5093208" y="1892808"/>
            <a:ext cx="3493008" cy="804672"/>
          </a:xfrm>
          <a:prstGeom prst="rect">
            <a:avLst/>
          </a:prstGeom>
          <a:noFill/>
          <a:ln/>
        </p:spPr>
        <p:txBody>
          <a:bodyPr wrap="square" lIns="0" tIns="0" rIns="0" bIns="0" rtlCol="0" anchor="ctr"/>
          <a:lstStyle/>
          <a:p>
            <a:pPr indent="0" marL="0">
              <a:lnSpc>
                <a:spcPct val="105000"/>
              </a:lnSpc>
              <a:buNone/>
            </a:pPr>
            <a:r>
              <a:rPr lang="en-US" sz="1300" dirty="0">
                <a:solidFill>
                  <a:srgbClr val="262B33"/>
                </a:solidFill>
                <a:latin typeface="Calibri" pitchFamily="34" charset="0"/>
                <a:ea typeface="Calibri" pitchFamily="34" charset="-122"/>
                <a:cs typeface="Calibri" pitchFamily="34" charset="-120"/>
              </a:rPr>
              <a:t>JPSM gave me a rigorous way to reason about quality across designed surveys and “found” / alternative data.</a:t>
            </a:r>
            <a:endParaRPr lang="en-US" sz="1300" dirty="0"/>
          </a:p>
        </p:txBody>
      </p:sp>
      <p:sp>
        <p:nvSpPr>
          <p:cNvPr id="12" name="Shape 10"/>
          <p:cNvSpPr/>
          <p:nvPr/>
        </p:nvSpPr>
        <p:spPr>
          <a:xfrm>
            <a:off x="502920" y="3081528"/>
            <a:ext cx="3950208" cy="1481328"/>
          </a:xfrm>
          <a:prstGeom prst="rect">
            <a:avLst/>
          </a:prstGeom>
          <a:solidFill>
            <a:srgbClr val="FFFFFF"/>
          </a:solidFill>
          <a:ln w="12700">
            <a:solidFill>
              <a:srgbClr val="EAECEF"/>
            </a:solidFill>
            <a:prstDash val="solid"/>
          </a:ln>
          <a:effectLst>
            <a:outerShdw sx="100000" sy="100000" kx="0" ky="0" algn="bl" rotWithShape="0" blurRad="88900" dist="25400" dir="8100000">
              <a:srgbClr val="000000">
                <a:alpha val="16000"/>
              </a:srgbClr>
            </a:outerShdw>
          </a:effectLst>
        </p:spPr>
      </p:sp>
      <p:sp>
        <p:nvSpPr>
          <p:cNvPr id="13" name="Shape 11"/>
          <p:cNvSpPr/>
          <p:nvPr/>
        </p:nvSpPr>
        <p:spPr>
          <a:xfrm>
            <a:off x="502920" y="3081528"/>
            <a:ext cx="82296" cy="1481328"/>
          </a:xfrm>
          <a:prstGeom prst="rect">
            <a:avLst/>
          </a:prstGeom>
          <a:solidFill>
            <a:srgbClr val="1B2A4A"/>
          </a:solidFill>
          <a:ln/>
        </p:spPr>
      </p:sp>
      <p:sp>
        <p:nvSpPr>
          <p:cNvPr id="14" name="Text 12"/>
          <p:cNvSpPr/>
          <p:nvPr/>
        </p:nvSpPr>
        <p:spPr>
          <a:xfrm>
            <a:off x="758952" y="3227832"/>
            <a:ext cx="3493008"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One anchoring framework</a:t>
            </a:r>
            <a:endParaRPr lang="en-US" sz="1600" dirty="0"/>
          </a:p>
        </p:txBody>
      </p:sp>
      <p:sp>
        <p:nvSpPr>
          <p:cNvPr id="15" name="Text 13"/>
          <p:cNvSpPr/>
          <p:nvPr/>
        </p:nvSpPr>
        <p:spPr>
          <a:xfrm>
            <a:off x="758952" y="3648456"/>
            <a:ext cx="3493008" cy="804672"/>
          </a:xfrm>
          <a:prstGeom prst="rect">
            <a:avLst/>
          </a:prstGeom>
          <a:noFill/>
          <a:ln/>
        </p:spPr>
        <p:txBody>
          <a:bodyPr wrap="square" lIns="0" tIns="0" rIns="0" bIns="0" rtlCol="0" anchor="ctr"/>
          <a:lstStyle/>
          <a:p>
            <a:pPr indent="0" marL="0">
              <a:lnSpc>
                <a:spcPct val="105000"/>
              </a:lnSpc>
              <a:buNone/>
            </a:pPr>
            <a:r>
              <a:rPr lang="en-US" sz="1300" dirty="0">
                <a:solidFill>
                  <a:srgbClr val="262B33"/>
                </a:solidFill>
                <a:latin typeface="Calibri" pitchFamily="34" charset="0"/>
                <a:ea typeface="Calibri" pitchFamily="34" charset="-122"/>
                <a:cs typeface="Calibri" pitchFamily="34" charset="-120"/>
              </a:rPr>
              <a:t>Total Survey Error (TSE) — and its extension to found and big data — is the lens for everything that follows.</a:t>
            </a:r>
            <a:endParaRPr lang="en-US" sz="1300" dirty="0"/>
          </a:p>
        </p:txBody>
      </p:sp>
      <p:sp>
        <p:nvSpPr>
          <p:cNvPr id="16" name="Shape 14"/>
          <p:cNvSpPr/>
          <p:nvPr/>
        </p:nvSpPr>
        <p:spPr>
          <a:xfrm>
            <a:off x="4837176" y="3081528"/>
            <a:ext cx="3950208" cy="1481328"/>
          </a:xfrm>
          <a:prstGeom prst="rect">
            <a:avLst/>
          </a:prstGeom>
          <a:solidFill>
            <a:srgbClr val="FFFFFF"/>
          </a:solidFill>
          <a:ln w="12700">
            <a:solidFill>
              <a:srgbClr val="EAECEF"/>
            </a:solidFill>
            <a:prstDash val="solid"/>
          </a:ln>
          <a:effectLst>
            <a:outerShdw sx="100000" sy="100000" kx="0" ky="0" algn="bl" rotWithShape="0" blurRad="88900" dist="25400" dir="8100000">
              <a:srgbClr val="000000">
                <a:alpha val="16000"/>
              </a:srgbClr>
            </a:outerShdw>
          </a:effectLst>
        </p:spPr>
      </p:sp>
      <p:sp>
        <p:nvSpPr>
          <p:cNvPr id="17" name="Shape 15"/>
          <p:cNvSpPr/>
          <p:nvPr/>
        </p:nvSpPr>
        <p:spPr>
          <a:xfrm>
            <a:off x="4837176" y="3081528"/>
            <a:ext cx="82296" cy="1481328"/>
          </a:xfrm>
          <a:prstGeom prst="rect">
            <a:avLst/>
          </a:prstGeom>
          <a:solidFill>
            <a:srgbClr val="3A7D44"/>
          </a:solidFill>
          <a:ln/>
        </p:spPr>
      </p:sp>
      <p:sp>
        <p:nvSpPr>
          <p:cNvPr id="18" name="Text 16"/>
          <p:cNvSpPr/>
          <p:nvPr/>
        </p:nvSpPr>
        <p:spPr>
          <a:xfrm>
            <a:off x="5093208" y="3227832"/>
            <a:ext cx="3493008"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AI is evaluated, not exempt</a:t>
            </a:r>
            <a:endParaRPr lang="en-US" sz="1600" dirty="0"/>
          </a:p>
        </p:txBody>
      </p:sp>
      <p:sp>
        <p:nvSpPr>
          <p:cNvPr id="19" name="Text 17"/>
          <p:cNvSpPr/>
          <p:nvPr/>
        </p:nvSpPr>
        <p:spPr>
          <a:xfrm>
            <a:off x="5093208" y="3648456"/>
            <a:ext cx="3493008" cy="804672"/>
          </a:xfrm>
          <a:prstGeom prst="rect">
            <a:avLst/>
          </a:prstGeom>
          <a:noFill/>
          <a:ln/>
        </p:spPr>
        <p:txBody>
          <a:bodyPr wrap="square" lIns="0" tIns="0" rIns="0" bIns="0" rtlCol="0" anchor="ctr"/>
          <a:lstStyle/>
          <a:p>
            <a:pPr indent="0" marL="0">
              <a:lnSpc>
                <a:spcPct val="105000"/>
              </a:lnSpc>
              <a:buNone/>
            </a:pPr>
            <a:r>
              <a:rPr lang="en-US" sz="1300" dirty="0">
                <a:solidFill>
                  <a:srgbClr val="262B33"/>
                </a:solidFill>
                <a:latin typeface="Calibri" pitchFamily="34" charset="0"/>
                <a:ea typeface="Calibri" pitchFamily="34" charset="-122"/>
                <a:cs typeface="Calibri" pitchFamily="34" charset="-120"/>
              </a:rPr>
              <a:t>New tools — LLMs and other AI — don't replace this foundation; they get evaluated through it.</a:t>
            </a:r>
            <a:endParaRPr lang="en-US" sz="1300" dirty="0"/>
          </a:p>
        </p:txBody>
      </p:sp>
      <p:sp>
        <p:nvSpPr>
          <p:cNvPr id="20" name="Text 18"/>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40080" y="1993392"/>
            <a:ext cx="566928" cy="82296"/>
          </a:xfrm>
          <a:prstGeom prst="rect">
            <a:avLst/>
          </a:prstGeom>
          <a:solidFill>
            <a:srgbClr val="B5651D"/>
          </a:solidFill>
          <a:ln/>
        </p:spPr>
      </p:sp>
      <p:sp>
        <p:nvSpPr>
          <p:cNvPr id="3" name="Text 1"/>
          <p:cNvSpPr/>
          <p:nvPr/>
        </p:nvSpPr>
        <p:spPr>
          <a:xfrm>
            <a:off x="640080" y="1517904"/>
            <a:ext cx="7863840" cy="365760"/>
          </a:xfrm>
          <a:prstGeom prst="rect">
            <a:avLst/>
          </a:prstGeom>
          <a:noFill/>
          <a:ln/>
        </p:spPr>
        <p:txBody>
          <a:bodyPr wrap="square" lIns="0" tIns="0" rIns="0" bIns="0" rtlCol="0" anchor="ctr"/>
          <a:lstStyle/>
          <a:p>
            <a:pPr indent="0" marL="0">
              <a:buNone/>
            </a:pPr>
            <a:r>
              <a:rPr lang="en-US" sz="1400" b="1" spc="300" kern="0" dirty="0">
                <a:solidFill>
                  <a:srgbClr val="D6E6F2"/>
                </a:solidFill>
                <a:latin typeface="Calibri" pitchFamily="34" charset="0"/>
                <a:ea typeface="Calibri" pitchFamily="34" charset="-122"/>
                <a:cs typeface="Calibri" pitchFamily="34" charset="-120"/>
              </a:rPr>
              <a:t>SECTION 1</a:t>
            </a:r>
            <a:endParaRPr lang="en-US" sz="1400" dirty="0"/>
          </a:p>
        </p:txBody>
      </p:sp>
      <p:sp>
        <p:nvSpPr>
          <p:cNvPr id="4" name="Text 2"/>
          <p:cNvSpPr/>
          <p:nvPr/>
        </p:nvSpPr>
        <p:spPr>
          <a:xfrm>
            <a:off x="640080" y="2212848"/>
            <a:ext cx="7863840" cy="1188720"/>
          </a:xfrm>
          <a:prstGeom prst="rect">
            <a:avLst/>
          </a:prstGeom>
          <a:noFill/>
          <a:ln/>
        </p:spPr>
        <p:txBody>
          <a:bodyPr wrap="square" lIns="0" tIns="0" rIns="0" bIns="0"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Foundation: The Total Survey Error Framework</a:t>
            </a:r>
            <a:endParaRPr lang="en-US" sz="3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TOTAL SURVEY ERROR</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A map of where error enters</a:t>
            </a:r>
            <a:endParaRPr lang="en-US" sz="2700" dirty="0"/>
          </a:p>
        </p:txBody>
      </p:sp>
      <p:sp>
        <p:nvSpPr>
          <p:cNvPr id="4" name="Text 2"/>
          <p:cNvSpPr/>
          <p:nvPr/>
        </p:nvSpPr>
        <p:spPr>
          <a:xfrm>
            <a:off x="502920" y="1298448"/>
            <a:ext cx="8229600" cy="457200"/>
          </a:xfrm>
          <a:prstGeom prst="rect">
            <a:avLst/>
          </a:prstGeom>
          <a:noFill/>
          <a:ln/>
        </p:spPr>
        <p:txBody>
          <a:bodyPr wrap="square" lIns="0" tIns="0" rIns="0" bIns="0" rtlCol="0" anchor="ctr"/>
          <a:lstStyle/>
          <a:p>
            <a:pPr indent="0" marL="0">
              <a:buNone/>
            </a:pPr>
            <a:r>
              <a:rPr lang="en-US" sz="1500" i="1" dirty="0">
                <a:solidFill>
                  <a:srgbClr val="262B33"/>
                </a:solidFill>
                <a:latin typeface="Calibri" pitchFamily="34" charset="0"/>
                <a:ea typeface="Calibri" pitchFamily="34" charset="-122"/>
                <a:cs typeface="Calibri" pitchFamily="34" charset="-120"/>
              </a:rPr>
              <a:t>TSE treats a statistic's accuracy as the accumulation of distinct error sources — not a single number.</a:t>
            </a:r>
            <a:endParaRPr lang="en-US" sz="1500" dirty="0"/>
          </a:p>
        </p:txBody>
      </p:sp>
      <p:sp>
        <p:nvSpPr>
          <p:cNvPr id="5" name="Shape 3"/>
          <p:cNvSpPr/>
          <p:nvPr/>
        </p:nvSpPr>
        <p:spPr>
          <a:xfrm>
            <a:off x="502920" y="1883664"/>
            <a:ext cx="3950208" cy="1417320"/>
          </a:xfrm>
          <a:prstGeom prst="rect">
            <a:avLst/>
          </a:prstGeom>
          <a:solidFill>
            <a:srgbClr val="D6E6F2"/>
          </a:solidFill>
          <a:ln/>
        </p:spPr>
      </p:sp>
      <p:sp>
        <p:nvSpPr>
          <p:cNvPr id="6" name="Text 4"/>
          <p:cNvSpPr/>
          <p:nvPr/>
        </p:nvSpPr>
        <p:spPr>
          <a:xfrm>
            <a:off x="685800" y="2011680"/>
            <a:ext cx="3584448" cy="292608"/>
          </a:xfrm>
          <a:prstGeom prst="rect">
            <a:avLst/>
          </a:prstGeom>
          <a:noFill/>
          <a:ln/>
        </p:spPr>
        <p:txBody>
          <a:bodyPr wrap="square" lIns="0" tIns="0" rIns="0" bIns="0" rtlCol="0" anchor="ctr"/>
          <a:lstStyle/>
          <a:p>
            <a:pPr indent="0" marL="0">
              <a:buNone/>
            </a:pPr>
            <a:r>
              <a:rPr lang="en-US" sz="1350" b="1" dirty="0">
                <a:solidFill>
                  <a:srgbClr val="1F4E6B"/>
                </a:solidFill>
                <a:latin typeface="Calibri" pitchFamily="34" charset="0"/>
                <a:ea typeface="Calibri" pitchFamily="34" charset="-122"/>
                <a:cs typeface="Calibri" pitchFamily="34" charset="-120"/>
              </a:rPr>
              <a:t>REPRESENTATION  —  the “who”</a:t>
            </a:r>
            <a:endParaRPr lang="en-US" sz="1350" dirty="0"/>
          </a:p>
        </p:txBody>
      </p:sp>
      <p:sp>
        <p:nvSpPr>
          <p:cNvPr id="7" name="Text 5"/>
          <p:cNvSpPr/>
          <p:nvPr/>
        </p:nvSpPr>
        <p:spPr>
          <a:xfrm>
            <a:off x="685800" y="2386584"/>
            <a:ext cx="3584448" cy="822960"/>
          </a:xfrm>
          <a:prstGeom prst="rect">
            <a:avLst/>
          </a:prstGeom>
          <a:noFill/>
          <a:ln/>
        </p:spPr>
        <p:txBody>
          <a:bodyPr wrap="square" lIns="0" tIns="0" rIns="0" bIns="0" rtlCol="0" anchor="ctr"/>
          <a:lstStyle/>
          <a:p>
            <a:pPr indent="0" marL="0">
              <a:lnSpc>
                <a:spcPct val="108000"/>
              </a:lnSpc>
              <a:buNone/>
            </a:pPr>
            <a:r>
              <a:rPr lang="en-US" sz="1300" b="1" dirty="0">
                <a:solidFill>
                  <a:srgbClr val="262B33"/>
                </a:solidFill>
                <a:latin typeface="Calibri" pitchFamily="34" charset="0"/>
                <a:ea typeface="Calibri" pitchFamily="34" charset="-122"/>
                <a:cs typeface="Calibri" pitchFamily="34" charset="-120"/>
              </a:rPr>
              <a:t>coverage → sampling → nonresponse → adjustment</a:t>
            </a:r>
            <a:endParaRPr lang="en-US" sz="1300" dirty="0"/>
          </a:p>
          <a:p>
            <a:pPr indent="0" marL="0">
              <a:lnSpc>
                <a:spcPct val="108000"/>
              </a:lnSpc>
              <a:buNone/>
            </a:pPr>
            <a:r>
              <a:rPr lang="en-US" sz="1300" i="1" dirty="0">
                <a:solidFill>
                  <a:srgbClr val="262B33"/>
                </a:solidFill>
                <a:latin typeface="Calibri" pitchFamily="34" charset="0"/>
                <a:ea typeface="Calibri" pitchFamily="34" charset="-122"/>
                <a:cs typeface="Calibri" pitchFamily="34" charset="-120"/>
              </a:rPr>
              <a:t>error in who is represented in the final statistic</a:t>
            </a:r>
            <a:endParaRPr lang="en-US" sz="1300" dirty="0"/>
          </a:p>
        </p:txBody>
      </p:sp>
      <p:sp>
        <p:nvSpPr>
          <p:cNvPr id="8" name="Shape 6"/>
          <p:cNvSpPr/>
          <p:nvPr/>
        </p:nvSpPr>
        <p:spPr>
          <a:xfrm>
            <a:off x="4690872" y="1883664"/>
            <a:ext cx="3950208" cy="1417320"/>
          </a:xfrm>
          <a:prstGeom prst="rect">
            <a:avLst/>
          </a:prstGeom>
          <a:solidFill>
            <a:srgbClr val="F3E2CF"/>
          </a:solidFill>
          <a:ln/>
        </p:spPr>
      </p:sp>
      <p:sp>
        <p:nvSpPr>
          <p:cNvPr id="9" name="Text 7"/>
          <p:cNvSpPr/>
          <p:nvPr/>
        </p:nvSpPr>
        <p:spPr>
          <a:xfrm>
            <a:off x="4873752" y="2011680"/>
            <a:ext cx="3584448" cy="292608"/>
          </a:xfrm>
          <a:prstGeom prst="rect">
            <a:avLst/>
          </a:prstGeom>
          <a:noFill/>
          <a:ln/>
        </p:spPr>
        <p:txBody>
          <a:bodyPr wrap="square" lIns="0" tIns="0" rIns="0" bIns="0" rtlCol="0" anchor="ctr"/>
          <a:lstStyle/>
          <a:p>
            <a:pPr indent="0" marL="0">
              <a:buNone/>
            </a:pPr>
            <a:r>
              <a:rPr lang="en-US" sz="1350" b="1" dirty="0">
                <a:solidFill>
                  <a:srgbClr val="7A4A12"/>
                </a:solidFill>
                <a:latin typeface="Calibri" pitchFamily="34" charset="0"/>
                <a:ea typeface="Calibri" pitchFamily="34" charset="-122"/>
                <a:cs typeface="Calibri" pitchFamily="34" charset="-120"/>
              </a:rPr>
              <a:t>MEASUREMENT  —  the “what”</a:t>
            </a:r>
            <a:endParaRPr lang="en-US" sz="1350" dirty="0"/>
          </a:p>
        </p:txBody>
      </p:sp>
      <p:sp>
        <p:nvSpPr>
          <p:cNvPr id="10" name="Text 8"/>
          <p:cNvSpPr/>
          <p:nvPr/>
        </p:nvSpPr>
        <p:spPr>
          <a:xfrm>
            <a:off x="4873752" y="2386584"/>
            <a:ext cx="3584448" cy="822960"/>
          </a:xfrm>
          <a:prstGeom prst="rect">
            <a:avLst/>
          </a:prstGeom>
          <a:noFill/>
          <a:ln/>
        </p:spPr>
        <p:txBody>
          <a:bodyPr wrap="square" lIns="0" tIns="0" rIns="0" bIns="0" rtlCol="0" anchor="ctr"/>
          <a:lstStyle/>
          <a:p>
            <a:pPr indent="0" marL="0">
              <a:lnSpc>
                <a:spcPct val="108000"/>
              </a:lnSpc>
              <a:buNone/>
            </a:pPr>
            <a:r>
              <a:rPr lang="en-US" sz="1300" b="1" dirty="0">
                <a:solidFill>
                  <a:srgbClr val="262B33"/>
                </a:solidFill>
                <a:latin typeface="Calibri" pitchFamily="34" charset="0"/>
                <a:ea typeface="Calibri" pitchFamily="34" charset="-122"/>
                <a:cs typeface="Calibri" pitchFamily="34" charset="-120"/>
              </a:rPr>
              <a:t>validity → measurement → processing</a:t>
            </a:r>
            <a:endParaRPr lang="en-US" sz="1300" dirty="0"/>
          </a:p>
          <a:p>
            <a:pPr indent="0" marL="0">
              <a:lnSpc>
                <a:spcPct val="108000"/>
              </a:lnSpc>
              <a:buNone/>
            </a:pPr>
            <a:r>
              <a:rPr lang="en-US" sz="1300" i="1" dirty="0">
                <a:solidFill>
                  <a:srgbClr val="262B33"/>
                </a:solidFill>
                <a:latin typeface="Calibri" pitchFamily="34" charset="0"/>
                <a:ea typeface="Calibri" pitchFamily="34" charset="-122"/>
                <a:cs typeface="Calibri" pitchFamily="34" charset="-120"/>
              </a:rPr>
              <a:t>error in what each response actually captures</a:t>
            </a:r>
            <a:endParaRPr lang="en-US" sz="1300" dirty="0"/>
          </a:p>
        </p:txBody>
      </p:sp>
      <p:sp>
        <p:nvSpPr>
          <p:cNvPr id="11" name="Text 9"/>
          <p:cNvSpPr/>
          <p:nvPr/>
        </p:nvSpPr>
        <p:spPr>
          <a:xfrm>
            <a:off x="502920" y="3465576"/>
            <a:ext cx="8229600" cy="310896"/>
          </a:xfrm>
          <a:prstGeom prst="rect">
            <a:avLst/>
          </a:prstGeom>
          <a:noFill/>
          <a:ln/>
        </p:spPr>
        <p:txBody>
          <a:bodyPr wrap="square" lIns="0" tIns="0" rIns="0" bIns="0" rtlCol="0" anchor="ctr"/>
          <a:lstStyle/>
          <a:p>
            <a:pPr indent="0" marL="0">
              <a:buNone/>
            </a:pPr>
            <a:r>
              <a:rPr lang="en-US" sz="1350" b="1" dirty="0">
                <a:solidFill>
                  <a:srgbClr val="262B33"/>
                </a:solidFill>
                <a:latin typeface="Calibri" pitchFamily="34" charset="0"/>
                <a:ea typeface="Calibri" pitchFamily="34" charset="-122"/>
                <a:cs typeface="Calibri" pitchFamily="34" charset="-120"/>
              </a:rPr>
              <a:t>Errors attach to specific steps </a:t>
            </a:r>
            <a:pPr indent="0" marL="0">
              <a:buNone/>
            </a:pPr>
            <a:r>
              <a:rPr lang="en-US" sz="1350" dirty="0">
                <a:solidFill>
                  <a:srgbClr val="262B33"/>
                </a:solidFill>
                <a:latin typeface="Calibri" pitchFamily="34" charset="0"/>
                <a:ea typeface="Calibri" pitchFamily="34" charset="-122"/>
                <a:cs typeface="Calibri" pitchFamily="34" charset="-120"/>
              </a:rPr>
              <a:t>— each is a property of an estimate, not of “the survey.”</a:t>
            </a:r>
            <a:endParaRPr lang="en-US" sz="1350" dirty="0"/>
          </a:p>
        </p:txBody>
      </p:sp>
      <p:sp>
        <p:nvSpPr>
          <p:cNvPr id="12" name="Text 10"/>
          <p:cNvSpPr/>
          <p:nvPr/>
        </p:nvSpPr>
        <p:spPr>
          <a:xfrm>
            <a:off x="502920" y="3794760"/>
            <a:ext cx="8229600" cy="457200"/>
          </a:xfrm>
          <a:prstGeom prst="rect">
            <a:avLst/>
          </a:prstGeom>
          <a:noFill/>
          <a:ln/>
        </p:spPr>
        <p:txBody>
          <a:bodyPr wrap="square" lIns="0" tIns="0" rIns="0" bIns="0" rtlCol="0" anchor="ctr"/>
          <a:lstStyle/>
          <a:p>
            <a:pPr indent="0" marL="0">
              <a:lnSpc>
                <a:spcPct val="104000"/>
              </a:lnSpc>
              <a:buNone/>
            </a:pPr>
            <a:r>
              <a:rPr lang="en-US" sz="1250" b="1" dirty="0">
                <a:solidFill>
                  <a:srgbClr val="9C2C2C"/>
                </a:solidFill>
                <a:latin typeface="Calibri" pitchFamily="34" charset="0"/>
                <a:ea typeface="Calibri" pitchFamily="34" charset="-122"/>
                <a:cs typeface="Calibri" pitchFamily="34" charset="-120"/>
              </a:rPr>
              <a:t>Known limits:  </a:t>
            </a:r>
            <a:pPr indent="0" marL="0">
              <a:lnSpc>
                <a:spcPct val="104000"/>
              </a:lnSpc>
              <a:buNone/>
            </a:pPr>
            <a:r>
              <a:rPr lang="en-US" sz="1250" dirty="0">
                <a:solidFill>
                  <a:srgbClr val="262B33"/>
                </a:solidFill>
                <a:latin typeface="Calibri" pitchFamily="34" charset="0"/>
                <a:ea typeface="Calibri" pitchFamily="34" charset="-122"/>
                <a:cs typeface="Calibri" pitchFamily="34" charset="-120"/>
              </a:rPr>
              <a:t>centers on accuracy (MSE); can imply sources are independent when they are often correlated; many bias components are rarely measured.</a:t>
            </a:r>
            <a:endParaRPr lang="en-US" sz="1250" dirty="0"/>
          </a:p>
        </p:txBody>
      </p:sp>
      <p:sp>
        <p:nvSpPr>
          <p:cNvPr id="13" name="Text 11"/>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TOTAL SURVEY ERROR (GROVES)</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Where error enters</a:t>
            </a:r>
            <a:endParaRPr lang="en-US" sz="2700" dirty="0"/>
          </a:p>
        </p:txBody>
      </p:sp>
      <p:sp>
        <p:nvSpPr>
          <p:cNvPr id="4" name="Shape 2"/>
          <p:cNvSpPr/>
          <p:nvPr/>
        </p:nvSpPr>
        <p:spPr>
          <a:xfrm>
            <a:off x="1920240" y="1764792"/>
            <a:ext cx="182880" cy="0"/>
          </a:xfrm>
          <a:prstGeom prst="line">
            <a:avLst/>
          </a:prstGeom>
          <a:noFill/>
          <a:ln w="19050">
            <a:solidFill>
              <a:srgbClr val="B5651D"/>
            </a:solidFill>
            <a:prstDash val="solid"/>
            <a:tailEnd type="triangle"/>
          </a:ln>
        </p:spPr>
      </p:sp>
      <p:sp>
        <p:nvSpPr>
          <p:cNvPr id="5" name="Shape 3"/>
          <p:cNvSpPr/>
          <p:nvPr/>
        </p:nvSpPr>
        <p:spPr>
          <a:xfrm>
            <a:off x="3520440" y="1764792"/>
            <a:ext cx="182880" cy="0"/>
          </a:xfrm>
          <a:prstGeom prst="line">
            <a:avLst/>
          </a:prstGeom>
          <a:noFill/>
          <a:ln w="19050">
            <a:solidFill>
              <a:srgbClr val="B5651D"/>
            </a:solidFill>
            <a:prstDash val="solid"/>
            <a:tailEnd type="triangle"/>
          </a:ln>
        </p:spPr>
      </p:sp>
      <p:sp>
        <p:nvSpPr>
          <p:cNvPr id="6" name="Shape 4"/>
          <p:cNvSpPr/>
          <p:nvPr/>
        </p:nvSpPr>
        <p:spPr>
          <a:xfrm>
            <a:off x="5120640" y="1764792"/>
            <a:ext cx="182880" cy="0"/>
          </a:xfrm>
          <a:prstGeom prst="line">
            <a:avLst/>
          </a:prstGeom>
          <a:noFill/>
          <a:ln w="19050">
            <a:solidFill>
              <a:srgbClr val="B5651D"/>
            </a:solidFill>
            <a:prstDash val="solid"/>
            <a:tailEnd type="triangle"/>
          </a:ln>
        </p:spPr>
      </p:sp>
      <p:sp>
        <p:nvSpPr>
          <p:cNvPr id="7" name="Text 5"/>
          <p:cNvSpPr/>
          <p:nvPr/>
        </p:nvSpPr>
        <p:spPr>
          <a:xfrm>
            <a:off x="1463040" y="1060704"/>
            <a:ext cx="1097280" cy="384048"/>
          </a:xfrm>
          <a:prstGeom prst="rect">
            <a:avLst/>
          </a:prstGeom>
          <a:noFill/>
          <a:ln/>
        </p:spPr>
        <p:txBody>
          <a:bodyPr wrap="square" lIns="0" tIns="0" rIns="0" bIns="0" rtlCol="0" anchor="b"/>
          <a:lstStyle/>
          <a:p>
            <a:pPr algn="ctr" indent="0" marL="0">
              <a:lnSpc>
                <a:spcPct val="90000"/>
              </a:lnSpc>
              <a:buNone/>
            </a:pPr>
            <a:r>
              <a:rPr lang="en-US" sz="900" i="1" dirty="0">
                <a:solidFill>
                  <a:srgbClr val="7A4A12"/>
                </a:solidFill>
                <a:latin typeface="Calibri" pitchFamily="34" charset="0"/>
                <a:ea typeface="Calibri" pitchFamily="34" charset="-122"/>
                <a:cs typeface="Calibri" pitchFamily="34" charset="-120"/>
              </a:rPr>
              <a:t>validity</a:t>
            </a:r>
            <a:endParaRPr lang="en-US" sz="900" dirty="0"/>
          </a:p>
        </p:txBody>
      </p:sp>
      <p:sp>
        <p:nvSpPr>
          <p:cNvPr id="8" name="Text 6"/>
          <p:cNvSpPr/>
          <p:nvPr/>
        </p:nvSpPr>
        <p:spPr>
          <a:xfrm>
            <a:off x="3063240" y="1060704"/>
            <a:ext cx="1097280" cy="384048"/>
          </a:xfrm>
          <a:prstGeom prst="rect">
            <a:avLst/>
          </a:prstGeom>
          <a:noFill/>
          <a:ln/>
        </p:spPr>
        <p:txBody>
          <a:bodyPr wrap="square" lIns="0" tIns="0" rIns="0" bIns="0" rtlCol="0" anchor="b"/>
          <a:lstStyle/>
          <a:p>
            <a:pPr algn="ctr" indent="0" marL="0">
              <a:lnSpc>
                <a:spcPct val="90000"/>
              </a:lnSpc>
              <a:buNone/>
            </a:pPr>
            <a:r>
              <a:rPr lang="en-US" sz="900" i="1" dirty="0">
                <a:solidFill>
                  <a:srgbClr val="7A4A12"/>
                </a:solidFill>
                <a:latin typeface="Calibri" pitchFamily="34" charset="0"/>
                <a:ea typeface="Calibri" pitchFamily="34" charset="-122"/>
                <a:cs typeface="Calibri" pitchFamily="34" charset="-120"/>
              </a:rPr>
              <a:t>measurement</a:t>
            </a:r>
            <a:endParaRPr lang="en-US" sz="900" dirty="0"/>
          </a:p>
          <a:p>
            <a:pPr algn="ctr" indent="0" marL="0">
              <a:lnSpc>
                <a:spcPct val="90000"/>
              </a:lnSpc>
              <a:buNone/>
            </a:pPr>
            <a:r>
              <a:rPr lang="en-US" sz="900" i="1" dirty="0">
                <a:solidFill>
                  <a:srgbClr val="7A4A12"/>
                </a:solidFill>
                <a:latin typeface="Calibri" pitchFamily="34" charset="0"/>
                <a:ea typeface="Calibri" pitchFamily="34" charset="-122"/>
                <a:cs typeface="Calibri" pitchFamily="34" charset="-120"/>
              </a:rPr>
              <a:t>error</a:t>
            </a:r>
            <a:endParaRPr lang="en-US" sz="900" dirty="0"/>
          </a:p>
        </p:txBody>
      </p:sp>
      <p:sp>
        <p:nvSpPr>
          <p:cNvPr id="9" name="Text 7"/>
          <p:cNvSpPr/>
          <p:nvPr/>
        </p:nvSpPr>
        <p:spPr>
          <a:xfrm>
            <a:off x="4663440" y="1060704"/>
            <a:ext cx="1097280" cy="384048"/>
          </a:xfrm>
          <a:prstGeom prst="rect">
            <a:avLst/>
          </a:prstGeom>
          <a:noFill/>
          <a:ln/>
        </p:spPr>
        <p:txBody>
          <a:bodyPr wrap="square" lIns="0" tIns="0" rIns="0" bIns="0" rtlCol="0" anchor="b"/>
          <a:lstStyle/>
          <a:p>
            <a:pPr algn="ctr" indent="0" marL="0">
              <a:lnSpc>
                <a:spcPct val="90000"/>
              </a:lnSpc>
              <a:buNone/>
            </a:pPr>
            <a:r>
              <a:rPr lang="en-US" sz="900" i="1" dirty="0">
                <a:solidFill>
                  <a:srgbClr val="7A4A12"/>
                </a:solidFill>
                <a:latin typeface="Calibri" pitchFamily="34" charset="0"/>
                <a:ea typeface="Calibri" pitchFamily="34" charset="-122"/>
                <a:cs typeface="Calibri" pitchFamily="34" charset="-120"/>
              </a:rPr>
              <a:t>processing</a:t>
            </a:r>
            <a:endParaRPr lang="en-US" sz="900" dirty="0"/>
          </a:p>
          <a:p>
            <a:pPr algn="ctr" indent="0" marL="0">
              <a:lnSpc>
                <a:spcPct val="90000"/>
              </a:lnSpc>
              <a:buNone/>
            </a:pPr>
            <a:r>
              <a:rPr lang="en-US" sz="900" i="1" dirty="0">
                <a:solidFill>
                  <a:srgbClr val="7A4A12"/>
                </a:solidFill>
                <a:latin typeface="Calibri" pitchFamily="34" charset="0"/>
                <a:ea typeface="Calibri" pitchFamily="34" charset="-122"/>
                <a:cs typeface="Calibri" pitchFamily="34" charset="-120"/>
              </a:rPr>
              <a:t>error</a:t>
            </a:r>
            <a:endParaRPr lang="en-US" sz="900" dirty="0"/>
          </a:p>
        </p:txBody>
      </p:sp>
      <p:sp>
        <p:nvSpPr>
          <p:cNvPr id="10" name="Shape 8"/>
          <p:cNvSpPr/>
          <p:nvPr/>
        </p:nvSpPr>
        <p:spPr>
          <a:xfrm>
            <a:off x="502920" y="1481328"/>
            <a:ext cx="1417320" cy="566928"/>
          </a:xfrm>
          <a:prstGeom prst="roundRect">
            <a:avLst>
              <a:gd name="adj" fmla="val 8065"/>
            </a:avLst>
          </a:prstGeom>
          <a:solidFill>
            <a:srgbClr val="F3E2CF"/>
          </a:solidFill>
          <a:ln w="12700">
            <a:solidFill>
              <a:srgbClr val="B5651D"/>
            </a:solidFill>
            <a:prstDash val="solid"/>
          </a:ln>
        </p:spPr>
      </p:sp>
      <p:sp>
        <p:nvSpPr>
          <p:cNvPr id="11" name="Text 9"/>
          <p:cNvSpPr/>
          <p:nvPr/>
        </p:nvSpPr>
        <p:spPr>
          <a:xfrm>
            <a:off x="502920" y="1481328"/>
            <a:ext cx="1417320" cy="566928"/>
          </a:xfrm>
          <a:prstGeom prst="rect">
            <a:avLst/>
          </a:prstGeom>
          <a:noFill/>
          <a:ln/>
        </p:spPr>
        <p:txBody>
          <a:bodyPr wrap="square" lIns="0" tIns="0" rIns="0" bIns="0" rtlCol="0" anchor="ctr"/>
          <a:lstStyle/>
          <a:p>
            <a:pPr algn="ctr" indent="0" marL="0">
              <a:lnSpc>
                <a:spcPct val="90000"/>
              </a:lnSpc>
              <a:buNone/>
            </a:pPr>
            <a:r>
              <a:rPr lang="en-US" sz="1150" b="1" dirty="0">
                <a:solidFill>
                  <a:srgbClr val="7A4A12"/>
                </a:solidFill>
                <a:latin typeface="Calibri" pitchFamily="34" charset="0"/>
                <a:ea typeface="Calibri" pitchFamily="34" charset="-122"/>
                <a:cs typeface="Calibri" pitchFamily="34" charset="-120"/>
              </a:rPr>
              <a:t>Construct</a:t>
            </a:r>
            <a:endParaRPr lang="en-US" sz="1150" dirty="0"/>
          </a:p>
        </p:txBody>
      </p:sp>
      <p:sp>
        <p:nvSpPr>
          <p:cNvPr id="12" name="Shape 10"/>
          <p:cNvSpPr/>
          <p:nvPr/>
        </p:nvSpPr>
        <p:spPr>
          <a:xfrm>
            <a:off x="2103120" y="1481328"/>
            <a:ext cx="1417320" cy="566928"/>
          </a:xfrm>
          <a:prstGeom prst="roundRect">
            <a:avLst>
              <a:gd name="adj" fmla="val 8065"/>
            </a:avLst>
          </a:prstGeom>
          <a:solidFill>
            <a:srgbClr val="F3E2CF"/>
          </a:solidFill>
          <a:ln w="12700">
            <a:solidFill>
              <a:srgbClr val="B5651D"/>
            </a:solidFill>
            <a:prstDash val="solid"/>
          </a:ln>
        </p:spPr>
      </p:sp>
      <p:sp>
        <p:nvSpPr>
          <p:cNvPr id="13" name="Text 11"/>
          <p:cNvSpPr/>
          <p:nvPr/>
        </p:nvSpPr>
        <p:spPr>
          <a:xfrm>
            <a:off x="2103120" y="1481328"/>
            <a:ext cx="1417320" cy="566928"/>
          </a:xfrm>
          <a:prstGeom prst="rect">
            <a:avLst/>
          </a:prstGeom>
          <a:noFill/>
          <a:ln/>
        </p:spPr>
        <p:txBody>
          <a:bodyPr wrap="square" lIns="0" tIns="0" rIns="0" bIns="0" rtlCol="0" anchor="ctr"/>
          <a:lstStyle/>
          <a:p>
            <a:pPr algn="ctr" indent="0" marL="0">
              <a:lnSpc>
                <a:spcPct val="90000"/>
              </a:lnSpc>
              <a:buNone/>
            </a:pPr>
            <a:r>
              <a:rPr lang="en-US" sz="1150" b="1" dirty="0">
                <a:solidFill>
                  <a:srgbClr val="7A4A12"/>
                </a:solidFill>
                <a:latin typeface="Calibri" pitchFamily="34" charset="0"/>
                <a:ea typeface="Calibri" pitchFamily="34" charset="-122"/>
                <a:cs typeface="Calibri" pitchFamily="34" charset="-120"/>
              </a:rPr>
              <a:t>Measurement</a:t>
            </a:r>
            <a:endParaRPr lang="en-US" sz="1150" dirty="0"/>
          </a:p>
        </p:txBody>
      </p:sp>
      <p:sp>
        <p:nvSpPr>
          <p:cNvPr id="14" name="Shape 12"/>
          <p:cNvSpPr/>
          <p:nvPr/>
        </p:nvSpPr>
        <p:spPr>
          <a:xfrm>
            <a:off x="3703320" y="1481328"/>
            <a:ext cx="1417320" cy="566928"/>
          </a:xfrm>
          <a:prstGeom prst="roundRect">
            <a:avLst>
              <a:gd name="adj" fmla="val 8065"/>
            </a:avLst>
          </a:prstGeom>
          <a:solidFill>
            <a:srgbClr val="F3E2CF"/>
          </a:solidFill>
          <a:ln w="12700">
            <a:solidFill>
              <a:srgbClr val="B5651D"/>
            </a:solidFill>
            <a:prstDash val="solid"/>
          </a:ln>
        </p:spPr>
      </p:sp>
      <p:sp>
        <p:nvSpPr>
          <p:cNvPr id="15" name="Text 13"/>
          <p:cNvSpPr/>
          <p:nvPr/>
        </p:nvSpPr>
        <p:spPr>
          <a:xfrm>
            <a:off x="3703320" y="1481328"/>
            <a:ext cx="1417320" cy="566928"/>
          </a:xfrm>
          <a:prstGeom prst="rect">
            <a:avLst/>
          </a:prstGeom>
          <a:noFill/>
          <a:ln/>
        </p:spPr>
        <p:txBody>
          <a:bodyPr wrap="square" lIns="0" tIns="0" rIns="0" bIns="0" rtlCol="0" anchor="ctr"/>
          <a:lstStyle/>
          <a:p>
            <a:pPr algn="ctr" indent="0" marL="0">
              <a:lnSpc>
                <a:spcPct val="90000"/>
              </a:lnSpc>
              <a:buNone/>
            </a:pPr>
            <a:r>
              <a:rPr lang="en-US" sz="1150" b="1" dirty="0">
                <a:solidFill>
                  <a:srgbClr val="7A4A12"/>
                </a:solidFill>
                <a:latin typeface="Calibri" pitchFamily="34" charset="0"/>
                <a:ea typeface="Calibri" pitchFamily="34" charset="-122"/>
                <a:cs typeface="Calibri" pitchFamily="34" charset="-120"/>
              </a:rPr>
              <a:t>Response</a:t>
            </a:r>
            <a:endParaRPr lang="en-US" sz="1150" dirty="0"/>
          </a:p>
        </p:txBody>
      </p:sp>
      <p:sp>
        <p:nvSpPr>
          <p:cNvPr id="16" name="Shape 14"/>
          <p:cNvSpPr/>
          <p:nvPr/>
        </p:nvSpPr>
        <p:spPr>
          <a:xfrm>
            <a:off x="5303520" y="1481328"/>
            <a:ext cx="1417320" cy="566928"/>
          </a:xfrm>
          <a:prstGeom prst="roundRect">
            <a:avLst>
              <a:gd name="adj" fmla="val 8065"/>
            </a:avLst>
          </a:prstGeom>
          <a:solidFill>
            <a:srgbClr val="F3E2CF"/>
          </a:solidFill>
          <a:ln w="12700">
            <a:solidFill>
              <a:srgbClr val="B5651D"/>
            </a:solidFill>
            <a:prstDash val="solid"/>
          </a:ln>
        </p:spPr>
      </p:sp>
      <p:sp>
        <p:nvSpPr>
          <p:cNvPr id="17" name="Text 15"/>
          <p:cNvSpPr/>
          <p:nvPr/>
        </p:nvSpPr>
        <p:spPr>
          <a:xfrm>
            <a:off x="5303520" y="1481328"/>
            <a:ext cx="1417320" cy="566928"/>
          </a:xfrm>
          <a:prstGeom prst="rect">
            <a:avLst/>
          </a:prstGeom>
          <a:noFill/>
          <a:ln/>
        </p:spPr>
        <p:txBody>
          <a:bodyPr wrap="square" lIns="0" tIns="0" rIns="0" bIns="0" rtlCol="0" anchor="ctr"/>
          <a:lstStyle/>
          <a:p>
            <a:pPr algn="ctr" indent="0" marL="0">
              <a:lnSpc>
                <a:spcPct val="90000"/>
              </a:lnSpc>
              <a:buNone/>
            </a:pPr>
            <a:r>
              <a:rPr lang="en-US" sz="1150" b="1" dirty="0">
                <a:solidFill>
                  <a:srgbClr val="7A4A12"/>
                </a:solidFill>
                <a:latin typeface="Calibri" pitchFamily="34" charset="0"/>
                <a:ea typeface="Calibri" pitchFamily="34" charset="-122"/>
                <a:cs typeface="Calibri" pitchFamily="34" charset="-120"/>
              </a:rPr>
              <a:t>Edited</a:t>
            </a:r>
            <a:endParaRPr lang="en-US" sz="1150" dirty="0"/>
          </a:p>
          <a:p>
            <a:pPr algn="ctr" indent="0" marL="0">
              <a:lnSpc>
                <a:spcPct val="90000"/>
              </a:lnSpc>
              <a:buNone/>
            </a:pPr>
            <a:r>
              <a:rPr lang="en-US" sz="1150" b="1" dirty="0">
                <a:solidFill>
                  <a:srgbClr val="7A4A12"/>
                </a:solidFill>
                <a:latin typeface="Calibri" pitchFamily="34" charset="0"/>
                <a:ea typeface="Calibri" pitchFamily="34" charset="-122"/>
                <a:cs typeface="Calibri" pitchFamily="34" charset="-120"/>
              </a:rPr>
              <a:t>Response</a:t>
            </a:r>
            <a:endParaRPr lang="en-US" sz="1150" dirty="0"/>
          </a:p>
        </p:txBody>
      </p:sp>
      <p:sp>
        <p:nvSpPr>
          <p:cNvPr id="18" name="Text 16"/>
          <p:cNvSpPr/>
          <p:nvPr/>
        </p:nvSpPr>
        <p:spPr>
          <a:xfrm>
            <a:off x="502920" y="1078992"/>
            <a:ext cx="4572000" cy="274320"/>
          </a:xfrm>
          <a:prstGeom prst="rect">
            <a:avLst/>
          </a:prstGeom>
          <a:noFill/>
          <a:ln/>
        </p:spPr>
        <p:txBody>
          <a:bodyPr wrap="square" lIns="0" tIns="0" rIns="0" bIns="0" rtlCol="0" anchor="ctr"/>
          <a:lstStyle/>
          <a:p>
            <a:pPr indent="0" marL="0">
              <a:buNone/>
            </a:pPr>
            <a:r>
              <a:rPr lang="en-US" sz="1200" b="1" dirty="0">
                <a:solidFill>
                  <a:srgbClr val="B5651D"/>
                </a:solidFill>
                <a:latin typeface="Calibri" pitchFamily="34" charset="0"/>
                <a:ea typeface="Calibri" pitchFamily="34" charset="-122"/>
                <a:cs typeface="Calibri" pitchFamily="34" charset="-120"/>
              </a:rPr>
              <a:t>MEASUREMENT (the “what”)</a:t>
            </a:r>
            <a:endParaRPr lang="en-US" sz="1200" dirty="0"/>
          </a:p>
        </p:txBody>
      </p:sp>
      <p:sp>
        <p:nvSpPr>
          <p:cNvPr id="19" name="Shape 17"/>
          <p:cNvSpPr/>
          <p:nvPr/>
        </p:nvSpPr>
        <p:spPr>
          <a:xfrm>
            <a:off x="1709928" y="3739896"/>
            <a:ext cx="137160" cy="0"/>
          </a:xfrm>
          <a:prstGeom prst="line">
            <a:avLst/>
          </a:prstGeom>
          <a:noFill/>
          <a:ln w="19050">
            <a:solidFill>
              <a:srgbClr val="2C6E9C"/>
            </a:solidFill>
            <a:prstDash val="solid"/>
            <a:tailEnd type="triangle"/>
          </a:ln>
        </p:spPr>
      </p:sp>
      <p:sp>
        <p:nvSpPr>
          <p:cNvPr id="20" name="Shape 18"/>
          <p:cNvSpPr/>
          <p:nvPr/>
        </p:nvSpPr>
        <p:spPr>
          <a:xfrm>
            <a:off x="3054096" y="3739896"/>
            <a:ext cx="137160" cy="0"/>
          </a:xfrm>
          <a:prstGeom prst="line">
            <a:avLst/>
          </a:prstGeom>
          <a:noFill/>
          <a:ln w="19050">
            <a:solidFill>
              <a:srgbClr val="2C6E9C"/>
            </a:solidFill>
            <a:prstDash val="solid"/>
            <a:tailEnd type="triangle"/>
          </a:ln>
        </p:spPr>
      </p:sp>
      <p:sp>
        <p:nvSpPr>
          <p:cNvPr id="21" name="Shape 19"/>
          <p:cNvSpPr/>
          <p:nvPr/>
        </p:nvSpPr>
        <p:spPr>
          <a:xfrm>
            <a:off x="4398264" y="3739896"/>
            <a:ext cx="137160" cy="0"/>
          </a:xfrm>
          <a:prstGeom prst="line">
            <a:avLst/>
          </a:prstGeom>
          <a:noFill/>
          <a:ln w="19050">
            <a:solidFill>
              <a:srgbClr val="2C6E9C"/>
            </a:solidFill>
            <a:prstDash val="solid"/>
            <a:tailEnd type="triangle"/>
          </a:ln>
        </p:spPr>
      </p:sp>
      <p:sp>
        <p:nvSpPr>
          <p:cNvPr id="22" name="Shape 20"/>
          <p:cNvSpPr/>
          <p:nvPr/>
        </p:nvSpPr>
        <p:spPr>
          <a:xfrm>
            <a:off x="5742432" y="3739896"/>
            <a:ext cx="137160" cy="0"/>
          </a:xfrm>
          <a:prstGeom prst="line">
            <a:avLst/>
          </a:prstGeom>
          <a:noFill/>
          <a:ln w="19050">
            <a:solidFill>
              <a:srgbClr val="2C6E9C"/>
            </a:solidFill>
            <a:prstDash val="solid"/>
            <a:tailEnd type="triangle"/>
          </a:ln>
        </p:spPr>
      </p:sp>
      <p:sp>
        <p:nvSpPr>
          <p:cNvPr id="23" name="Text 21"/>
          <p:cNvSpPr/>
          <p:nvPr/>
        </p:nvSpPr>
        <p:spPr>
          <a:xfrm>
            <a:off x="1229868" y="4041648"/>
            <a:ext cx="1097280" cy="274320"/>
          </a:xfrm>
          <a:prstGeom prst="rect">
            <a:avLst/>
          </a:prstGeom>
          <a:noFill/>
          <a:ln/>
        </p:spPr>
        <p:txBody>
          <a:bodyPr wrap="square" lIns="0" tIns="0" rIns="0" bIns="0" rtlCol="0" anchor="t"/>
          <a:lstStyle/>
          <a:p>
            <a:pPr algn="ctr" indent="0" marL="0">
              <a:buNone/>
            </a:pPr>
            <a:r>
              <a:rPr lang="en-US" sz="900" i="1" dirty="0">
                <a:solidFill>
                  <a:srgbClr val="1F4E6B"/>
                </a:solidFill>
                <a:latin typeface="Calibri" pitchFamily="34" charset="0"/>
                <a:ea typeface="Calibri" pitchFamily="34" charset="-122"/>
                <a:cs typeface="Calibri" pitchFamily="34" charset="-120"/>
              </a:rPr>
              <a:t>coverage</a:t>
            </a:r>
            <a:endParaRPr lang="en-US" sz="900" dirty="0"/>
          </a:p>
        </p:txBody>
      </p:sp>
      <p:sp>
        <p:nvSpPr>
          <p:cNvPr id="24" name="Text 22"/>
          <p:cNvSpPr/>
          <p:nvPr/>
        </p:nvSpPr>
        <p:spPr>
          <a:xfrm>
            <a:off x="2574036" y="4041648"/>
            <a:ext cx="1097280" cy="274320"/>
          </a:xfrm>
          <a:prstGeom prst="rect">
            <a:avLst/>
          </a:prstGeom>
          <a:noFill/>
          <a:ln/>
        </p:spPr>
        <p:txBody>
          <a:bodyPr wrap="square" lIns="0" tIns="0" rIns="0" bIns="0" rtlCol="0" anchor="t"/>
          <a:lstStyle/>
          <a:p>
            <a:pPr algn="ctr" indent="0" marL="0">
              <a:buNone/>
            </a:pPr>
            <a:r>
              <a:rPr lang="en-US" sz="900" i="1" dirty="0">
                <a:solidFill>
                  <a:srgbClr val="1F4E6B"/>
                </a:solidFill>
                <a:latin typeface="Calibri" pitchFamily="34" charset="0"/>
                <a:ea typeface="Calibri" pitchFamily="34" charset="-122"/>
                <a:cs typeface="Calibri" pitchFamily="34" charset="-120"/>
              </a:rPr>
              <a:t>sampling</a:t>
            </a:r>
            <a:endParaRPr lang="en-US" sz="900" dirty="0"/>
          </a:p>
        </p:txBody>
      </p:sp>
      <p:sp>
        <p:nvSpPr>
          <p:cNvPr id="25" name="Text 23"/>
          <p:cNvSpPr/>
          <p:nvPr/>
        </p:nvSpPr>
        <p:spPr>
          <a:xfrm>
            <a:off x="3918204" y="4041648"/>
            <a:ext cx="1097280" cy="274320"/>
          </a:xfrm>
          <a:prstGeom prst="rect">
            <a:avLst/>
          </a:prstGeom>
          <a:noFill/>
          <a:ln/>
        </p:spPr>
        <p:txBody>
          <a:bodyPr wrap="square" lIns="0" tIns="0" rIns="0" bIns="0" rtlCol="0" anchor="t"/>
          <a:lstStyle/>
          <a:p>
            <a:pPr algn="ctr" indent="0" marL="0">
              <a:buNone/>
            </a:pPr>
            <a:r>
              <a:rPr lang="en-US" sz="900" i="1" dirty="0">
                <a:solidFill>
                  <a:srgbClr val="1F4E6B"/>
                </a:solidFill>
                <a:latin typeface="Calibri" pitchFamily="34" charset="0"/>
                <a:ea typeface="Calibri" pitchFamily="34" charset="-122"/>
                <a:cs typeface="Calibri" pitchFamily="34" charset="-120"/>
              </a:rPr>
              <a:t>nonresponse</a:t>
            </a:r>
            <a:endParaRPr lang="en-US" sz="900" dirty="0"/>
          </a:p>
        </p:txBody>
      </p:sp>
      <p:sp>
        <p:nvSpPr>
          <p:cNvPr id="26" name="Text 24"/>
          <p:cNvSpPr/>
          <p:nvPr/>
        </p:nvSpPr>
        <p:spPr>
          <a:xfrm>
            <a:off x="5262372" y="4041648"/>
            <a:ext cx="1097280" cy="274320"/>
          </a:xfrm>
          <a:prstGeom prst="rect">
            <a:avLst/>
          </a:prstGeom>
          <a:noFill/>
          <a:ln/>
        </p:spPr>
        <p:txBody>
          <a:bodyPr wrap="square" lIns="0" tIns="0" rIns="0" bIns="0" rtlCol="0" anchor="t"/>
          <a:lstStyle/>
          <a:p>
            <a:pPr algn="ctr" indent="0" marL="0">
              <a:buNone/>
            </a:pPr>
            <a:r>
              <a:rPr lang="en-US" sz="900" i="1" dirty="0">
                <a:solidFill>
                  <a:srgbClr val="1F4E6B"/>
                </a:solidFill>
                <a:latin typeface="Calibri" pitchFamily="34" charset="0"/>
                <a:ea typeface="Calibri" pitchFamily="34" charset="-122"/>
                <a:cs typeface="Calibri" pitchFamily="34" charset="-120"/>
              </a:rPr>
              <a:t>adjustment</a:t>
            </a:r>
            <a:endParaRPr lang="en-US" sz="900" dirty="0"/>
          </a:p>
        </p:txBody>
      </p:sp>
      <p:sp>
        <p:nvSpPr>
          <p:cNvPr id="27" name="Shape 25"/>
          <p:cNvSpPr/>
          <p:nvPr/>
        </p:nvSpPr>
        <p:spPr>
          <a:xfrm>
            <a:off x="502920" y="3456432"/>
            <a:ext cx="1207008" cy="566928"/>
          </a:xfrm>
          <a:prstGeom prst="roundRect">
            <a:avLst>
              <a:gd name="adj" fmla="val 8065"/>
            </a:avLst>
          </a:prstGeom>
          <a:solidFill>
            <a:srgbClr val="D6E6F2"/>
          </a:solidFill>
          <a:ln w="12700">
            <a:solidFill>
              <a:srgbClr val="2C6E9C"/>
            </a:solidFill>
            <a:prstDash val="solid"/>
          </a:ln>
        </p:spPr>
      </p:sp>
      <p:sp>
        <p:nvSpPr>
          <p:cNvPr id="28" name="Text 26"/>
          <p:cNvSpPr/>
          <p:nvPr/>
        </p:nvSpPr>
        <p:spPr>
          <a:xfrm>
            <a:off x="502920" y="3456432"/>
            <a:ext cx="1207008" cy="566928"/>
          </a:xfrm>
          <a:prstGeom prst="rect">
            <a:avLst/>
          </a:prstGeom>
          <a:noFill/>
          <a:ln/>
        </p:spPr>
        <p:txBody>
          <a:bodyPr wrap="square" lIns="0" tIns="0" rIns="0" bIns="0" rtlCol="0" anchor="ctr"/>
          <a:lstStyle/>
          <a:p>
            <a:pPr algn="ctr" indent="0" marL="0">
              <a:lnSpc>
                <a:spcPct val="90000"/>
              </a:lnSpc>
              <a:buNone/>
            </a:pPr>
            <a:r>
              <a:rPr lang="en-US" sz="1050" b="1" dirty="0">
                <a:solidFill>
                  <a:srgbClr val="1F4E6B"/>
                </a:solidFill>
                <a:latin typeface="Calibri" pitchFamily="34" charset="0"/>
                <a:ea typeface="Calibri" pitchFamily="34" charset="-122"/>
                <a:cs typeface="Calibri" pitchFamily="34" charset="-120"/>
              </a:rPr>
              <a:t>Target</a:t>
            </a:r>
            <a:endParaRPr lang="en-US" sz="1050" dirty="0"/>
          </a:p>
          <a:p>
            <a:pPr algn="ctr" indent="0" marL="0">
              <a:lnSpc>
                <a:spcPct val="90000"/>
              </a:lnSpc>
              <a:buNone/>
            </a:pPr>
            <a:r>
              <a:rPr lang="en-US" sz="1050" b="1" dirty="0">
                <a:solidFill>
                  <a:srgbClr val="1F4E6B"/>
                </a:solidFill>
                <a:latin typeface="Calibri" pitchFamily="34" charset="0"/>
                <a:ea typeface="Calibri" pitchFamily="34" charset="-122"/>
                <a:cs typeface="Calibri" pitchFamily="34" charset="-120"/>
              </a:rPr>
              <a:t>Population</a:t>
            </a:r>
            <a:endParaRPr lang="en-US" sz="1050" dirty="0"/>
          </a:p>
        </p:txBody>
      </p:sp>
      <p:sp>
        <p:nvSpPr>
          <p:cNvPr id="29" name="Shape 27"/>
          <p:cNvSpPr/>
          <p:nvPr/>
        </p:nvSpPr>
        <p:spPr>
          <a:xfrm>
            <a:off x="1847088" y="3456432"/>
            <a:ext cx="1207008" cy="566928"/>
          </a:xfrm>
          <a:prstGeom prst="roundRect">
            <a:avLst>
              <a:gd name="adj" fmla="val 8065"/>
            </a:avLst>
          </a:prstGeom>
          <a:solidFill>
            <a:srgbClr val="D6E6F2"/>
          </a:solidFill>
          <a:ln w="12700">
            <a:solidFill>
              <a:srgbClr val="2C6E9C"/>
            </a:solidFill>
            <a:prstDash val="solid"/>
          </a:ln>
        </p:spPr>
      </p:sp>
      <p:sp>
        <p:nvSpPr>
          <p:cNvPr id="30" name="Text 28"/>
          <p:cNvSpPr/>
          <p:nvPr/>
        </p:nvSpPr>
        <p:spPr>
          <a:xfrm>
            <a:off x="1847088" y="3456432"/>
            <a:ext cx="1207008" cy="566928"/>
          </a:xfrm>
          <a:prstGeom prst="rect">
            <a:avLst/>
          </a:prstGeom>
          <a:noFill/>
          <a:ln/>
        </p:spPr>
        <p:txBody>
          <a:bodyPr wrap="square" lIns="0" tIns="0" rIns="0" bIns="0" rtlCol="0" anchor="ctr"/>
          <a:lstStyle/>
          <a:p>
            <a:pPr algn="ctr" indent="0" marL="0">
              <a:lnSpc>
                <a:spcPct val="90000"/>
              </a:lnSpc>
              <a:buNone/>
            </a:pPr>
            <a:r>
              <a:rPr lang="en-US" sz="1050" b="1" dirty="0">
                <a:solidFill>
                  <a:srgbClr val="1F4E6B"/>
                </a:solidFill>
                <a:latin typeface="Calibri" pitchFamily="34" charset="0"/>
                <a:ea typeface="Calibri" pitchFamily="34" charset="-122"/>
                <a:cs typeface="Calibri" pitchFamily="34" charset="-120"/>
              </a:rPr>
              <a:t>Sampling</a:t>
            </a:r>
            <a:endParaRPr lang="en-US" sz="1050" dirty="0"/>
          </a:p>
          <a:p>
            <a:pPr algn="ctr" indent="0" marL="0">
              <a:lnSpc>
                <a:spcPct val="90000"/>
              </a:lnSpc>
              <a:buNone/>
            </a:pPr>
            <a:r>
              <a:rPr lang="en-US" sz="1050" b="1" dirty="0">
                <a:solidFill>
                  <a:srgbClr val="1F4E6B"/>
                </a:solidFill>
                <a:latin typeface="Calibri" pitchFamily="34" charset="0"/>
                <a:ea typeface="Calibri" pitchFamily="34" charset="-122"/>
                <a:cs typeface="Calibri" pitchFamily="34" charset="-120"/>
              </a:rPr>
              <a:t>Frame</a:t>
            </a:r>
            <a:endParaRPr lang="en-US" sz="1050" dirty="0"/>
          </a:p>
        </p:txBody>
      </p:sp>
      <p:sp>
        <p:nvSpPr>
          <p:cNvPr id="31" name="Shape 29"/>
          <p:cNvSpPr/>
          <p:nvPr/>
        </p:nvSpPr>
        <p:spPr>
          <a:xfrm>
            <a:off x="3191256" y="3456432"/>
            <a:ext cx="1207008" cy="566928"/>
          </a:xfrm>
          <a:prstGeom prst="roundRect">
            <a:avLst>
              <a:gd name="adj" fmla="val 8065"/>
            </a:avLst>
          </a:prstGeom>
          <a:solidFill>
            <a:srgbClr val="D6E6F2"/>
          </a:solidFill>
          <a:ln w="12700">
            <a:solidFill>
              <a:srgbClr val="2C6E9C"/>
            </a:solidFill>
            <a:prstDash val="solid"/>
          </a:ln>
        </p:spPr>
      </p:sp>
      <p:sp>
        <p:nvSpPr>
          <p:cNvPr id="32" name="Text 30"/>
          <p:cNvSpPr/>
          <p:nvPr/>
        </p:nvSpPr>
        <p:spPr>
          <a:xfrm>
            <a:off x="3191256" y="3456432"/>
            <a:ext cx="1207008" cy="566928"/>
          </a:xfrm>
          <a:prstGeom prst="rect">
            <a:avLst/>
          </a:prstGeom>
          <a:noFill/>
          <a:ln/>
        </p:spPr>
        <p:txBody>
          <a:bodyPr wrap="square" lIns="0" tIns="0" rIns="0" bIns="0" rtlCol="0" anchor="ctr"/>
          <a:lstStyle/>
          <a:p>
            <a:pPr algn="ctr" indent="0" marL="0">
              <a:lnSpc>
                <a:spcPct val="90000"/>
              </a:lnSpc>
              <a:buNone/>
            </a:pPr>
            <a:r>
              <a:rPr lang="en-US" sz="1050" b="1" dirty="0">
                <a:solidFill>
                  <a:srgbClr val="1F4E6B"/>
                </a:solidFill>
                <a:latin typeface="Calibri" pitchFamily="34" charset="0"/>
                <a:ea typeface="Calibri" pitchFamily="34" charset="-122"/>
                <a:cs typeface="Calibri" pitchFamily="34" charset="-120"/>
              </a:rPr>
              <a:t>Sample</a:t>
            </a:r>
            <a:endParaRPr lang="en-US" sz="1050" dirty="0"/>
          </a:p>
        </p:txBody>
      </p:sp>
      <p:sp>
        <p:nvSpPr>
          <p:cNvPr id="33" name="Shape 31"/>
          <p:cNvSpPr/>
          <p:nvPr/>
        </p:nvSpPr>
        <p:spPr>
          <a:xfrm>
            <a:off x="4535424" y="3456432"/>
            <a:ext cx="1207008" cy="566928"/>
          </a:xfrm>
          <a:prstGeom prst="roundRect">
            <a:avLst>
              <a:gd name="adj" fmla="val 8065"/>
            </a:avLst>
          </a:prstGeom>
          <a:solidFill>
            <a:srgbClr val="D6E6F2"/>
          </a:solidFill>
          <a:ln w="12700">
            <a:solidFill>
              <a:srgbClr val="2C6E9C"/>
            </a:solidFill>
            <a:prstDash val="solid"/>
          </a:ln>
        </p:spPr>
      </p:sp>
      <p:sp>
        <p:nvSpPr>
          <p:cNvPr id="34" name="Text 32"/>
          <p:cNvSpPr/>
          <p:nvPr/>
        </p:nvSpPr>
        <p:spPr>
          <a:xfrm>
            <a:off x="4535424" y="3456432"/>
            <a:ext cx="1207008" cy="566928"/>
          </a:xfrm>
          <a:prstGeom prst="rect">
            <a:avLst/>
          </a:prstGeom>
          <a:noFill/>
          <a:ln/>
        </p:spPr>
        <p:txBody>
          <a:bodyPr wrap="square" lIns="0" tIns="0" rIns="0" bIns="0" rtlCol="0" anchor="ctr"/>
          <a:lstStyle/>
          <a:p>
            <a:pPr algn="ctr" indent="0" marL="0">
              <a:lnSpc>
                <a:spcPct val="90000"/>
              </a:lnSpc>
              <a:buNone/>
            </a:pPr>
            <a:r>
              <a:rPr lang="en-US" sz="1050" b="1" dirty="0">
                <a:solidFill>
                  <a:srgbClr val="1F4E6B"/>
                </a:solidFill>
                <a:latin typeface="Calibri" pitchFamily="34" charset="0"/>
                <a:ea typeface="Calibri" pitchFamily="34" charset="-122"/>
                <a:cs typeface="Calibri" pitchFamily="34" charset="-120"/>
              </a:rPr>
              <a:t>Respondents</a:t>
            </a:r>
            <a:endParaRPr lang="en-US" sz="1050" dirty="0"/>
          </a:p>
        </p:txBody>
      </p:sp>
      <p:sp>
        <p:nvSpPr>
          <p:cNvPr id="35" name="Shape 33"/>
          <p:cNvSpPr/>
          <p:nvPr/>
        </p:nvSpPr>
        <p:spPr>
          <a:xfrm>
            <a:off x="5879592" y="3456432"/>
            <a:ext cx="1207008" cy="566928"/>
          </a:xfrm>
          <a:prstGeom prst="roundRect">
            <a:avLst>
              <a:gd name="adj" fmla="val 8065"/>
            </a:avLst>
          </a:prstGeom>
          <a:solidFill>
            <a:srgbClr val="D6E6F2"/>
          </a:solidFill>
          <a:ln w="12700">
            <a:solidFill>
              <a:srgbClr val="2C6E9C"/>
            </a:solidFill>
            <a:prstDash val="solid"/>
          </a:ln>
        </p:spPr>
      </p:sp>
      <p:sp>
        <p:nvSpPr>
          <p:cNvPr id="36" name="Text 34"/>
          <p:cNvSpPr/>
          <p:nvPr/>
        </p:nvSpPr>
        <p:spPr>
          <a:xfrm>
            <a:off x="5879592" y="3456432"/>
            <a:ext cx="1207008" cy="566928"/>
          </a:xfrm>
          <a:prstGeom prst="rect">
            <a:avLst/>
          </a:prstGeom>
          <a:noFill/>
          <a:ln/>
        </p:spPr>
        <p:txBody>
          <a:bodyPr wrap="square" lIns="0" tIns="0" rIns="0" bIns="0" rtlCol="0" anchor="ctr"/>
          <a:lstStyle/>
          <a:p>
            <a:pPr algn="ctr" indent="0" marL="0">
              <a:lnSpc>
                <a:spcPct val="90000"/>
              </a:lnSpc>
              <a:buNone/>
            </a:pPr>
            <a:r>
              <a:rPr lang="en-US" sz="1050" b="1" dirty="0">
                <a:solidFill>
                  <a:srgbClr val="1F4E6B"/>
                </a:solidFill>
                <a:latin typeface="Calibri" pitchFamily="34" charset="0"/>
                <a:ea typeface="Calibri" pitchFamily="34" charset="-122"/>
                <a:cs typeface="Calibri" pitchFamily="34" charset="-120"/>
              </a:rPr>
              <a:t>Post-survey</a:t>
            </a:r>
            <a:endParaRPr lang="en-US" sz="1050" dirty="0"/>
          </a:p>
          <a:p>
            <a:pPr algn="ctr" indent="0" marL="0">
              <a:lnSpc>
                <a:spcPct val="90000"/>
              </a:lnSpc>
              <a:buNone/>
            </a:pPr>
            <a:r>
              <a:rPr lang="en-US" sz="1050" b="1" dirty="0">
                <a:solidFill>
                  <a:srgbClr val="1F4E6B"/>
                </a:solidFill>
                <a:latin typeface="Calibri" pitchFamily="34" charset="0"/>
                <a:ea typeface="Calibri" pitchFamily="34" charset="-122"/>
                <a:cs typeface="Calibri" pitchFamily="34" charset="-120"/>
              </a:rPr>
              <a:t>Adjustments</a:t>
            </a:r>
            <a:endParaRPr lang="en-US" sz="1050" dirty="0"/>
          </a:p>
        </p:txBody>
      </p:sp>
      <p:sp>
        <p:nvSpPr>
          <p:cNvPr id="37" name="Text 35"/>
          <p:cNvSpPr/>
          <p:nvPr/>
        </p:nvSpPr>
        <p:spPr>
          <a:xfrm>
            <a:off x="502920" y="4352544"/>
            <a:ext cx="4572000" cy="274320"/>
          </a:xfrm>
          <a:prstGeom prst="rect">
            <a:avLst/>
          </a:prstGeom>
          <a:noFill/>
          <a:ln/>
        </p:spPr>
        <p:txBody>
          <a:bodyPr wrap="square" lIns="0" tIns="0" rIns="0" bIns="0" rtlCol="0" anchor="ctr"/>
          <a:lstStyle/>
          <a:p>
            <a:pPr indent="0" marL="0">
              <a:buNone/>
            </a:pPr>
            <a:r>
              <a:rPr lang="en-US" sz="1200" b="1" dirty="0">
                <a:solidFill>
                  <a:srgbClr val="2C6E9C"/>
                </a:solidFill>
                <a:latin typeface="Calibri" pitchFamily="34" charset="0"/>
                <a:ea typeface="Calibri" pitchFamily="34" charset="-122"/>
                <a:cs typeface="Calibri" pitchFamily="34" charset="-120"/>
              </a:rPr>
              <a:t>REPRESENTATION (the “who”)</a:t>
            </a:r>
            <a:endParaRPr lang="en-US" sz="1200" dirty="0"/>
          </a:p>
        </p:txBody>
      </p:sp>
      <p:sp>
        <p:nvSpPr>
          <p:cNvPr id="38" name="Shape 36"/>
          <p:cNvSpPr/>
          <p:nvPr/>
        </p:nvSpPr>
        <p:spPr>
          <a:xfrm>
            <a:off x="6720840" y="1764792"/>
            <a:ext cx="731520" cy="612648"/>
          </a:xfrm>
          <a:prstGeom prst="line">
            <a:avLst/>
          </a:prstGeom>
          <a:noFill/>
          <a:ln w="19050">
            <a:solidFill>
              <a:srgbClr val="6B7280"/>
            </a:solidFill>
            <a:prstDash val="solid"/>
            <a:tailEnd type="triangle"/>
          </a:ln>
        </p:spPr>
      </p:sp>
      <p:sp>
        <p:nvSpPr>
          <p:cNvPr id="39" name="Shape 37"/>
          <p:cNvSpPr/>
          <p:nvPr/>
        </p:nvSpPr>
        <p:spPr>
          <a:xfrm>
            <a:off x="7086600" y="3739896"/>
            <a:ext cx="365760" cy="-905256"/>
          </a:xfrm>
          <a:prstGeom prst="line">
            <a:avLst/>
          </a:prstGeom>
          <a:noFill/>
          <a:ln w="19050">
            <a:solidFill>
              <a:srgbClr val="6B7280"/>
            </a:solidFill>
            <a:prstDash val="solid"/>
            <a:tailEnd type="triangle"/>
          </a:ln>
        </p:spPr>
      </p:sp>
      <p:sp>
        <p:nvSpPr>
          <p:cNvPr id="40" name="Shape 38"/>
          <p:cNvSpPr/>
          <p:nvPr/>
        </p:nvSpPr>
        <p:spPr>
          <a:xfrm>
            <a:off x="7452360" y="2212848"/>
            <a:ext cx="1417320" cy="786384"/>
          </a:xfrm>
          <a:prstGeom prst="roundRect">
            <a:avLst>
              <a:gd name="adj" fmla="val 6977"/>
            </a:avLst>
          </a:prstGeom>
          <a:solidFill>
            <a:srgbClr val="1B2A4A"/>
          </a:solidFill>
          <a:ln/>
          <a:effectLst>
            <a:outerShdw sx="100000" sy="100000" kx="0" ky="0" algn="bl" rotWithShape="0" blurRad="88900" dist="25400" dir="8100000">
              <a:srgbClr val="000000">
                <a:alpha val="16000"/>
              </a:srgbClr>
            </a:outerShdw>
          </a:effectLst>
        </p:spPr>
      </p:sp>
      <p:sp>
        <p:nvSpPr>
          <p:cNvPr id="41" name="Text 39"/>
          <p:cNvSpPr/>
          <p:nvPr/>
        </p:nvSpPr>
        <p:spPr>
          <a:xfrm>
            <a:off x="7452360" y="2212848"/>
            <a:ext cx="1417320" cy="786384"/>
          </a:xfrm>
          <a:prstGeom prst="rect">
            <a:avLst/>
          </a:prstGeom>
          <a:noFill/>
          <a:ln/>
        </p:spPr>
        <p:txBody>
          <a:bodyPr wrap="square" lIns="0" tIns="0" rIns="0" bIns="0" rtlCol="0" anchor="ctr"/>
          <a:lstStyle/>
          <a:p>
            <a:pPr algn="ctr" indent="0" marL="0">
              <a:lnSpc>
                <a:spcPct val="92000"/>
              </a:lnSpc>
              <a:buNone/>
            </a:pPr>
            <a:r>
              <a:rPr lang="en-US" sz="1300" b="1" dirty="0">
                <a:solidFill>
                  <a:srgbClr val="FFFFFF"/>
                </a:solidFill>
                <a:latin typeface="Calibri" pitchFamily="34" charset="0"/>
                <a:ea typeface="Calibri" pitchFamily="34" charset="-122"/>
                <a:cs typeface="Calibri" pitchFamily="34" charset="-120"/>
              </a:rPr>
              <a:t>Survey</a:t>
            </a:r>
            <a:endParaRPr lang="en-US" sz="1300" dirty="0"/>
          </a:p>
          <a:p>
            <a:pPr algn="ctr" indent="0" marL="0">
              <a:lnSpc>
                <a:spcPct val="92000"/>
              </a:lnSpc>
              <a:buNone/>
            </a:pPr>
            <a:r>
              <a:rPr lang="en-US" sz="1300" b="1" dirty="0">
                <a:solidFill>
                  <a:srgbClr val="FFFFFF"/>
                </a:solidFill>
                <a:latin typeface="Calibri" pitchFamily="34" charset="0"/>
                <a:ea typeface="Calibri" pitchFamily="34" charset="-122"/>
                <a:cs typeface="Calibri" pitchFamily="34" charset="-120"/>
              </a:rPr>
              <a:t>Statistic</a:t>
            </a:r>
            <a:endParaRPr lang="en-US" sz="1300" dirty="0"/>
          </a:p>
        </p:txBody>
      </p:sp>
      <p:sp>
        <p:nvSpPr>
          <p:cNvPr id="42" name="Text 40"/>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THE CORE OF TSE</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Accuracy is the inverse of MSE</a:t>
            </a:r>
            <a:endParaRPr lang="en-US" sz="2700" dirty="0"/>
          </a:p>
        </p:txBody>
      </p:sp>
      <p:sp>
        <p:nvSpPr>
          <p:cNvPr id="4" name="Shape 2"/>
          <p:cNvSpPr/>
          <p:nvPr/>
        </p:nvSpPr>
        <p:spPr>
          <a:xfrm>
            <a:off x="502920" y="1298448"/>
            <a:ext cx="8229600" cy="603504"/>
          </a:xfrm>
          <a:prstGeom prst="rect">
            <a:avLst/>
          </a:prstGeom>
          <a:solidFill>
            <a:srgbClr val="1B2A4A"/>
          </a:solidFill>
          <a:ln/>
        </p:spPr>
      </p:sp>
      <p:sp>
        <p:nvSpPr>
          <p:cNvPr id="5" name="Text 3"/>
          <p:cNvSpPr/>
          <p:nvPr/>
        </p:nvSpPr>
        <p:spPr>
          <a:xfrm>
            <a:off x="502920" y="1298448"/>
            <a:ext cx="8229600"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MSE</a:t>
            </a:r>
            <a:pPr algn="ctr" indent="0" marL="0">
              <a:buNone/>
            </a:pPr>
            <a:r>
              <a:rPr lang="en-US" sz="2000" dirty="0">
                <a:solidFill>
                  <a:srgbClr val="FFFFFF"/>
                </a:solidFill>
                <a:latin typeface="Georgia" pitchFamily="34" charset="0"/>
                <a:ea typeface="Georgia" pitchFamily="34" charset="-122"/>
                <a:cs typeface="Georgia" pitchFamily="34" charset="-120"/>
              </a:rPr>
              <a:t>   =   Bias</a:t>
            </a:r>
            <a:pPr algn="ctr" indent="0" marL="0">
              <a:buNone/>
            </a:pPr>
            <a:r>
              <a:rPr lang="en-US" sz="2000" baseline="30000" dirty="0">
                <a:solidFill>
                  <a:srgbClr val="FFFFFF"/>
                </a:solidFill>
                <a:latin typeface="Georgia" pitchFamily="34" charset="0"/>
                <a:ea typeface="Georgia" pitchFamily="34" charset="-122"/>
                <a:cs typeface="Georgia" pitchFamily="34" charset="-120"/>
              </a:rPr>
              <a:t>2</a:t>
            </a:r>
            <a:pPr algn="ctr" indent="0" marL="0">
              <a:buNone/>
            </a:pPr>
            <a:r>
              <a:rPr lang="en-US" sz="2000" dirty="0">
                <a:solidFill>
                  <a:srgbClr val="FFFFFF"/>
                </a:solidFill>
                <a:latin typeface="Georgia" pitchFamily="34" charset="0"/>
                <a:ea typeface="Georgia" pitchFamily="34" charset="-122"/>
                <a:cs typeface="Georgia" pitchFamily="34" charset="-120"/>
              </a:rPr>
              <a:t>   +   Variance</a:t>
            </a:r>
            <a:endParaRPr lang="en-US" sz="2000" dirty="0"/>
          </a:p>
        </p:txBody>
      </p:sp>
      <p:sp>
        <p:nvSpPr>
          <p:cNvPr id="6" name="Text 4"/>
          <p:cNvSpPr/>
          <p:nvPr/>
        </p:nvSpPr>
        <p:spPr>
          <a:xfrm>
            <a:off x="502920" y="2011680"/>
            <a:ext cx="8229600" cy="411480"/>
          </a:xfrm>
          <a:prstGeom prst="rect">
            <a:avLst/>
          </a:prstGeom>
          <a:noFill/>
          <a:ln/>
        </p:spPr>
        <p:txBody>
          <a:bodyPr wrap="square" lIns="0" tIns="0" rIns="0" bIns="0" rtlCol="0" anchor="ctr"/>
          <a:lstStyle/>
          <a:p>
            <a:pPr algn="ctr" indent="0" marL="0">
              <a:lnSpc>
                <a:spcPct val="104000"/>
              </a:lnSpc>
              <a:buNone/>
            </a:pPr>
            <a:r>
              <a:rPr lang="en-US" sz="1350" dirty="0">
                <a:solidFill>
                  <a:srgbClr val="262B33"/>
                </a:solidFill>
                <a:latin typeface="Calibri" pitchFamily="34" charset="0"/>
                <a:ea typeface="Calibri" pitchFamily="34" charset="-122"/>
                <a:cs typeface="Calibri" pitchFamily="34" charset="-120"/>
              </a:rPr>
              <a:t>Accuracy is the inverse: the smaller the MSE, the more accurate the estimate. MSE is never zero — even a census carries measurement and processing error.</a:t>
            </a:r>
            <a:endParaRPr lang="en-US" sz="1350" dirty="0"/>
          </a:p>
        </p:txBody>
      </p:sp>
      <p:sp>
        <p:nvSpPr>
          <p:cNvPr id="7" name="Text 5"/>
          <p:cNvSpPr/>
          <p:nvPr/>
        </p:nvSpPr>
        <p:spPr>
          <a:xfrm>
            <a:off x="502920" y="2542032"/>
            <a:ext cx="822960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Expanded decomposition (Biemer &amp; Lyberg) — each component colored by its arm:</a:t>
            </a:r>
            <a:endParaRPr lang="en-US" sz="1250" dirty="0"/>
          </a:p>
        </p:txBody>
      </p:sp>
      <p:sp>
        <p:nvSpPr>
          <p:cNvPr id="8" name="Text 6"/>
          <p:cNvSpPr/>
          <p:nvPr/>
        </p:nvSpPr>
        <p:spPr>
          <a:xfrm>
            <a:off x="502920" y="2871216"/>
            <a:ext cx="8229600" cy="329184"/>
          </a:xfrm>
          <a:prstGeom prst="rect">
            <a:avLst/>
          </a:prstGeom>
          <a:noFill/>
          <a:ln/>
        </p:spPr>
        <p:txBody>
          <a:bodyPr wrap="square" lIns="0" tIns="0" rIns="0" bIns="0" rtlCol="0" anchor="ctr"/>
          <a:lstStyle/>
          <a:p>
            <a:pPr indent="0" marL="0">
              <a:buNone/>
            </a:pPr>
            <a:r>
              <a:rPr lang="en-US" sz="1450" b="1" dirty="0">
                <a:solidFill>
                  <a:srgbClr val="262B33"/>
                </a:solidFill>
                <a:latin typeface="Calibri" pitchFamily="34" charset="0"/>
                <a:ea typeface="Calibri" pitchFamily="34" charset="-122"/>
                <a:cs typeface="Calibri" pitchFamily="34" charset="-120"/>
              </a:rPr>
              <a:t>Bias² = ( </a:t>
            </a:r>
            <a:pPr indent="0" marL="0">
              <a:buNone/>
            </a:pPr>
            <a:r>
              <a:rPr lang="en-US" sz="1450" b="1" dirty="0">
                <a:solidFill>
                  <a:srgbClr val="7A4A12"/>
                </a:solidFill>
                <a:latin typeface="Calibri" pitchFamily="34" charset="0"/>
                <a:ea typeface="Calibri" pitchFamily="34" charset="-122"/>
                <a:cs typeface="Calibri" pitchFamily="34" charset="-120"/>
              </a:rPr>
              <a:t>specification</a:t>
            </a:r>
            <a:pPr indent="0" marL="0">
              <a:buNone/>
            </a:pPr>
            <a:r>
              <a:rPr lang="en-US" sz="1450" dirty="0">
                <a:solidFill>
                  <a:srgbClr val="6B7280"/>
                </a:solidFill>
                <a:latin typeface="Calibri" pitchFamily="34" charset="0"/>
                <a:ea typeface="Calibri" pitchFamily="34" charset="-122"/>
                <a:cs typeface="Calibri" pitchFamily="34" charset="-120"/>
              </a:rPr>
              <a:t>  +  </a:t>
            </a:r>
            <a:pPr indent="0" marL="0">
              <a:buNone/>
            </a:pPr>
            <a:r>
              <a:rPr lang="en-US" sz="1450" b="1" dirty="0">
                <a:solidFill>
                  <a:srgbClr val="1F4E6B"/>
                </a:solidFill>
                <a:latin typeface="Calibri" pitchFamily="34" charset="0"/>
                <a:ea typeface="Calibri" pitchFamily="34" charset="-122"/>
                <a:cs typeface="Calibri" pitchFamily="34" charset="-120"/>
              </a:rPr>
              <a:t>frame / coverage</a:t>
            </a:r>
            <a:pPr indent="0" marL="0">
              <a:buNone/>
            </a:pPr>
            <a:r>
              <a:rPr lang="en-US" sz="1450" dirty="0">
                <a:solidFill>
                  <a:srgbClr val="6B7280"/>
                </a:solidFill>
                <a:latin typeface="Calibri" pitchFamily="34" charset="0"/>
                <a:ea typeface="Calibri" pitchFamily="34" charset="-122"/>
                <a:cs typeface="Calibri" pitchFamily="34" charset="-120"/>
              </a:rPr>
              <a:t>  +  </a:t>
            </a:r>
            <a:pPr indent="0" marL="0">
              <a:buNone/>
            </a:pPr>
            <a:r>
              <a:rPr lang="en-US" sz="1450" b="1" dirty="0">
                <a:solidFill>
                  <a:srgbClr val="1F4E6B"/>
                </a:solidFill>
                <a:latin typeface="Calibri" pitchFamily="34" charset="0"/>
                <a:ea typeface="Calibri" pitchFamily="34" charset="-122"/>
                <a:cs typeface="Calibri" pitchFamily="34" charset="-120"/>
              </a:rPr>
              <a:t>nonresponse</a:t>
            </a:r>
            <a:pPr indent="0" marL="0">
              <a:buNone/>
            </a:pPr>
            <a:r>
              <a:rPr lang="en-US" sz="1450" dirty="0">
                <a:solidFill>
                  <a:srgbClr val="6B7280"/>
                </a:solidFill>
                <a:latin typeface="Calibri" pitchFamily="34" charset="0"/>
                <a:ea typeface="Calibri" pitchFamily="34" charset="-122"/>
                <a:cs typeface="Calibri" pitchFamily="34" charset="-120"/>
              </a:rPr>
              <a:t>  +  </a:t>
            </a:r>
            <a:pPr indent="0" marL="0">
              <a:buNone/>
            </a:pPr>
            <a:r>
              <a:rPr lang="en-US" sz="1450" b="1" dirty="0">
                <a:solidFill>
                  <a:srgbClr val="7A4A12"/>
                </a:solidFill>
                <a:latin typeface="Calibri" pitchFamily="34" charset="0"/>
                <a:ea typeface="Calibri" pitchFamily="34" charset="-122"/>
                <a:cs typeface="Calibri" pitchFamily="34" charset="-120"/>
              </a:rPr>
              <a:t>measurement</a:t>
            </a:r>
            <a:pPr indent="0" marL="0">
              <a:buNone/>
            </a:pPr>
            <a:r>
              <a:rPr lang="en-US" sz="1450" dirty="0">
                <a:solidFill>
                  <a:srgbClr val="6B7280"/>
                </a:solidFill>
                <a:latin typeface="Calibri" pitchFamily="34" charset="0"/>
                <a:ea typeface="Calibri" pitchFamily="34" charset="-122"/>
                <a:cs typeface="Calibri" pitchFamily="34" charset="-120"/>
              </a:rPr>
              <a:t>  +  </a:t>
            </a:r>
            <a:pPr indent="0" marL="0">
              <a:buNone/>
            </a:pPr>
            <a:r>
              <a:rPr lang="en-US" sz="1450" b="1" dirty="0">
                <a:solidFill>
                  <a:srgbClr val="4B5563"/>
                </a:solidFill>
                <a:latin typeface="Calibri" pitchFamily="34" charset="0"/>
                <a:ea typeface="Calibri" pitchFamily="34" charset="-122"/>
                <a:cs typeface="Calibri" pitchFamily="34" charset="-120"/>
              </a:rPr>
              <a:t>processing</a:t>
            </a:r>
            <a:pPr indent="0" marL="0">
              <a:buNone/>
            </a:pPr>
            <a:r>
              <a:rPr lang="en-US" sz="1450" b="1" dirty="0">
                <a:solidFill>
                  <a:srgbClr val="262B33"/>
                </a:solidFill>
                <a:latin typeface="Calibri" pitchFamily="34" charset="0"/>
                <a:ea typeface="Calibri" pitchFamily="34" charset="-122"/>
                <a:cs typeface="Calibri" pitchFamily="34" charset="-120"/>
              </a:rPr>
              <a:t> )²</a:t>
            </a:r>
            <a:endParaRPr lang="en-US" sz="1450" dirty="0"/>
          </a:p>
        </p:txBody>
      </p:sp>
      <p:sp>
        <p:nvSpPr>
          <p:cNvPr id="9" name="Text 7"/>
          <p:cNvSpPr/>
          <p:nvPr/>
        </p:nvSpPr>
        <p:spPr>
          <a:xfrm>
            <a:off x="502920" y="3273552"/>
            <a:ext cx="8229600" cy="329184"/>
          </a:xfrm>
          <a:prstGeom prst="rect">
            <a:avLst/>
          </a:prstGeom>
          <a:noFill/>
          <a:ln/>
        </p:spPr>
        <p:txBody>
          <a:bodyPr wrap="square" lIns="0" tIns="0" rIns="0" bIns="0" rtlCol="0" anchor="ctr"/>
          <a:lstStyle/>
          <a:p>
            <a:pPr indent="0" marL="0">
              <a:buNone/>
            </a:pPr>
            <a:r>
              <a:rPr lang="en-US" sz="1450" b="1" dirty="0">
                <a:solidFill>
                  <a:srgbClr val="262B33"/>
                </a:solidFill>
                <a:latin typeface="Calibri" pitchFamily="34" charset="0"/>
                <a:ea typeface="Calibri" pitchFamily="34" charset="-122"/>
                <a:cs typeface="Calibri" pitchFamily="34" charset="-120"/>
              </a:rPr>
              <a:t>Variance = </a:t>
            </a:r>
            <a:pPr indent="0" marL="0">
              <a:buNone/>
            </a:pPr>
            <a:r>
              <a:rPr lang="en-US" sz="1450" b="1" dirty="0">
                <a:solidFill>
                  <a:srgbClr val="1F4E6B"/>
                </a:solidFill>
                <a:latin typeface="Calibri" pitchFamily="34" charset="0"/>
                <a:ea typeface="Calibri" pitchFamily="34" charset="-122"/>
                <a:cs typeface="Calibri" pitchFamily="34" charset="-120"/>
              </a:rPr>
              <a:t>sampling</a:t>
            </a:r>
            <a:pPr indent="0" marL="0">
              <a:buNone/>
            </a:pPr>
            <a:r>
              <a:rPr lang="en-US" sz="1450" dirty="0">
                <a:solidFill>
                  <a:srgbClr val="6B7280"/>
                </a:solidFill>
                <a:latin typeface="Calibri" pitchFamily="34" charset="0"/>
                <a:ea typeface="Calibri" pitchFamily="34" charset="-122"/>
                <a:cs typeface="Calibri" pitchFamily="34" charset="-120"/>
              </a:rPr>
              <a:t>  +  </a:t>
            </a:r>
            <a:pPr indent="0" marL="0">
              <a:buNone/>
            </a:pPr>
            <a:r>
              <a:rPr lang="en-US" sz="1450" b="1" dirty="0">
                <a:solidFill>
                  <a:srgbClr val="7A4A12"/>
                </a:solidFill>
                <a:latin typeface="Calibri" pitchFamily="34" charset="0"/>
                <a:ea typeface="Calibri" pitchFamily="34" charset="-122"/>
                <a:cs typeface="Calibri" pitchFamily="34" charset="-120"/>
              </a:rPr>
              <a:t>measurement</a:t>
            </a:r>
            <a:pPr indent="0" marL="0">
              <a:buNone/>
            </a:pPr>
            <a:r>
              <a:rPr lang="en-US" sz="1450" dirty="0">
                <a:solidFill>
                  <a:srgbClr val="6B7280"/>
                </a:solidFill>
                <a:latin typeface="Calibri" pitchFamily="34" charset="0"/>
                <a:ea typeface="Calibri" pitchFamily="34" charset="-122"/>
                <a:cs typeface="Calibri" pitchFamily="34" charset="-120"/>
              </a:rPr>
              <a:t>  +  </a:t>
            </a:r>
            <a:pPr indent="0" marL="0">
              <a:buNone/>
            </a:pPr>
            <a:r>
              <a:rPr lang="en-US" sz="1450" b="1" dirty="0">
                <a:solidFill>
                  <a:srgbClr val="4B5563"/>
                </a:solidFill>
                <a:latin typeface="Calibri" pitchFamily="34" charset="0"/>
                <a:ea typeface="Calibri" pitchFamily="34" charset="-122"/>
                <a:cs typeface="Calibri" pitchFamily="34" charset="-120"/>
              </a:rPr>
              <a:t>processing</a:t>
            </a:r>
            <a:endParaRPr lang="en-US" sz="1450" dirty="0"/>
          </a:p>
        </p:txBody>
      </p:sp>
      <p:sp>
        <p:nvSpPr>
          <p:cNvPr id="10" name="Text 8"/>
          <p:cNvSpPr/>
          <p:nvPr/>
        </p:nvSpPr>
        <p:spPr>
          <a:xfrm>
            <a:off x="502920" y="3712464"/>
            <a:ext cx="8229600" cy="274320"/>
          </a:xfrm>
          <a:prstGeom prst="rect">
            <a:avLst/>
          </a:prstGeom>
          <a:noFill/>
          <a:ln/>
        </p:spPr>
        <p:txBody>
          <a:bodyPr wrap="square" lIns="0" tIns="0" rIns="0" bIns="0" rtlCol="0" anchor="ctr"/>
          <a:lstStyle/>
          <a:p>
            <a:pPr indent="0" marL="0">
              <a:buNone/>
            </a:pPr>
            <a:r>
              <a:rPr lang="en-US" sz="1250" b="1" dirty="0">
                <a:solidFill>
                  <a:srgbClr val="2C6E9C"/>
                </a:solidFill>
                <a:latin typeface="Calibri" pitchFamily="34" charset="0"/>
                <a:ea typeface="Calibri" pitchFamily="34" charset="-122"/>
                <a:cs typeface="Calibri" pitchFamily="34" charset="-120"/>
              </a:rPr>
              <a:t>● </a:t>
            </a:r>
            <a:pPr indent="0" marL="0">
              <a:buNone/>
            </a:pPr>
            <a:r>
              <a:rPr lang="en-US" sz="1250" dirty="0">
                <a:solidFill>
                  <a:srgbClr val="262B33"/>
                </a:solidFill>
                <a:latin typeface="Calibri" pitchFamily="34" charset="0"/>
                <a:ea typeface="Calibri" pitchFamily="34" charset="-122"/>
                <a:cs typeface="Calibri" pitchFamily="34" charset="-120"/>
              </a:rPr>
              <a:t>representation arm     </a:t>
            </a:r>
            <a:pPr indent="0" marL="0">
              <a:buNone/>
            </a:pPr>
            <a:r>
              <a:rPr lang="en-US" sz="1250" b="1" dirty="0">
                <a:solidFill>
                  <a:srgbClr val="B5651D"/>
                </a:solidFill>
                <a:latin typeface="Calibri" pitchFamily="34" charset="0"/>
                <a:ea typeface="Calibri" pitchFamily="34" charset="-122"/>
                <a:cs typeface="Calibri" pitchFamily="34" charset="-120"/>
              </a:rPr>
              <a:t>● </a:t>
            </a:r>
            <a:pPr indent="0" marL="0">
              <a:buNone/>
            </a:pPr>
            <a:r>
              <a:rPr lang="en-US" sz="1250" dirty="0">
                <a:solidFill>
                  <a:srgbClr val="262B33"/>
                </a:solidFill>
                <a:latin typeface="Calibri" pitchFamily="34" charset="0"/>
                <a:ea typeface="Calibri" pitchFamily="34" charset="-122"/>
                <a:cs typeface="Calibri" pitchFamily="34" charset="-120"/>
              </a:rPr>
              <a:t>measurement arm     </a:t>
            </a:r>
            <a:pPr indent="0" marL="0">
              <a:buNone/>
            </a:pPr>
            <a:r>
              <a:rPr lang="en-US" sz="1250" b="1" dirty="0">
                <a:solidFill>
                  <a:srgbClr val="4B5563"/>
                </a:solidFill>
                <a:latin typeface="Calibri" pitchFamily="34" charset="0"/>
                <a:ea typeface="Calibri" pitchFamily="34" charset="-122"/>
                <a:cs typeface="Calibri" pitchFamily="34" charset="-120"/>
              </a:rPr>
              <a:t>● </a:t>
            </a:r>
            <a:pPr indent="0" marL="0">
              <a:buNone/>
            </a:pPr>
            <a:r>
              <a:rPr lang="en-US" sz="1250" dirty="0">
                <a:solidFill>
                  <a:srgbClr val="262B33"/>
                </a:solidFill>
                <a:latin typeface="Calibri" pitchFamily="34" charset="0"/>
                <a:ea typeface="Calibri" pitchFamily="34" charset="-122"/>
                <a:cs typeface="Calibri" pitchFamily="34" charset="-120"/>
              </a:rPr>
              <a:t>processing</a:t>
            </a:r>
            <a:endParaRPr lang="en-US" sz="1250" dirty="0"/>
          </a:p>
        </p:txBody>
      </p:sp>
      <p:sp>
        <p:nvSpPr>
          <p:cNvPr id="11" name="Shape 9"/>
          <p:cNvSpPr/>
          <p:nvPr/>
        </p:nvSpPr>
        <p:spPr>
          <a:xfrm>
            <a:off x="502920" y="4114800"/>
            <a:ext cx="8092440" cy="713232"/>
          </a:xfrm>
          <a:prstGeom prst="rect">
            <a:avLst/>
          </a:prstGeom>
          <a:solidFill>
            <a:srgbClr val="1B2A4A"/>
          </a:solidFill>
          <a:ln/>
        </p:spPr>
      </p:sp>
      <p:sp>
        <p:nvSpPr>
          <p:cNvPr id="12" name="Text 10"/>
          <p:cNvSpPr/>
          <p:nvPr/>
        </p:nvSpPr>
        <p:spPr>
          <a:xfrm>
            <a:off x="713232" y="4114800"/>
            <a:ext cx="7680960" cy="713232"/>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latin typeface="Calibri" pitchFamily="34" charset="0"/>
                <a:ea typeface="Calibri" pitchFamily="34" charset="-122"/>
                <a:cs typeface="Calibri" pitchFamily="34" charset="-120"/>
              </a:rPr>
              <a:t>Both bias and variance draw from both arms. </a:t>
            </a:r>
            <a:pPr indent="0" marL="0">
              <a:lnSpc>
                <a:spcPct val="104000"/>
              </a:lnSpc>
              <a:buNone/>
            </a:pPr>
            <a:r>
              <a:rPr lang="en-US" sz="1250" dirty="0">
                <a:solidFill>
                  <a:srgbClr val="D7DEEA"/>
                </a:solidFill>
                <a:latin typeface="Calibri" pitchFamily="34" charset="0"/>
                <a:ea typeface="Calibri" pitchFamily="34" charset="-122"/>
                <a:cs typeface="Calibri" pitchFamily="34" charset="-120"/>
              </a:rPr>
              <a:t>Sampling is representation-side variance; interviewer effects are measurement-side variance; coverage and nonresponse are representation-side biases.</a:t>
            </a:r>
            <a:endParaRPr lang="en-US" sz="1250" dirty="0"/>
          </a:p>
        </p:txBody>
      </p:sp>
      <p:sp>
        <p:nvSpPr>
          <p:cNvPr id="13" name="Text 11"/>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AMAYA, BIEMER &amp; KINYON (2020)</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The Total Error Framework (TEF)</a:t>
            </a:r>
            <a:endParaRPr lang="en-US" sz="2700" dirty="0"/>
          </a:p>
        </p:txBody>
      </p:sp>
      <p:sp>
        <p:nvSpPr>
          <p:cNvPr id="4" name="Text 2"/>
          <p:cNvSpPr/>
          <p:nvPr/>
        </p:nvSpPr>
        <p:spPr>
          <a:xfrm>
            <a:off x="502920" y="1243584"/>
            <a:ext cx="8412480" cy="310896"/>
          </a:xfrm>
          <a:prstGeom prst="rect">
            <a:avLst/>
          </a:prstGeom>
          <a:noFill/>
          <a:ln/>
        </p:spPr>
        <p:txBody>
          <a:bodyPr wrap="square" lIns="0" tIns="0" rIns="0" bIns="0" rtlCol="0" anchor="ctr"/>
          <a:lstStyle/>
          <a:p>
            <a:pPr indent="0" marL="0">
              <a:buNone/>
            </a:pPr>
            <a:r>
              <a:rPr lang="en-US" sz="1250" i="1" dirty="0">
                <a:solidFill>
                  <a:srgbClr val="262B33"/>
                </a:solidFill>
                <a:latin typeface="Calibri" pitchFamily="34" charset="0"/>
                <a:ea typeface="Calibri" pitchFamily="34" charset="-122"/>
                <a:cs typeface="Calibri" pitchFamily="34" charset="-120"/>
              </a:rPr>
              <a:t>An eight-component adaptation of TSE: the survey process and the big-data process run in parallel to a shared model-and-inference stage.</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591056"/>
          <a:ext cx="8412480" cy="914400"/>
        </p:xfrm>
        <a:graphic>
          <a:graphicData uri="http://schemas.openxmlformats.org/drawingml/2006/table">
            <a:tbl>
              <a:tblPr/>
              <a:tblGrid>
                <a:gridCol w="3017520"/>
                <a:gridCol w="2697480"/>
                <a:gridCol w="2697480"/>
              </a:tblGrid>
              <a:tr h="2743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Error component</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Survey process</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Big-data process</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r>
              <a:tr h="292608">
                <a:tc gridSpan="3">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Define target / inferential population</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c hMerge="1">
                  <a:tcPr/>
                </a:tc>
                <a:tc hMerge="1">
                  <a:tcPr/>
                </a:tc>
              </a:tr>
              <a:tr h="365760">
                <a:tc>
                  <a:txBody>
                    <a:bodyPr/>
                    <a:lstStyle/>
                    <a:p>
                      <a:pPr algn="l" indent="0" marL="0">
                        <a:buNone/>
                      </a:pPr>
                      <a:r>
                        <a:rPr lang="en-US" sz="1050" b="1" dirty="0">
                          <a:solidFill>
                            <a:srgbClr val="1F4E6B"/>
                          </a:solidFill>
                          <a:latin typeface="Calibri" pitchFamily="34" charset="0"/>
                          <a:ea typeface="Calibri" pitchFamily="34" charset="-122"/>
                          <a:cs typeface="Calibri" pitchFamily="34" charset="-120"/>
                        </a:rPr>
                        <a:t>Coverage / domain error</a:t>
                      </a:r>
                      <a:endParaRPr lang="en-US" sz="1050" dirty="0">
                        <a:latin typeface="Calibri" charset="0"/>
                        <a:ea typeface="Calibri" charset="0"/>
                        <a:cs typeface="Calibri" charset="0"/>
                      </a:endParaRPr>
                    </a:p>
                  </a:txBody>
                  <a:tcPr marL="635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6F2"/>
                    </a:solidFill>
                  </a:tcPr>
                </a:tc>
                <a:tc>
                  <a:txBody>
                    <a:bodyPr/>
                    <a:lstStyle/>
                    <a:p>
                      <a:pPr algn="ctr" indent="0" marL="0">
                        <a:buNone/>
                      </a:pPr>
                      <a:r>
                        <a:rPr lang="en-US" sz="1050" dirty="0">
                          <a:solidFill>
                            <a:srgbClr val="262B33"/>
                          </a:solidFill>
                          <a:latin typeface="Calibri" pitchFamily="34" charset="0"/>
                          <a:ea typeface="Calibri" pitchFamily="34" charset="-122"/>
                          <a:cs typeface="Calibri" pitchFamily="34" charset="-120"/>
                        </a:rPr>
                        <a:t>Construct frame</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3"/>
                          </a:solidFill>
                          <a:latin typeface="Calibri" pitchFamily="34" charset="0"/>
                          <a:ea typeface="Calibri" pitchFamily="34" charset="-122"/>
                          <a:cs typeface="Calibri" pitchFamily="34" charset="-120"/>
                        </a:rPr>
                        <a:t>Generate &amp; identify data sources</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F4E6B"/>
                          </a:solidFill>
                          <a:latin typeface="Calibri" pitchFamily="34" charset="0"/>
                          <a:ea typeface="Calibri" pitchFamily="34" charset="-122"/>
                          <a:cs typeface="Calibri" pitchFamily="34" charset="-120"/>
                        </a:rPr>
                        <a:t>Sampling error</a:t>
                      </a:r>
                      <a:endParaRPr lang="en-US" sz="1050" dirty="0">
                        <a:latin typeface="Calibri" charset="0"/>
                        <a:ea typeface="Calibri" charset="0"/>
                        <a:cs typeface="Calibri" charset="0"/>
                      </a:endParaRPr>
                    </a:p>
                  </a:txBody>
                  <a:tcPr marL="635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6F2"/>
                    </a:solidFill>
                  </a:tcPr>
                </a:tc>
                <a:tc>
                  <a:txBody>
                    <a:bodyPr/>
                    <a:lstStyle/>
                    <a:p>
                      <a:pPr algn="ctr" indent="0" marL="0">
                        <a:buNone/>
                      </a:pPr>
                      <a:r>
                        <a:rPr lang="en-US" sz="1050" dirty="0">
                          <a:solidFill>
                            <a:srgbClr val="262B33"/>
                          </a:solidFill>
                          <a:latin typeface="Calibri" pitchFamily="34" charset="0"/>
                          <a:ea typeface="Calibri" pitchFamily="34" charset="-122"/>
                          <a:cs typeface="Calibri" pitchFamily="34" charset="-120"/>
                        </a:rPr>
                        <a:t>Draw sample</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rowSpan="4">
                  <a:txBody>
                    <a:bodyPr/>
                    <a:lstStyle/>
                    <a:p>
                      <a:pPr algn="ctr" indent="0" marL="0">
                        <a:buNone/>
                      </a:pPr>
                      <a:r>
                        <a:rPr lang="en-US" sz="1050" b="1" dirty="0">
                          <a:solidFill>
                            <a:srgbClr val="1B2A4A"/>
                          </a:solidFill>
                          <a:latin typeface="Calibri" pitchFamily="34" charset="0"/>
                          <a:ea typeface="Calibri" pitchFamily="34" charset="-122"/>
                          <a:cs typeface="Calibri" pitchFamily="34" charset="-120"/>
                        </a:rPr>
                        <a:t>ETL</a:t>
                      </a:r>
                      <a:endParaRPr lang="en-US" sz="1050" dirty="0">
                        <a:latin typeface="Calibri" charset="0"/>
                        <a:ea typeface="Calibri" charset="0"/>
                        <a:cs typeface="Calibri" charset="0"/>
                      </a:endParaRPr>
                    </a:p>
                    <a:p>
                      <a:pPr algn="ctr" indent="0" marL="0">
                        <a:buNone/>
                      </a:pPr>
                      <a:r>
                        <a:rPr lang="en-US" sz="1050" b="1" dirty="0">
                          <a:solidFill>
                            <a:srgbClr val="1B2A4A"/>
                          </a:solidFill>
                          <a:latin typeface="Calibri" pitchFamily="34" charset="0"/>
                          <a:ea typeface="Calibri" pitchFamily="34" charset="-122"/>
                          <a:cs typeface="Calibri" pitchFamily="34" charset="-120"/>
                        </a:rPr>
                        <a:t>Extract  ·  Transform  ·  Load</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6"/>
                    </a:solidFill>
                  </a:tcPr>
                </a:tc>
              </a:tr>
              <a:tr h="365760">
                <a:tc>
                  <a:txBody>
                    <a:bodyPr/>
                    <a:lstStyle/>
                    <a:p>
                      <a:pPr algn="l" indent="0" marL="0">
                        <a:buNone/>
                      </a:pPr>
                      <a:r>
                        <a:rPr lang="en-US" sz="1050" b="1" dirty="0">
                          <a:solidFill>
                            <a:srgbClr val="7A4A12"/>
                          </a:solidFill>
                          <a:latin typeface="Calibri" pitchFamily="34" charset="0"/>
                          <a:ea typeface="Calibri" pitchFamily="34" charset="-122"/>
                          <a:cs typeface="Calibri" pitchFamily="34" charset="-120"/>
                        </a:rPr>
                        <a:t>Specification error</a:t>
                      </a:r>
                      <a:endParaRPr lang="en-US" sz="1050" dirty="0">
                        <a:latin typeface="Calibri" charset="0"/>
                        <a:ea typeface="Calibri" charset="0"/>
                        <a:cs typeface="Calibri" charset="0"/>
                      </a:endParaRPr>
                    </a:p>
                  </a:txBody>
                  <a:tcPr marL="635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CF"/>
                    </a:solidFill>
                  </a:tcPr>
                </a:tc>
                <a:tc>
                  <a:txBody>
                    <a:bodyPr/>
                    <a:lstStyle/>
                    <a:p>
                      <a:pPr algn="ctr" indent="0" marL="0">
                        <a:buNone/>
                      </a:pPr>
                      <a:r>
                        <a:rPr lang="en-US" sz="1050" dirty="0">
                          <a:solidFill>
                            <a:srgbClr val="262B33"/>
                          </a:solidFill>
                          <a:latin typeface="Calibri" pitchFamily="34" charset="0"/>
                          <a:ea typeface="Calibri" pitchFamily="34" charset="-122"/>
                          <a:cs typeface="Calibri" pitchFamily="34" charset="-120"/>
                        </a:rPr>
                        <a:t>Design questionnaire</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vMerge="1">
                  <a:tcPr/>
                </a:tc>
              </a:tr>
              <a:tr h="457200">
                <a:tc>
                  <a:txBody>
                    <a:bodyPr/>
                    <a:lstStyle/>
                    <a:p>
                      <a:pPr algn="l" indent="0" marL="0">
                        <a:buNone/>
                      </a:pPr>
                      <a:r>
                        <a:rPr lang="en-US" sz="1050" b="1" dirty="0">
                          <a:solidFill>
                            <a:srgbClr val="1B2A4A"/>
                          </a:solidFill>
                          <a:latin typeface="Calibri" pitchFamily="34" charset="0"/>
                          <a:ea typeface="Calibri" pitchFamily="34" charset="-122"/>
                          <a:cs typeface="Calibri" pitchFamily="34" charset="-120"/>
                        </a:rPr>
                        <a:t>Nonresponse / missing data</a:t>
                      </a:r>
                      <a:endParaRPr lang="en-US" sz="1050" dirty="0">
                        <a:latin typeface="Calibri" charset="0"/>
                        <a:ea typeface="Calibri" charset="0"/>
                        <a:cs typeface="Calibri" charset="0"/>
                      </a:endParaRPr>
                    </a:p>
                    <a:p>
                      <a:pPr algn="l" indent="0" marL="0">
                        <a:buNone/>
                      </a:pPr>
                      <a:r>
                        <a:rPr lang="en-US" sz="1050" b="1" dirty="0">
                          <a:solidFill>
                            <a:srgbClr val="1B2A4A"/>
                          </a:solidFill>
                          <a:latin typeface="Calibri" pitchFamily="34" charset="0"/>
                          <a:ea typeface="Calibri" pitchFamily="34" charset="-122"/>
                          <a:cs typeface="Calibri" pitchFamily="34" charset="-120"/>
                        </a:rPr>
                        <a:t>Measurement / content error</a:t>
                      </a:r>
                      <a:endParaRPr lang="en-US" sz="1050" dirty="0">
                        <a:latin typeface="Calibri" charset="0"/>
                        <a:ea typeface="Calibri" charset="0"/>
                        <a:cs typeface="Calibri" charset="0"/>
                      </a:endParaRPr>
                    </a:p>
                  </a:txBody>
                  <a:tcPr marL="635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6"/>
                    </a:solidFill>
                  </a:tcPr>
                </a:tc>
                <a:tc>
                  <a:txBody>
                    <a:bodyPr/>
                    <a:lstStyle/>
                    <a:p>
                      <a:pPr algn="ctr" indent="0" marL="0">
                        <a:buNone/>
                      </a:pPr>
                      <a:r>
                        <a:rPr lang="en-US" sz="1050" dirty="0">
                          <a:solidFill>
                            <a:srgbClr val="262B33"/>
                          </a:solidFill>
                          <a:latin typeface="Calibri" pitchFamily="34" charset="0"/>
                          <a:ea typeface="Calibri" pitchFamily="34" charset="-122"/>
                          <a:cs typeface="Calibri" pitchFamily="34" charset="-120"/>
                        </a:rPr>
                        <a:t>Conduct survey</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vMerge="1">
                  <a:tcPr/>
                </a:tc>
              </a:tr>
              <a:tr h="365760">
                <a:tc>
                  <a:txBody>
                    <a:bodyPr/>
                    <a:lstStyle/>
                    <a:p>
                      <a:pPr algn="l" indent="0" marL="0">
                        <a:buNone/>
                      </a:pPr>
                      <a:r>
                        <a:rPr lang="en-US" sz="1050" b="1" dirty="0">
                          <a:solidFill>
                            <a:srgbClr val="4B5563"/>
                          </a:solidFill>
                          <a:latin typeface="Calibri" pitchFamily="34" charset="0"/>
                          <a:ea typeface="Calibri" pitchFamily="34" charset="-122"/>
                          <a:cs typeface="Calibri" pitchFamily="34" charset="-120"/>
                        </a:rPr>
                        <a:t>Processing error</a:t>
                      </a:r>
                      <a:endParaRPr lang="en-US" sz="1050" dirty="0">
                        <a:latin typeface="Calibri" charset="0"/>
                        <a:ea typeface="Calibri" charset="0"/>
                        <a:cs typeface="Calibri" charset="0"/>
                      </a:endParaRPr>
                    </a:p>
                  </a:txBody>
                  <a:tcPr marL="635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CEF"/>
                    </a:solidFill>
                  </a:tcPr>
                </a:tc>
                <a:tc>
                  <a:txBody>
                    <a:bodyPr/>
                    <a:lstStyle/>
                    <a:p>
                      <a:pPr algn="ctr" indent="0" marL="0">
                        <a:buNone/>
                      </a:pPr>
                      <a:r>
                        <a:rPr lang="en-US" sz="1050" dirty="0">
                          <a:solidFill>
                            <a:srgbClr val="262B33"/>
                          </a:solidFill>
                          <a:latin typeface="Calibri" pitchFamily="34" charset="0"/>
                          <a:ea typeface="Calibri" pitchFamily="34" charset="-122"/>
                          <a:cs typeface="Calibri" pitchFamily="34" charset="-120"/>
                        </a:rPr>
                        <a:t>Process data</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vMerge="1">
                  <a:tcPr/>
                </a:tc>
              </a:tr>
              <a:tr h="365760">
                <a:tc>
                  <a:txBody>
                    <a:bodyPr/>
                    <a:lstStyle/>
                    <a:p>
                      <a:pPr algn="l" indent="0" marL="0">
                        <a:buNone/>
                      </a:pPr>
                      <a:r>
                        <a:rPr lang="en-US" sz="1050" b="1" dirty="0">
                          <a:solidFill>
                            <a:srgbClr val="2C5F34"/>
                          </a:solidFill>
                          <a:latin typeface="Calibri" pitchFamily="34" charset="0"/>
                          <a:ea typeface="Calibri" pitchFamily="34" charset="-122"/>
                          <a:cs typeface="Calibri" pitchFamily="34" charset="-120"/>
                        </a:rPr>
                        <a:t>Modeling / estimation error</a:t>
                      </a:r>
                      <a:endParaRPr lang="en-US" sz="1050" dirty="0">
                        <a:latin typeface="Calibri" charset="0"/>
                        <a:ea typeface="Calibri" charset="0"/>
                        <a:cs typeface="Calibri" charset="0"/>
                      </a:endParaRPr>
                    </a:p>
                  </a:txBody>
                  <a:tcPr marL="635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ADD"/>
                    </a:solidFill>
                  </a:tcPr>
                </a:tc>
                <a:tc gridSpan="2">
                  <a:txBody>
                    <a:bodyPr/>
                    <a:lstStyle/>
                    <a:p>
                      <a:pPr algn="ctr" indent="0" marL="0">
                        <a:buNone/>
                      </a:pPr>
                      <a:r>
                        <a:rPr lang="en-US" sz="1050" b="1" dirty="0">
                          <a:solidFill>
                            <a:srgbClr val="2C5F34"/>
                          </a:solidFill>
                          <a:latin typeface="Calibri" pitchFamily="34" charset="0"/>
                          <a:ea typeface="Calibri" pitchFamily="34" charset="-122"/>
                          <a:cs typeface="Calibri" pitchFamily="34" charset="-120"/>
                        </a:rPr>
                        <a:t>Model   →   Create estimates</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ADD"/>
                    </a:solidFill>
                  </a:tcPr>
                </a:tc>
                <a:tc hMerge="1">
                  <a:tcPr/>
                </a:tc>
              </a:tr>
              <a:tr h="365760">
                <a:tc>
                  <a:txBody>
                    <a:bodyPr/>
                    <a:lstStyle/>
                    <a:p>
                      <a:pPr algn="l" indent="0" marL="0">
                        <a:buNone/>
                      </a:pPr>
                      <a:r>
                        <a:rPr lang="en-US" sz="1050" b="1" dirty="0">
                          <a:solidFill>
                            <a:srgbClr val="2C5F34"/>
                          </a:solidFill>
                          <a:latin typeface="Calibri" pitchFamily="34" charset="0"/>
                          <a:ea typeface="Calibri" pitchFamily="34" charset="-122"/>
                          <a:cs typeface="Calibri" pitchFamily="34" charset="-120"/>
                        </a:rPr>
                        <a:t>Analytic error</a:t>
                      </a:r>
                      <a:endParaRPr lang="en-US" sz="1050" dirty="0">
                        <a:latin typeface="Calibri" charset="0"/>
                        <a:ea typeface="Calibri" charset="0"/>
                        <a:cs typeface="Calibri" charset="0"/>
                      </a:endParaRPr>
                    </a:p>
                  </a:txBody>
                  <a:tcPr marL="635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ADD"/>
                    </a:solidFill>
                  </a:tcPr>
                </a:tc>
                <a:tc gridSpan="2">
                  <a:txBody>
                    <a:bodyPr/>
                    <a:lstStyle/>
                    <a:p>
                      <a:pPr algn="ctr" indent="0" marL="0">
                        <a:buNone/>
                      </a:pPr>
                      <a:r>
                        <a:rPr lang="en-US" sz="1050" b="1" dirty="0">
                          <a:solidFill>
                            <a:srgbClr val="2C5F34"/>
                          </a:solidFill>
                          <a:latin typeface="Calibri" pitchFamily="34" charset="0"/>
                          <a:ea typeface="Calibri" pitchFamily="34" charset="-122"/>
                          <a:cs typeface="Calibri" pitchFamily="34" charset="-120"/>
                        </a:rPr>
                        <a:t>Draw inference</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ADD"/>
                    </a:solidFill>
                  </a:tcPr>
                </a:tc>
                <a:tc hMerge="1">
                  <a:tcPr/>
                </a:tc>
              </a:tr>
            </a:tbl>
          </a:graphicData>
        </a:graphic>
      </p:graphicFrame>
      <p:sp>
        <p:nvSpPr>
          <p:cNvPr id="6" name="Text 3"/>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FOUND DATA FOR PUBLIC OPINION</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Bringing in big data — with caveats</a:t>
            </a:r>
            <a:endParaRPr lang="en-US" sz="2700" dirty="0"/>
          </a:p>
        </p:txBody>
      </p:sp>
      <p:sp>
        <p:nvSpPr>
          <p:cNvPr id="4" name="Text 2"/>
          <p:cNvSpPr/>
          <p:nvPr/>
        </p:nvSpPr>
        <p:spPr>
          <a:xfrm>
            <a:off x="502920" y="1280160"/>
            <a:ext cx="8229600" cy="457200"/>
          </a:xfrm>
          <a:prstGeom prst="rect">
            <a:avLst/>
          </a:prstGeom>
          <a:noFill/>
          <a:ln/>
        </p:spPr>
        <p:txBody>
          <a:bodyPr wrap="square" lIns="0" tIns="0" rIns="0" bIns="0" rtlCol="0" anchor="ctr"/>
          <a:lstStyle/>
          <a:p>
            <a:pPr indent="0" marL="0">
              <a:lnSpc>
                <a:spcPct val="105000"/>
              </a:lnSpc>
              <a:buNone/>
            </a:pPr>
            <a:r>
              <a:rPr lang="en-US" sz="1400" i="1" dirty="0">
                <a:solidFill>
                  <a:srgbClr val="262B33"/>
                </a:solidFill>
                <a:latin typeface="Calibri" pitchFamily="34" charset="0"/>
                <a:ea typeface="Calibri" pitchFamily="34" charset="-122"/>
                <a:cs typeface="Calibri" pitchFamily="34" charset="-120"/>
              </a:rPr>
              <a:t>Social media and other found data can supplement surveys — cheaper, faster, timelier — but they carry their own total error. The TEF is the lens.</a:t>
            </a:r>
            <a:endParaRPr lang="en-US" sz="1400" dirty="0"/>
          </a:p>
        </p:txBody>
      </p:sp>
      <p:sp>
        <p:nvSpPr>
          <p:cNvPr id="5" name="Shape 3"/>
          <p:cNvSpPr/>
          <p:nvPr/>
        </p:nvSpPr>
        <p:spPr>
          <a:xfrm>
            <a:off x="502920" y="1810512"/>
            <a:ext cx="8229600" cy="530352"/>
          </a:xfrm>
          <a:prstGeom prst="rect">
            <a:avLst/>
          </a:prstGeom>
          <a:solidFill>
            <a:srgbClr val="FFFFFF"/>
          </a:solidFill>
          <a:ln w="12700">
            <a:solidFill>
              <a:srgbClr val="EAECEF"/>
            </a:solidFill>
            <a:prstDash val="solid"/>
          </a:ln>
        </p:spPr>
      </p:sp>
      <p:sp>
        <p:nvSpPr>
          <p:cNvPr id="6" name="Shape 4"/>
          <p:cNvSpPr/>
          <p:nvPr/>
        </p:nvSpPr>
        <p:spPr>
          <a:xfrm>
            <a:off x="502920" y="1810512"/>
            <a:ext cx="82296" cy="530352"/>
          </a:xfrm>
          <a:prstGeom prst="rect">
            <a:avLst/>
          </a:prstGeom>
          <a:solidFill>
            <a:srgbClr val="9C2C2C"/>
          </a:solidFill>
          <a:ln/>
        </p:spPr>
      </p:sp>
      <p:sp>
        <p:nvSpPr>
          <p:cNvPr id="7" name="Text 5"/>
          <p:cNvSpPr/>
          <p:nvPr/>
        </p:nvSpPr>
        <p:spPr>
          <a:xfrm>
            <a:off x="694944" y="1810512"/>
            <a:ext cx="2148840" cy="530352"/>
          </a:xfrm>
          <a:prstGeom prst="rect">
            <a:avLst/>
          </a:prstGeom>
          <a:noFill/>
          <a:ln/>
        </p:spPr>
        <p:txBody>
          <a:bodyPr wrap="square" lIns="0" tIns="0" rIns="0" bIns="0" rtlCol="0" anchor="ctr"/>
          <a:lstStyle/>
          <a:p>
            <a:pPr indent="0" marL="0">
              <a:lnSpc>
                <a:spcPct val="95000"/>
              </a:lnSpc>
              <a:buNone/>
            </a:pPr>
            <a:r>
              <a:rPr lang="en-US" sz="1300" b="1" dirty="0">
                <a:solidFill>
                  <a:srgbClr val="1B2A4A"/>
                </a:solidFill>
                <a:latin typeface="Georgia" pitchFamily="34" charset="0"/>
                <a:ea typeface="Georgia" pitchFamily="34" charset="-122"/>
                <a:cs typeface="Georgia" pitchFamily="34" charset="-120"/>
              </a:rPr>
              <a:t>Coverage / domain</a:t>
            </a:r>
            <a:endParaRPr lang="en-US" sz="1300" dirty="0"/>
          </a:p>
        </p:txBody>
      </p:sp>
      <p:sp>
        <p:nvSpPr>
          <p:cNvPr id="8" name="Text 6"/>
          <p:cNvSpPr/>
          <p:nvPr/>
        </p:nvSpPr>
        <p:spPr>
          <a:xfrm>
            <a:off x="2926080" y="1810512"/>
            <a:ext cx="4251960" cy="530352"/>
          </a:xfrm>
          <a:prstGeom prst="rect">
            <a:avLst/>
          </a:prstGeom>
          <a:noFill/>
          <a:ln/>
        </p:spPr>
        <p:txBody>
          <a:bodyPr wrap="square" lIns="0" tIns="0" rIns="0" bIns="0" rtlCol="0" anchor="ctr"/>
          <a:lstStyle/>
          <a:p>
            <a:pPr indent="0" marL="0">
              <a:lnSpc>
                <a:spcPct val="100000"/>
              </a:lnSpc>
              <a:buNone/>
            </a:pPr>
            <a:r>
              <a:rPr lang="en-US" sz="1200" dirty="0">
                <a:solidFill>
                  <a:srgbClr val="262B33"/>
                </a:solidFill>
                <a:latin typeface="Calibri" pitchFamily="34" charset="0"/>
                <a:ea typeface="Calibri" pitchFamily="34" charset="-122"/>
                <a:cs typeface="Calibri" pitchFamily="34" charset="-120"/>
              </a:rPr>
              <a:t>The platform is not the target population — who posts is not who you want to generalize to.</a:t>
            </a:r>
            <a:endParaRPr lang="en-US" sz="1200" dirty="0"/>
          </a:p>
        </p:txBody>
      </p:sp>
      <p:sp>
        <p:nvSpPr>
          <p:cNvPr id="9" name="Text 7"/>
          <p:cNvSpPr/>
          <p:nvPr/>
        </p:nvSpPr>
        <p:spPr>
          <a:xfrm>
            <a:off x="7269480" y="1810512"/>
            <a:ext cx="1417320" cy="530352"/>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Schober et al. 2016</a:t>
            </a:r>
            <a:endParaRPr lang="en-US" sz="1000" dirty="0"/>
          </a:p>
        </p:txBody>
      </p:sp>
      <p:sp>
        <p:nvSpPr>
          <p:cNvPr id="10" name="Shape 8"/>
          <p:cNvSpPr/>
          <p:nvPr/>
        </p:nvSpPr>
        <p:spPr>
          <a:xfrm>
            <a:off x="502920" y="2414016"/>
            <a:ext cx="8229600" cy="530352"/>
          </a:xfrm>
          <a:prstGeom prst="rect">
            <a:avLst/>
          </a:prstGeom>
          <a:solidFill>
            <a:srgbClr val="FFFFFF"/>
          </a:solidFill>
          <a:ln w="12700">
            <a:solidFill>
              <a:srgbClr val="EAECEF"/>
            </a:solidFill>
            <a:prstDash val="solid"/>
          </a:ln>
        </p:spPr>
      </p:sp>
      <p:sp>
        <p:nvSpPr>
          <p:cNvPr id="11" name="Shape 9"/>
          <p:cNvSpPr/>
          <p:nvPr/>
        </p:nvSpPr>
        <p:spPr>
          <a:xfrm>
            <a:off x="502920" y="2414016"/>
            <a:ext cx="82296" cy="530352"/>
          </a:xfrm>
          <a:prstGeom prst="rect">
            <a:avLst/>
          </a:prstGeom>
          <a:solidFill>
            <a:srgbClr val="9C2C2C"/>
          </a:solidFill>
          <a:ln/>
        </p:spPr>
      </p:sp>
      <p:sp>
        <p:nvSpPr>
          <p:cNvPr id="12" name="Text 10"/>
          <p:cNvSpPr/>
          <p:nvPr/>
        </p:nvSpPr>
        <p:spPr>
          <a:xfrm>
            <a:off x="694944" y="2414016"/>
            <a:ext cx="2148840" cy="530352"/>
          </a:xfrm>
          <a:prstGeom prst="rect">
            <a:avLst/>
          </a:prstGeom>
          <a:noFill/>
          <a:ln/>
        </p:spPr>
        <p:txBody>
          <a:bodyPr wrap="square" lIns="0" tIns="0" rIns="0" bIns="0" rtlCol="0" anchor="ctr"/>
          <a:lstStyle/>
          <a:p>
            <a:pPr indent="0" marL="0">
              <a:lnSpc>
                <a:spcPct val="95000"/>
              </a:lnSpc>
              <a:buNone/>
            </a:pPr>
            <a:r>
              <a:rPr lang="en-US" sz="1300" b="1" dirty="0">
                <a:solidFill>
                  <a:srgbClr val="1B2A4A"/>
                </a:solidFill>
                <a:latin typeface="Georgia" pitchFamily="34" charset="0"/>
                <a:ea typeface="Georgia" pitchFamily="34" charset="-122"/>
                <a:cs typeface="Georgia" pitchFamily="34" charset="-120"/>
              </a:rPr>
              <a:t>Content / measurement</a:t>
            </a:r>
            <a:endParaRPr lang="en-US" sz="1300" dirty="0"/>
          </a:p>
        </p:txBody>
      </p:sp>
      <p:sp>
        <p:nvSpPr>
          <p:cNvPr id="13" name="Text 11"/>
          <p:cNvSpPr/>
          <p:nvPr/>
        </p:nvSpPr>
        <p:spPr>
          <a:xfrm>
            <a:off x="2926080" y="2414016"/>
            <a:ext cx="4251960" cy="530352"/>
          </a:xfrm>
          <a:prstGeom prst="rect">
            <a:avLst/>
          </a:prstGeom>
          <a:noFill/>
          <a:ln/>
        </p:spPr>
        <p:txBody>
          <a:bodyPr wrap="square" lIns="0" tIns="0" rIns="0" bIns="0" rtlCol="0" anchor="ctr"/>
          <a:lstStyle/>
          <a:p>
            <a:pPr indent="0" marL="0">
              <a:lnSpc>
                <a:spcPct val="100000"/>
              </a:lnSpc>
              <a:buNone/>
            </a:pPr>
            <a:r>
              <a:rPr lang="en-US" sz="1200" dirty="0">
                <a:solidFill>
                  <a:srgbClr val="262B33"/>
                </a:solidFill>
                <a:latin typeface="Calibri" pitchFamily="34" charset="0"/>
                <a:ea typeface="Calibri" pitchFamily="34" charset="-122"/>
                <a:cs typeface="Calibri" pitchFamily="34" charset="-120"/>
              </a:rPr>
              <a:t>People curate a “best self” with no expectation of privacy, inflating measurement / content error.</a:t>
            </a:r>
            <a:endParaRPr lang="en-US" sz="1200" dirty="0"/>
          </a:p>
        </p:txBody>
      </p:sp>
      <p:sp>
        <p:nvSpPr>
          <p:cNvPr id="14" name="Text 12"/>
          <p:cNvSpPr/>
          <p:nvPr/>
        </p:nvSpPr>
        <p:spPr>
          <a:xfrm>
            <a:off x="7269480" y="2414016"/>
            <a:ext cx="1417320" cy="530352"/>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Schober et al. 2016</a:t>
            </a:r>
            <a:endParaRPr lang="en-US" sz="1000" dirty="0"/>
          </a:p>
        </p:txBody>
      </p:sp>
      <p:sp>
        <p:nvSpPr>
          <p:cNvPr id="15" name="Shape 13"/>
          <p:cNvSpPr/>
          <p:nvPr/>
        </p:nvSpPr>
        <p:spPr>
          <a:xfrm>
            <a:off x="502920" y="3017520"/>
            <a:ext cx="8229600" cy="530352"/>
          </a:xfrm>
          <a:prstGeom prst="rect">
            <a:avLst/>
          </a:prstGeom>
          <a:solidFill>
            <a:srgbClr val="FFFFFF"/>
          </a:solidFill>
          <a:ln w="12700">
            <a:solidFill>
              <a:srgbClr val="EAECEF"/>
            </a:solidFill>
            <a:prstDash val="solid"/>
          </a:ln>
        </p:spPr>
      </p:sp>
      <p:sp>
        <p:nvSpPr>
          <p:cNvPr id="16" name="Shape 14"/>
          <p:cNvSpPr/>
          <p:nvPr/>
        </p:nvSpPr>
        <p:spPr>
          <a:xfrm>
            <a:off x="502920" y="3017520"/>
            <a:ext cx="82296" cy="530352"/>
          </a:xfrm>
          <a:prstGeom prst="rect">
            <a:avLst/>
          </a:prstGeom>
          <a:solidFill>
            <a:srgbClr val="9C2C2C"/>
          </a:solidFill>
          <a:ln/>
        </p:spPr>
      </p:sp>
      <p:sp>
        <p:nvSpPr>
          <p:cNvPr id="17" name="Text 15"/>
          <p:cNvSpPr/>
          <p:nvPr/>
        </p:nvSpPr>
        <p:spPr>
          <a:xfrm>
            <a:off x="694944" y="3017520"/>
            <a:ext cx="2148840" cy="530352"/>
          </a:xfrm>
          <a:prstGeom prst="rect">
            <a:avLst/>
          </a:prstGeom>
          <a:noFill/>
          <a:ln/>
        </p:spPr>
        <p:txBody>
          <a:bodyPr wrap="square" lIns="0" tIns="0" rIns="0" bIns="0" rtlCol="0" anchor="ctr"/>
          <a:lstStyle/>
          <a:p>
            <a:pPr indent="0" marL="0">
              <a:lnSpc>
                <a:spcPct val="95000"/>
              </a:lnSpc>
              <a:buNone/>
            </a:pPr>
            <a:r>
              <a:rPr lang="en-US" sz="1300" b="1" dirty="0">
                <a:solidFill>
                  <a:srgbClr val="1B2A4A"/>
                </a:solidFill>
                <a:latin typeface="Georgia" pitchFamily="34" charset="0"/>
                <a:ea typeface="Georgia" pitchFamily="34" charset="-122"/>
                <a:cs typeface="Georgia" pitchFamily="34" charset="-120"/>
              </a:rPr>
              <a:t>Query &amp; interpretation</a:t>
            </a:r>
            <a:endParaRPr lang="en-US" sz="1300" dirty="0"/>
          </a:p>
        </p:txBody>
      </p:sp>
      <p:sp>
        <p:nvSpPr>
          <p:cNvPr id="18" name="Text 16"/>
          <p:cNvSpPr/>
          <p:nvPr/>
        </p:nvSpPr>
        <p:spPr>
          <a:xfrm>
            <a:off x="2926080" y="3017520"/>
            <a:ext cx="4251960" cy="530352"/>
          </a:xfrm>
          <a:prstGeom prst="rect">
            <a:avLst/>
          </a:prstGeom>
          <a:noFill/>
          <a:ln/>
        </p:spPr>
        <p:txBody>
          <a:bodyPr wrap="square" lIns="0" tIns="0" rIns="0" bIns="0" rtlCol="0" anchor="ctr"/>
          <a:lstStyle/>
          <a:p>
            <a:pPr indent="0" marL="0">
              <a:lnSpc>
                <a:spcPct val="100000"/>
              </a:lnSpc>
              <a:buNone/>
            </a:pPr>
            <a:r>
              <a:rPr lang="en-US" sz="1200" dirty="0">
                <a:solidFill>
                  <a:srgbClr val="262B33"/>
                </a:solidFill>
                <a:latin typeface="Calibri" pitchFamily="34" charset="0"/>
                <a:ea typeface="Calibri" pitchFamily="34" charset="-122"/>
                <a:cs typeface="Calibri" pitchFamily="34" charset="-120"/>
              </a:rPr>
              <a:t>Keyword scraping pulls in irrelevant content, and coding choices add interpretation error.</a:t>
            </a:r>
            <a:endParaRPr lang="en-US" sz="1200" dirty="0"/>
          </a:p>
        </p:txBody>
      </p:sp>
      <p:sp>
        <p:nvSpPr>
          <p:cNvPr id="19" name="Text 17"/>
          <p:cNvSpPr/>
          <p:nvPr/>
        </p:nvSpPr>
        <p:spPr>
          <a:xfrm>
            <a:off x="7269480" y="3017520"/>
            <a:ext cx="1417320" cy="530352"/>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Hsieh &amp; Murphy 2017</a:t>
            </a:r>
            <a:endParaRPr lang="en-US" sz="1000" dirty="0"/>
          </a:p>
        </p:txBody>
      </p:sp>
      <p:sp>
        <p:nvSpPr>
          <p:cNvPr id="20" name="Shape 18"/>
          <p:cNvSpPr/>
          <p:nvPr/>
        </p:nvSpPr>
        <p:spPr>
          <a:xfrm>
            <a:off x="502920" y="3621024"/>
            <a:ext cx="8229600" cy="530352"/>
          </a:xfrm>
          <a:prstGeom prst="rect">
            <a:avLst/>
          </a:prstGeom>
          <a:solidFill>
            <a:srgbClr val="FFFFFF"/>
          </a:solidFill>
          <a:ln w="12700">
            <a:solidFill>
              <a:srgbClr val="EAECEF"/>
            </a:solidFill>
            <a:prstDash val="solid"/>
          </a:ln>
        </p:spPr>
      </p:sp>
      <p:sp>
        <p:nvSpPr>
          <p:cNvPr id="21" name="Shape 19"/>
          <p:cNvSpPr/>
          <p:nvPr/>
        </p:nvSpPr>
        <p:spPr>
          <a:xfrm>
            <a:off x="502920" y="3621024"/>
            <a:ext cx="82296" cy="530352"/>
          </a:xfrm>
          <a:prstGeom prst="rect">
            <a:avLst/>
          </a:prstGeom>
          <a:solidFill>
            <a:srgbClr val="9C2C2C"/>
          </a:solidFill>
          <a:ln/>
        </p:spPr>
      </p:sp>
      <p:sp>
        <p:nvSpPr>
          <p:cNvPr id="22" name="Text 20"/>
          <p:cNvSpPr/>
          <p:nvPr/>
        </p:nvSpPr>
        <p:spPr>
          <a:xfrm>
            <a:off x="694944" y="3621024"/>
            <a:ext cx="2148840" cy="530352"/>
          </a:xfrm>
          <a:prstGeom prst="rect">
            <a:avLst/>
          </a:prstGeom>
          <a:noFill/>
          <a:ln/>
        </p:spPr>
        <p:txBody>
          <a:bodyPr wrap="square" lIns="0" tIns="0" rIns="0" bIns="0" rtlCol="0" anchor="ctr"/>
          <a:lstStyle/>
          <a:p>
            <a:pPr indent="0" marL="0">
              <a:lnSpc>
                <a:spcPct val="95000"/>
              </a:lnSpc>
              <a:buNone/>
            </a:pPr>
            <a:r>
              <a:rPr lang="en-US" sz="1300" b="1" dirty="0">
                <a:solidFill>
                  <a:srgbClr val="1B2A4A"/>
                </a:solidFill>
                <a:latin typeface="Georgia" pitchFamily="34" charset="0"/>
                <a:ea typeface="Georgia" pitchFamily="34" charset="-122"/>
                <a:cs typeface="Georgia" pitchFamily="34" charset="-120"/>
              </a:rPr>
              <a:t>Validity can drift</a:t>
            </a:r>
            <a:endParaRPr lang="en-US" sz="1300" dirty="0"/>
          </a:p>
        </p:txBody>
      </p:sp>
      <p:sp>
        <p:nvSpPr>
          <p:cNvPr id="23" name="Text 21"/>
          <p:cNvSpPr/>
          <p:nvPr/>
        </p:nvSpPr>
        <p:spPr>
          <a:xfrm>
            <a:off x="2926080" y="3621024"/>
            <a:ext cx="4251960" cy="530352"/>
          </a:xfrm>
          <a:prstGeom prst="rect">
            <a:avLst/>
          </a:prstGeom>
          <a:noFill/>
          <a:ln/>
        </p:spPr>
        <p:txBody>
          <a:bodyPr wrap="square" lIns="0" tIns="0" rIns="0" bIns="0" rtlCol="0" anchor="ctr"/>
          <a:lstStyle/>
          <a:p>
            <a:pPr indent="0" marL="0">
              <a:lnSpc>
                <a:spcPct val="100000"/>
              </a:lnSpc>
              <a:buNone/>
            </a:pPr>
            <a:r>
              <a:rPr lang="en-US" sz="1200" dirty="0">
                <a:solidFill>
                  <a:srgbClr val="262B33"/>
                </a:solidFill>
                <a:latin typeface="Calibri" pitchFamily="34" charset="0"/>
                <a:ea typeface="Calibri" pitchFamily="34" charset="-122"/>
                <a:cs typeface="Calibri" pitchFamily="34" charset="-120"/>
              </a:rPr>
              <a:t>Google Flu Trends was accurate, then biased as algorithms and search habits changed — quantity is not validity.</a:t>
            </a:r>
            <a:endParaRPr lang="en-US" sz="1200" dirty="0"/>
          </a:p>
        </p:txBody>
      </p:sp>
      <p:sp>
        <p:nvSpPr>
          <p:cNvPr id="24" name="Text 22"/>
          <p:cNvSpPr/>
          <p:nvPr/>
        </p:nvSpPr>
        <p:spPr>
          <a:xfrm>
            <a:off x="7269480" y="3621024"/>
            <a:ext cx="1417320" cy="530352"/>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Lazer et al. 2014</a:t>
            </a:r>
            <a:endParaRPr lang="en-US" sz="1000" dirty="0"/>
          </a:p>
        </p:txBody>
      </p:sp>
      <p:sp>
        <p:nvSpPr>
          <p:cNvPr id="25" name="Shape 23"/>
          <p:cNvSpPr/>
          <p:nvPr/>
        </p:nvSpPr>
        <p:spPr>
          <a:xfrm>
            <a:off x="502920" y="4261104"/>
            <a:ext cx="8229600" cy="457200"/>
          </a:xfrm>
          <a:prstGeom prst="roundRect">
            <a:avLst>
              <a:gd name="adj" fmla="val 12000"/>
            </a:avLst>
          </a:prstGeom>
          <a:solidFill>
            <a:srgbClr val="DCEADD"/>
          </a:solidFill>
          <a:ln/>
        </p:spPr>
      </p:sp>
      <p:sp>
        <p:nvSpPr>
          <p:cNvPr id="26" name="Text 24"/>
          <p:cNvSpPr/>
          <p:nvPr/>
        </p:nvSpPr>
        <p:spPr>
          <a:xfrm>
            <a:off x="502920" y="4261104"/>
            <a:ext cx="8229600" cy="457200"/>
          </a:xfrm>
          <a:prstGeom prst="rect">
            <a:avLst/>
          </a:prstGeom>
          <a:noFill/>
          <a:ln/>
        </p:spPr>
        <p:txBody>
          <a:bodyPr wrap="square" lIns="0" tIns="0" rIns="0" bIns="0" rtlCol="0" anchor="ctr"/>
          <a:lstStyle/>
          <a:p>
            <a:pPr algn="ctr" indent="0" marL="0">
              <a:buNone/>
            </a:pPr>
            <a:r>
              <a:rPr lang="en-US" sz="1300" b="1" dirty="0">
                <a:solidFill>
                  <a:srgbClr val="2C5F34"/>
                </a:solidFill>
                <a:latin typeface="Calibri" pitchFamily="34" charset="0"/>
                <a:ea typeface="Calibri" pitchFamily="34" charset="-122"/>
                <a:cs typeface="Calibri" pitchFamily="34" charset="-120"/>
              </a:rPr>
              <a:t>Bottom line:  </a:t>
            </a:r>
            <a:pPr algn="ctr" indent="0" marL="0">
              <a:buNone/>
            </a:pPr>
            <a:r>
              <a:rPr lang="en-US" sz="1300" dirty="0">
                <a:solidFill>
                  <a:srgbClr val="1B2A4A"/>
                </a:solidFill>
                <a:latin typeface="Calibri" pitchFamily="34" charset="0"/>
                <a:ea typeface="Calibri" pitchFamily="34" charset="-122"/>
                <a:cs typeface="Calibri" pitchFamily="34" charset="-120"/>
              </a:rPr>
              <a:t>complement probability samples — calibrated against them — not replace them.</a:t>
            </a:r>
            <a:endParaRPr lang="en-US" sz="1300" dirty="0"/>
          </a:p>
        </p:txBody>
      </p:sp>
      <p:sp>
        <p:nvSpPr>
          <p:cNvPr id="27" name="Text 25"/>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BEYOND ACCURACY</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“Fitness for use”</a:t>
            </a:r>
            <a:endParaRPr lang="en-US" sz="2700" dirty="0"/>
          </a:p>
        </p:txBody>
      </p:sp>
      <p:sp>
        <p:nvSpPr>
          <p:cNvPr id="4" name="Text 2"/>
          <p:cNvSpPr/>
          <p:nvPr/>
        </p:nvSpPr>
        <p:spPr>
          <a:xfrm>
            <a:off x="502920" y="1298448"/>
            <a:ext cx="8229600" cy="365760"/>
          </a:xfrm>
          <a:prstGeom prst="rect">
            <a:avLst/>
          </a:prstGeom>
          <a:noFill/>
          <a:ln/>
        </p:spPr>
        <p:txBody>
          <a:bodyPr wrap="square" lIns="0" tIns="0" rIns="0" bIns="0" rtlCol="0" anchor="ctr"/>
          <a:lstStyle/>
          <a:p>
            <a:pPr indent="0" marL="0">
              <a:buNone/>
            </a:pPr>
            <a:r>
              <a:rPr lang="en-US" sz="1500" dirty="0">
                <a:solidFill>
                  <a:srgbClr val="262B33"/>
                </a:solidFill>
                <a:latin typeface="Calibri" pitchFamily="34" charset="0"/>
                <a:ea typeface="Calibri" pitchFamily="34" charset="-122"/>
                <a:cs typeface="Calibri" pitchFamily="34" charset="-120"/>
              </a:rPr>
              <a:t>Accuracy is only one dimension of quality. Brackstone's six dimensions:</a:t>
            </a:r>
            <a:endParaRPr lang="en-US" sz="1500" dirty="0"/>
          </a:p>
        </p:txBody>
      </p:sp>
      <p:sp>
        <p:nvSpPr>
          <p:cNvPr id="5" name="Shape 3"/>
          <p:cNvSpPr/>
          <p:nvPr/>
        </p:nvSpPr>
        <p:spPr>
          <a:xfrm>
            <a:off x="502920" y="1783080"/>
            <a:ext cx="2670048" cy="713232"/>
          </a:xfrm>
          <a:prstGeom prst="roundRect">
            <a:avLst>
              <a:gd name="adj" fmla="val 7692"/>
            </a:avLst>
          </a:prstGeom>
          <a:solidFill>
            <a:srgbClr val="D6E6F2"/>
          </a:solidFill>
          <a:ln/>
        </p:spPr>
      </p:sp>
      <p:sp>
        <p:nvSpPr>
          <p:cNvPr id="6" name="Text 4"/>
          <p:cNvSpPr/>
          <p:nvPr/>
        </p:nvSpPr>
        <p:spPr>
          <a:xfrm>
            <a:off x="502920" y="1783080"/>
            <a:ext cx="2670048" cy="713232"/>
          </a:xfrm>
          <a:prstGeom prst="rect">
            <a:avLst/>
          </a:prstGeom>
          <a:noFill/>
          <a:ln/>
        </p:spPr>
        <p:txBody>
          <a:bodyPr wrap="square" lIns="0" tIns="0" rIns="0" bIns="0" rtlCol="0" anchor="ctr"/>
          <a:lstStyle/>
          <a:p>
            <a:pPr algn="ctr" indent="0" marL="0">
              <a:buNone/>
            </a:pPr>
            <a:r>
              <a:rPr lang="en-US" sz="1450" b="1" dirty="0">
                <a:solidFill>
                  <a:srgbClr val="1F4E6B"/>
                </a:solidFill>
                <a:latin typeface="Calibri" pitchFamily="34" charset="0"/>
                <a:ea typeface="Calibri" pitchFamily="34" charset="-122"/>
                <a:cs typeface="Calibri" pitchFamily="34" charset="-120"/>
              </a:rPr>
              <a:t>Relevance</a:t>
            </a:r>
            <a:endParaRPr lang="en-US" sz="1450" dirty="0"/>
          </a:p>
        </p:txBody>
      </p:sp>
      <p:sp>
        <p:nvSpPr>
          <p:cNvPr id="7" name="Shape 5"/>
          <p:cNvSpPr/>
          <p:nvPr/>
        </p:nvSpPr>
        <p:spPr>
          <a:xfrm>
            <a:off x="3429000" y="1783080"/>
            <a:ext cx="2670048" cy="713232"/>
          </a:xfrm>
          <a:prstGeom prst="roundRect">
            <a:avLst>
              <a:gd name="adj" fmla="val 7692"/>
            </a:avLst>
          </a:prstGeom>
          <a:solidFill>
            <a:srgbClr val="D6E6F2"/>
          </a:solidFill>
          <a:ln/>
        </p:spPr>
      </p:sp>
      <p:sp>
        <p:nvSpPr>
          <p:cNvPr id="8" name="Text 6"/>
          <p:cNvSpPr/>
          <p:nvPr/>
        </p:nvSpPr>
        <p:spPr>
          <a:xfrm>
            <a:off x="3429000" y="1783080"/>
            <a:ext cx="2670048" cy="713232"/>
          </a:xfrm>
          <a:prstGeom prst="rect">
            <a:avLst/>
          </a:prstGeom>
          <a:noFill/>
          <a:ln/>
        </p:spPr>
        <p:txBody>
          <a:bodyPr wrap="square" lIns="0" tIns="0" rIns="0" bIns="0" rtlCol="0" anchor="ctr"/>
          <a:lstStyle/>
          <a:p>
            <a:pPr algn="ctr" indent="0" marL="0">
              <a:buNone/>
            </a:pPr>
            <a:r>
              <a:rPr lang="en-US" sz="1450" b="1" dirty="0">
                <a:solidFill>
                  <a:srgbClr val="1F4E6B"/>
                </a:solidFill>
                <a:latin typeface="Calibri" pitchFamily="34" charset="0"/>
                <a:ea typeface="Calibri" pitchFamily="34" charset="-122"/>
                <a:cs typeface="Calibri" pitchFamily="34" charset="-120"/>
              </a:rPr>
              <a:t>Accuracy</a:t>
            </a:r>
            <a:endParaRPr lang="en-US" sz="1450" dirty="0"/>
          </a:p>
        </p:txBody>
      </p:sp>
      <p:sp>
        <p:nvSpPr>
          <p:cNvPr id="9" name="Shape 7"/>
          <p:cNvSpPr/>
          <p:nvPr/>
        </p:nvSpPr>
        <p:spPr>
          <a:xfrm>
            <a:off x="6355080" y="1783080"/>
            <a:ext cx="2670048" cy="713232"/>
          </a:xfrm>
          <a:prstGeom prst="roundRect">
            <a:avLst>
              <a:gd name="adj" fmla="val 7692"/>
            </a:avLst>
          </a:prstGeom>
          <a:solidFill>
            <a:srgbClr val="D6E6F2"/>
          </a:solidFill>
          <a:ln/>
        </p:spPr>
      </p:sp>
      <p:sp>
        <p:nvSpPr>
          <p:cNvPr id="10" name="Text 8"/>
          <p:cNvSpPr/>
          <p:nvPr/>
        </p:nvSpPr>
        <p:spPr>
          <a:xfrm>
            <a:off x="6355080" y="1783080"/>
            <a:ext cx="2670048" cy="713232"/>
          </a:xfrm>
          <a:prstGeom prst="rect">
            <a:avLst/>
          </a:prstGeom>
          <a:noFill/>
          <a:ln/>
        </p:spPr>
        <p:txBody>
          <a:bodyPr wrap="square" lIns="0" tIns="0" rIns="0" bIns="0" rtlCol="0" anchor="ctr"/>
          <a:lstStyle/>
          <a:p>
            <a:pPr algn="ctr" indent="0" marL="0">
              <a:buNone/>
            </a:pPr>
            <a:r>
              <a:rPr lang="en-US" sz="1450" b="1" dirty="0">
                <a:solidFill>
                  <a:srgbClr val="1F4E6B"/>
                </a:solidFill>
                <a:latin typeface="Calibri" pitchFamily="34" charset="0"/>
                <a:ea typeface="Calibri" pitchFamily="34" charset="-122"/>
                <a:cs typeface="Calibri" pitchFamily="34" charset="-120"/>
              </a:rPr>
              <a:t>Timeliness</a:t>
            </a:r>
            <a:endParaRPr lang="en-US" sz="1450" dirty="0"/>
          </a:p>
        </p:txBody>
      </p:sp>
      <p:sp>
        <p:nvSpPr>
          <p:cNvPr id="11" name="Shape 9"/>
          <p:cNvSpPr/>
          <p:nvPr/>
        </p:nvSpPr>
        <p:spPr>
          <a:xfrm>
            <a:off x="502920" y="2734056"/>
            <a:ext cx="2670048" cy="713232"/>
          </a:xfrm>
          <a:prstGeom prst="roundRect">
            <a:avLst>
              <a:gd name="adj" fmla="val 7692"/>
            </a:avLst>
          </a:prstGeom>
          <a:solidFill>
            <a:srgbClr val="D6E6F2"/>
          </a:solidFill>
          <a:ln/>
        </p:spPr>
      </p:sp>
      <p:sp>
        <p:nvSpPr>
          <p:cNvPr id="12" name="Text 10"/>
          <p:cNvSpPr/>
          <p:nvPr/>
        </p:nvSpPr>
        <p:spPr>
          <a:xfrm>
            <a:off x="502920" y="2734056"/>
            <a:ext cx="2670048" cy="713232"/>
          </a:xfrm>
          <a:prstGeom prst="rect">
            <a:avLst/>
          </a:prstGeom>
          <a:noFill/>
          <a:ln/>
        </p:spPr>
        <p:txBody>
          <a:bodyPr wrap="square" lIns="0" tIns="0" rIns="0" bIns="0" rtlCol="0" anchor="ctr"/>
          <a:lstStyle/>
          <a:p>
            <a:pPr algn="ctr" indent="0" marL="0">
              <a:buNone/>
            </a:pPr>
            <a:r>
              <a:rPr lang="en-US" sz="1450" b="1" dirty="0">
                <a:solidFill>
                  <a:srgbClr val="1F4E6B"/>
                </a:solidFill>
                <a:latin typeface="Calibri" pitchFamily="34" charset="0"/>
                <a:ea typeface="Calibri" pitchFamily="34" charset="-122"/>
                <a:cs typeface="Calibri" pitchFamily="34" charset="-120"/>
              </a:rPr>
              <a:t>Accessibility</a:t>
            </a:r>
            <a:endParaRPr lang="en-US" sz="1450" dirty="0"/>
          </a:p>
        </p:txBody>
      </p:sp>
      <p:sp>
        <p:nvSpPr>
          <p:cNvPr id="13" name="Shape 11"/>
          <p:cNvSpPr/>
          <p:nvPr/>
        </p:nvSpPr>
        <p:spPr>
          <a:xfrm>
            <a:off x="3429000" y="2734056"/>
            <a:ext cx="2670048" cy="713232"/>
          </a:xfrm>
          <a:prstGeom prst="roundRect">
            <a:avLst>
              <a:gd name="adj" fmla="val 7692"/>
            </a:avLst>
          </a:prstGeom>
          <a:solidFill>
            <a:srgbClr val="D6E6F2"/>
          </a:solidFill>
          <a:ln/>
        </p:spPr>
      </p:sp>
      <p:sp>
        <p:nvSpPr>
          <p:cNvPr id="14" name="Text 12"/>
          <p:cNvSpPr/>
          <p:nvPr/>
        </p:nvSpPr>
        <p:spPr>
          <a:xfrm>
            <a:off x="3429000" y="2734056"/>
            <a:ext cx="2670048" cy="713232"/>
          </a:xfrm>
          <a:prstGeom prst="rect">
            <a:avLst/>
          </a:prstGeom>
          <a:noFill/>
          <a:ln/>
        </p:spPr>
        <p:txBody>
          <a:bodyPr wrap="square" lIns="0" tIns="0" rIns="0" bIns="0" rtlCol="0" anchor="ctr"/>
          <a:lstStyle/>
          <a:p>
            <a:pPr algn="ctr" indent="0" marL="0">
              <a:buNone/>
            </a:pPr>
            <a:r>
              <a:rPr lang="en-US" sz="1450" b="1" dirty="0">
                <a:solidFill>
                  <a:srgbClr val="1F4E6B"/>
                </a:solidFill>
                <a:latin typeface="Calibri" pitchFamily="34" charset="0"/>
                <a:ea typeface="Calibri" pitchFamily="34" charset="-122"/>
                <a:cs typeface="Calibri" pitchFamily="34" charset="-120"/>
              </a:rPr>
              <a:t>Interpretability</a:t>
            </a:r>
            <a:endParaRPr lang="en-US" sz="1450" dirty="0"/>
          </a:p>
        </p:txBody>
      </p:sp>
      <p:sp>
        <p:nvSpPr>
          <p:cNvPr id="15" name="Shape 13"/>
          <p:cNvSpPr/>
          <p:nvPr/>
        </p:nvSpPr>
        <p:spPr>
          <a:xfrm>
            <a:off x="6355080" y="2734056"/>
            <a:ext cx="2670048" cy="713232"/>
          </a:xfrm>
          <a:prstGeom prst="roundRect">
            <a:avLst>
              <a:gd name="adj" fmla="val 7692"/>
            </a:avLst>
          </a:prstGeom>
          <a:solidFill>
            <a:srgbClr val="D6E6F2"/>
          </a:solidFill>
          <a:ln/>
        </p:spPr>
      </p:sp>
      <p:sp>
        <p:nvSpPr>
          <p:cNvPr id="16" name="Text 14"/>
          <p:cNvSpPr/>
          <p:nvPr/>
        </p:nvSpPr>
        <p:spPr>
          <a:xfrm>
            <a:off x="6355080" y="2734056"/>
            <a:ext cx="2670048" cy="713232"/>
          </a:xfrm>
          <a:prstGeom prst="rect">
            <a:avLst/>
          </a:prstGeom>
          <a:noFill/>
          <a:ln/>
        </p:spPr>
        <p:txBody>
          <a:bodyPr wrap="square" lIns="0" tIns="0" rIns="0" bIns="0" rtlCol="0" anchor="ctr"/>
          <a:lstStyle/>
          <a:p>
            <a:pPr algn="ctr" indent="0" marL="0">
              <a:buNone/>
            </a:pPr>
            <a:r>
              <a:rPr lang="en-US" sz="1450" b="1" dirty="0">
                <a:solidFill>
                  <a:srgbClr val="1F4E6B"/>
                </a:solidFill>
                <a:latin typeface="Calibri" pitchFamily="34" charset="0"/>
                <a:ea typeface="Calibri" pitchFamily="34" charset="-122"/>
                <a:cs typeface="Calibri" pitchFamily="34" charset="-120"/>
              </a:rPr>
              <a:t>Coherence</a:t>
            </a:r>
            <a:endParaRPr lang="en-US" sz="1450" dirty="0"/>
          </a:p>
        </p:txBody>
      </p:sp>
      <p:sp>
        <p:nvSpPr>
          <p:cNvPr id="17" name="Shape 15"/>
          <p:cNvSpPr/>
          <p:nvPr/>
        </p:nvSpPr>
        <p:spPr>
          <a:xfrm>
            <a:off x="502920" y="4160520"/>
            <a:ext cx="82296" cy="603504"/>
          </a:xfrm>
          <a:prstGeom prst="rect">
            <a:avLst/>
          </a:prstGeom>
          <a:solidFill>
            <a:srgbClr val="B5651D"/>
          </a:solidFill>
          <a:ln/>
        </p:spPr>
      </p:sp>
      <p:sp>
        <p:nvSpPr>
          <p:cNvPr id="18" name="Text 16"/>
          <p:cNvSpPr/>
          <p:nvPr/>
        </p:nvSpPr>
        <p:spPr>
          <a:xfrm>
            <a:off x="731520" y="4160520"/>
            <a:ext cx="8001000" cy="603504"/>
          </a:xfrm>
          <a:prstGeom prst="rect">
            <a:avLst/>
          </a:prstGeom>
          <a:noFill/>
          <a:ln/>
        </p:spPr>
        <p:txBody>
          <a:bodyPr wrap="square" lIns="0" tIns="0" rIns="0" bIns="0" rtlCol="0" anchor="ctr"/>
          <a:lstStyle/>
          <a:p>
            <a:pPr indent="0" marL="0">
              <a:lnSpc>
                <a:spcPct val="106000"/>
              </a:lnSpc>
              <a:buNone/>
            </a:pPr>
            <a:r>
              <a:rPr lang="en-US" sz="1350" b="1" dirty="0">
                <a:solidFill>
                  <a:srgbClr val="262B33"/>
                </a:solidFill>
                <a:latin typeface="Calibri" pitchFamily="34" charset="0"/>
                <a:ea typeface="Calibri" pitchFamily="34" charset="-122"/>
                <a:cs typeface="Calibri" pitchFamily="34" charset="-120"/>
              </a:rPr>
              <a:t>Good design weighs cost vs. error: </a:t>
            </a:r>
            <a:pPr indent="0" marL="0">
              <a:lnSpc>
                <a:spcPct val="106000"/>
              </a:lnSpc>
              <a:buNone/>
            </a:pPr>
            <a:r>
              <a:rPr lang="en-US" sz="1350" dirty="0">
                <a:solidFill>
                  <a:srgbClr val="262B33"/>
                </a:solidFill>
                <a:latin typeface="Calibri" pitchFamily="34" charset="0"/>
                <a:ea typeface="Calibri" pitchFamily="34" charset="-122"/>
                <a:cs typeface="Calibri" pitchFamily="34" charset="-120"/>
              </a:rPr>
              <a:t>minimize total error under a budget. Levers interact — pushing one (e.g., the response rate) can raise total error elsewhere, so decisions should rest on overall error.</a:t>
            </a:r>
            <a:endParaRPr lang="en-US" sz="1350" dirty="0"/>
          </a:p>
        </p:txBody>
      </p:sp>
      <p:sp>
        <p:nvSpPr>
          <p:cNvPr id="19" name="Text 17"/>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WEST, HEERINGA &amp; BERGLUND (2025) · CH. 1</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The analyst's vantage point</a:t>
            </a:r>
            <a:endParaRPr lang="en-US" sz="2700" dirty="0"/>
          </a:p>
        </p:txBody>
      </p:sp>
      <p:sp>
        <p:nvSpPr>
          <p:cNvPr id="4" name="Text 2"/>
          <p:cNvSpPr/>
          <p:nvPr/>
        </p:nvSpPr>
        <p:spPr>
          <a:xfrm>
            <a:off x="502920" y="1371600"/>
            <a:ext cx="4297680" cy="201168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450" b="1" dirty="0">
                <a:solidFill>
                  <a:srgbClr val="262B33"/>
                </a:solidFill>
                <a:latin typeface="Calibri" pitchFamily="34" charset="0"/>
                <a:ea typeface="Calibri" pitchFamily="34" charset="-122"/>
                <a:cs typeface="Calibri" pitchFamily="34" charset="-120"/>
              </a:rPr>
              <a:t>Analysts usually receive data only after it's designed, collected, and processed.</a:t>
            </a:r>
            <a:endParaRPr lang="en-US" sz="1450" dirty="0"/>
          </a:p>
          <a:p>
            <a:pPr marL="342900" indent="-342900">
              <a:lnSpc>
                <a:spcPct val="105000"/>
              </a:lnSpc>
              <a:spcAft>
                <a:spcPts val="1000"/>
              </a:spcAft>
              <a:buSzPct val="100000"/>
              <a:buChar char="•"/>
            </a:pPr>
            <a:r>
              <a:rPr lang="en-US" sz="1450" dirty="0">
                <a:solidFill>
                  <a:srgbClr val="262B33"/>
                </a:solidFill>
                <a:latin typeface="Calibri" pitchFamily="34" charset="0"/>
                <a:ea typeface="Calibri" pitchFamily="34" charset="-122"/>
                <a:cs typeface="Calibri" pitchFamily="34" charset="-120"/>
              </a:rPr>
              <a:t>So analytic quality is bounded by every upstream design and collection decision.</a:t>
            </a:r>
            <a:endParaRPr lang="en-US" sz="1450" dirty="0"/>
          </a:p>
          <a:p>
            <a:pPr marL="342900" indent="-342900">
              <a:lnSpc>
                <a:spcPct val="105000"/>
              </a:lnSpc>
              <a:spcAft>
                <a:spcPts val="1000"/>
              </a:spcAft>
              <a:buSzPct val="100000"/>
              <a:buChar char="•"/>
            </a:pPr>
            <a:r>
              <a:rPr lang="en-US" sz="1450" dirty="0">
                <a:solidFill>
                  <a:srgbClr val="262B33"/>
                </a:solidFill>
                <a:latin typeface="Calibri" pitchFamily="34" charset="0"/>
                <a:ea typeface="Calibri" pitchFamily="34" charset="-122"/>
                <a:cs typeface="Calibri" pitchFamily="34" charset="-120"/>
              </a:rPr>
              <a:t>New in the 3rd edition: explicit attention to differential privacy and disclosure risk.</a:t>
            </a:r>
            <a:endParaRPr lang="en-US" sz="1450" dirty="0"/>
          </a:p>
        </p:txBody>
      </p:sp>
      <p:sp>
        <p:nvSpPr>
          <p:cNvPr id="5" name="Text 3"/>
          <p:cNvSpPr/>
          <p:nvPr/>
        </p:nvSpPr>
        <p:spPr>
          <a:xfrm>
            <a:off x="5074920" y="1335024"/>
            <a:ext cx="3657600" cy="310896"/>
          </a:xfrm>
          <a:prstGeom prst="rect">
            <a:avLst/>
          </a:prstGeom>
          <a:noFill/>
          <a:ln/>
        </p:spPr>
        <p:txBody>
          <a:bodyPr wrap="square" lIns="0" tIns="0" rIns="0" bIns="0" rtlCol="0" anchor="ctr"/>
          <a:lstStyle/>
          <a:p>
            <a:pPr indent="0" marL="0">
              <a:buNone/>
            </a:pPr>
            <a:r>
              <a:rPr lang="en-US" sz="1300" b="1" dirty="0">
                <a:solidFill>
                  <a:srgbClr val="B5651D"/>
                </a:solidFill>
                <a:latin typeface="Calibri" pitchFamily="34" charset="0"/>
                <a:ea typeface="Calibri" pitchFamily="34" charset="-122"/>
                <a:cs typeface="Calibri" pitchFamily="34" charset="-120"/>
              </a:rPr>
              <a:t>The book's six-step analytic process</a:t>
            </a:r>
            <a:endParaRPr lang="en-US" sz="1300" dirty="0"/>
          </a:p>
        </p:txBody>
      </p:sp>
      <p:sp>
        <p:nvSpPr>
          <p:cNvPr id="6" name="Shape 4"/>
          <p:cNvSpPr/>
          <p:nvPr/>
        </p:nvSpPr>
        <p:spPr>
          <a:xfrm>
            <a:off x="5074920" y="1700784"/>
            <a:ext cx="310896" cy="310896"/>
          </a:xfrm>
          <a:prstGeom prst="ellipse">
            <a:avLst/>
          </a:prstGeom>
          <a:solidFill>
            <a:srgbClr val="1B2A4A"/>
          </a:solidFill>
          <a:ln/>
        </p:spPr>
      </p:sp>
      <p:sp>
        <p:nvSpPr>
          <p:cNvPr id="7" name="Text 5"/>
          <p:cNvSpPr/>
          <p:nvPr/>
        </p:nvSpPr>
        <p:spPr>
          <a:xfrm>
            <a:off x="5074920" y="17007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5504688" y="1664208"/>
            <a:ext cx="3246120" cy="402336"/>
          </a:xfrm>
          <a:prstGeom prst="rect">
            <a:avLst/>
          </a:prstGeom>
          <a:noFill/>
          <a:ln/>
        </p:spPr>
        <p:txBody>
          <a:bodyPr wrap="square" lIns="0" tIns="0" rIns="0" bIns="0" rtlCol="0" anchor="ctr"/>
          <a:lstStyle/>
          <a:p>
            <a:pPr indent="0" marL="0">
              <a:lnSpc>
                <a:spcPct val="95000"/>
              </a:lnSpc>
              <a:buNone/>
            </a:pPr>
            <a:r>
              <a:rPr lang="en-US" sz="1250" dirty="0">
                <a:solidFill>
                  <a:srgbClr val="262B33"/>
                </a:solidFill>
                <a:latin typeface="Calibri" pitchFamily="34" charset="0"/>
                <a:ea typeface="Calibri" pitchFamily="34" charset="-122"/>
                <a:cs typeface="Calibri" pitchFamily="34" charset="-120"/>
              </a:rPr>
              <a:t>Define the question &amp; objectives</a:t>
            </a:r>
            <a:endParaRPr lang="en-US" sz="1250" dirty="0"/>
          </a:p>
        </p:txBody>
      </p:sp>
      <p:sp>
        <p:nvSpPr>
          <p:cNvPr id="9" name="Shape 7"/>
          <p:cNvSpPr/>
          <p:nvPr/>
        </p:nvSpPr>
        <p:spPr>
          <a:xfrm>
            <a:off x="5074920" y="2176272"/>
            <a:ext cx="310896" cy="310896"/>
          </a:xfrm>
          <a:prstGeom prst="ellipse">
            <a:avLst/>
          </a:prstGeom>
          <a:solidFill>
            <a:srgbClr val="1B2A4A"/>
          </a:solidFill>
          <a:ln/>
        </p:spPr>
      </p:sp>
      <p:sp>
        <p:nvSpPr>
          <p:cNvPr id="10" name="Text 8"/>
          <p:cNvSpPr/>
          <p:nvPr/>
        </p:nvSpPr>
        <p:spPr>
          <a:xfrm>
            <a:off x="5074920"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5504688" y="2139696"/>
            <a:ext cx="3246120" cy="402336"/>
          </a:xfrm>
          <a:prstGeom prst="rect">
            <a:avLst/>
          </a:prstGeom>
          <a:noFill/>
          <a:ln/>
        </p:spPr>
        <p:txBody>
          <a:bodyPr wrap="square" lIns="0" tIns="0" rIns="0" bIns="0" rtlCol="0" anchor="ctr"/>
          <a:lstStyle/>
          <a:p>
            <a:pPr indent="0" marL="0">
              <a:lnSpc>
                <a:spcPct val="95000"/>
              </a:lnSpc>
              <a:buNone/>
            </a:pPr>
            <a:r>
              <a:rPr lang="en-US" sz="1250" dirty="0">
                <a:solidFill>
                  <a:srgbClr val="262B33"/>
                </a:solidFill>
                <a:latin typeface="Calibri" pitchFamily="34" charset="0"/>
                <a:ea typeface="Calibri" pitchFamily="34" charset="-122"/>
                <a:cs typeface="Calibri" pitchFamily="34" charset="-120"/>
              </a:rPr>
              <a:t>Understand the sample design</a:t>
            </a:r>
            <a:endParaRPr lang="en-US" sz="1250" dirty="0"/>
          </a:p>
        </p:txBody>
      </p:sp>
      <p:sp>
        <p:nvSpPr>
          <p:cNvPr id="12" name="Shape 10"/>
          <p:cNvSpPr/>
          <p:nvPr/>
        </p:nvSpPr>
        <p:spPr>
          <a:xfrm>
            <a:off x="5074920" y="2651760"/>
            <a:ext cx="310896" cy="310896"/>
          </a:xfrm>
          <a:prstGeom prst="ellipse">
            <a:avLst/>
          </a:prstGeom>
          <a:solidFill>
            <a:srgbClr val="1B2A4A"/>
          </a:solidFill>
          <a:ln/>
        </p:spPr>
      </p:sp>
      <p:sp>
        <p:nvSpPr>
          <p:cNvPr id="13" name="Text 11"/>
          <p:cNvSpPr/>
          <p:nvPr/>
        </p:nvSpPr>
        <p:spPr>
          <a:xfrm>
            <a:off x="5074920" y="2651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5504688" y="2615184"/>
            <a:ext cx="3246120" cy="402336"/>
          </a:xfrm>
          <a:prstGeom prst="rect">
            <a:avLst/>
          </a:prstGeom>
          <a:noFill/>
          <a:ln/>
        </p:spPr>
        <p:txBody>
          <a:bodyPr wrap="square" lIns="0" tIns="0" rIns="0" bIns="0" rtlCol="0" anchor="ctr"/>
          <a:lstStyle/>
          <a:p>
            <a:pPr indent="0" marL="0">
              <a:lnSpc>
                <a:spcPct val="95000"/>
              </a:lnSpc>
              <a:buNone/>
            </a:pPr>
            <a:r>
              <a:rPr lang="en-US" sz="1250" dirty="0">
                <a:solidFill>
                  <a:srgbClr val="262B33"/>
                </a:solidFill>
                <a:latin typeface="Calibri" pitchFamily="34" charset="0"/>
                <a:ea typeface="Calibri" pitchFamily="34" charset="-122"/>
                <a:cs typeface="Calibri" pitchFamily="34" charset="-120"/>
              </a:rPr>
              <a:t>Prepare weights &amp; design variables</a:t>
            </a:r>
            <a:endParaRPr lang="en-US" sz="1250" dirty="0"/>
          </a:p>
        </p:txBody>
      </p:sp>
      <p:sp>
        <p:nvSpPr>
          <p:cNvPr id="15" name="Shape 13"/>
          <p:cNvSpPr/>
          <p:nvPr/>
        </p:nvSpPr>
        <p:spPr>
          <a:xfrm>
            <a:off x="5074920" y="3127248"/>
            <a:ext cx="310896" cy="310896"/>
          </a:xfrm>
          <a:prstGeom prst="ellipse">
            <a:avLst/>
          </a:prstGeom>
          <a:solidFill>
            <a:srgbClr val="1B2A4A"/>
          </a:solidFill>
          <a:ln/>
        </p:spPr>
      </p:sp>
      <p:sp>
        <p:nvSpPr>
          <p:cNvPr id="16" name="Text 14"/>
          <p:cNvSpPr/>
          <p:nvPr/>
        </p:nvSpPr>
        <p:spPr>
          <a:xfrm>
            <a:off x="5074920" y="31272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5504688" y="3090672"/>
            <a:ext cx="3246120" cy="402336"/>
          </a:xfrm>
          <a:prstGeom prst="rect">
            <a:avLst/>
          </a:prstGeom>
          <a:noFill/>
          <a:ln/>
        </p:spPr>
        <p:txBody>
          <a:bodyPr wrap="square" lIns="0" tIns="0" rIns="0" bIns="0" rtlCol="0" anchor="ctr"/>
          <a:lstStyle/>
          <a:p>
            <a:pPr indent="0" marL="0">
              <a:lnSpc>
                <a:spcPct val="95000"/>
              </a:lnSpc>
              <a:buNone/>
            </a:pPr>
            <a:r>
              <a:rPr lang="en-US" sz="1250" dirty="0">
                <a:solidFill>
                  <a:srgbClr val="262B33"/>
                </a:solidFill>
                <a:latin typeface="Calibri" pitchFamily="34" charset="0"/>
                <a:ea typeface="Calibri" pitchFamily="34" charset="-122"/>
                <a:cs typeface="Calibri" pitchFamily="34" charset="-120"/>
              </a:rPr>
              <a:t>Run descriptive checks first</a:t>
            </a:r>
            <a:endParaRPr lang="en-US" sz="1250" dirty="0"/>
          </a:p>
        </p:txBody>
      </p:sp>
      <p:sp>
        <p:nvSpPr>
          <p:cNvPr id="18" name="Shape 16"/>
          <p:cNvSpPr/>
          <p:nvPr/>
        </p:nvSpPr>
        <p:spPr>
          <a:xfrm>
            <a:off x="5074920" y="3602736"/>
            <a:ext cx="310896" cy="310896"/>
          </a:xfrm>
          <a:prstGeom prst="ellipse">
            <a:avLst/>
          </a:prstGeom>
          <a:solidFill>
            <a:srgbClr val="1B2A4A"/>
          </a:solidFill>
          <a:ln/>
        </p:spPr>
      </p:sp>
      <p:sp>
        <p:nvSpPr>
          <p:cNvPr id="19" name="Text 17"/>
          <p:cNvSpPr/>
          <p:nvPr/>
        </p:nvSpPr>
        <p:spPr>
          <a:xfrm>
            <a:off x="5074920" y="3602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5504688" y="3566160"/>
            <a:ext cx="3246120" cy="402336"/>
          </a:xfrm>
          <a:prstGeom prst="rect">
            <a:avLst/>
          </a:prstGeom>
          <a:noFill/>
          <a:ln/>
        </p:spPr>
        <p:txBody>
          <a:bodyPr wrap="square" lIns="0" tIns="0" rIns="0" bIns="0" rtlCol="0" anchor="ctr"/>
          <a:lstStyle/>
          <a:p>
            <a:pPr indent="0" marL="0">
              <a:lnSpc>
                <a:spcPct val="95000"/>
              </a:lnSpc>
              <a:buNone/>
            </a:pPr>
            <a:r>
              <a:rPr lang="en-US" sz="1250" dirty="0">
                <a:solidFill>
                  <a:srgbClr val="262B33"/>
                </a:solidFill>
                <a:latin typeface="Calibri" pitchFamily="34" charset="0"/>
                <a:ea typeface="Calibri" pitchFamily="34" charset="-122"/>
                <a:cs typeface="Calibri" pitchFamily="34" charset="-120"/>
              </a:rPr>
              <a:t>Fit models aligned to objectives</a:t>
            </a:r>
            <a:endParaRPr lang="en-US" sz="1250" dirty="0"/>
          </a:p>
        </p:txBody>
      </p:sp>
      <p:sp>
        <p:nvSpPr>
          <p:cNvPr id="21" name="Shape 19"/>
          <p:cNvSpPr/>
          <p:nvPr/>
        </p:nvSpPr>
        <p:spPr>
          <a:xfrm>
            <a:off x="5074920" y="4078224"/>
            <a:ext cx="310896" cy="310896"/>
          </a:xfrm>
          <a:prstGeom prst="ellipse">
            <a:avLst/>
          </a:prstGeom>
          <a:solidFill>
            <a:srgbClr val="3A7D44"/>
          </a:solidFill>
          <a:ln/>
        </p:spPr>
      </p:sp>
      <p:sp>
        <p:nvSpPr>
          <p:cNvPr id="22" name="Text 20"/>
          <p:cNvSpPr/>
          <p:nvPr/>
        </p:nvSpPr>
        <p:spPr>
          <a:xfrm>
            <a:off x="5074920" y="4078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1"/>
          <p:cNvSpPr/>
          <p:nvPr/>
        </p:nvSpPr>
        <p:spPr>
          <a:xfrm>
            <a:off x="5504688" y="4041648"/>
            <a:ext cx="3246120" cy="402336"/>
          </a:xfrm>
          <a:prstGeom prst="rect">
            <a:avLst/>
          </a:prstGeom>
          <a:noFill/>
          <a:ln/>
        </p:spPr>
        <p:txBody>
          <a:bodyPr wrap="square" lIns="0" tIns="0" rIns="0" bIns="0" rtlCol="0" anchor="ctr"/>
          <a:lstStyle/>
          <a:p>
            <a:pPr indent="0" marL="0">
              <a:lnSpc>
                <a:spcPct val="95000"/>
              </a:lnSpc>
              <a:buNone/>
            </a:pPr>
            <a:r>
              <a:rPr lang="en-US" sz="1250" dirty="0">
                <a:solidFill>
                  <a:srgbClr val="262B33"/>
                </a:solidFill>
                <a:latin typeface="Calibri" pitchFamily="34" charset="0"/>
                <a:ea typeface="Calibri" pitchFamily="34" charset="-122"/>
                <a:cs typeface="Calibri" pitchFamily="34" charset="-120"/>
              </a:rPr>
              <a:t>Interpret with design-based inference</a:t>
            </a:r>
            <a:endParaRPr lang="en-US" sz="1250" dirty="0"/>
          </a:p>
        </p:txBody>
      </p:sp>
      <p:sp>
        <p:nvSpPr>
          <p:cNvPr id="24" name="Text 22"/>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40080" y="1993392"/>
            <a:ext cx="566928" cy="82296"/>
          </a:xfrm>
          <a:prstGeom prst="rect">
            <a:avLst/>
          </a:prstGeom>
          <a:solidFill>
            <a:srgbClr val="B5651D"/>
          </a:solidFill>
          <a:ln/>
        </p:spPr>
      </p:sp>
      <p:sp>
        <p:nvSpPr>
          <p:cNvPr id="3" name="Text 1"/>
          <p:cNvSpPr/>
          <p:nvPr/>
        </p:nvSpPr>
        <p:spPr>
          <a:xfrm>
            <a:off x="640080" y="1517904"/>
            <a:ext cx="7863840" cy="365760"/>
          </a:xfrm>
          <a:prstGeom prst="rect">
            <a:avLst/>
          </a:prstGeom>
          <a:noFill/>
          <a:ln/>
        </p:spPr>
        <p:txBody>
          <a:bodyPr wrap="square" lIns="0" tIns="0" rIns="0" bIns="0" rtlCol="0" anchor="ctr"/>
          <a:lstStyle/>
          <a:p>
            <a:pPr indent="0" marL="0">
              <a:buNone/>
            </a:pPr>
            <a:r>
              <a:rPr lang="en-US" sz="1400" b="1" spc="300" kern="0" dirty="0">
                <a:solidFill>
                  <a:srgbClr val="D6E6F2"/>
                </a:solidFill>
                <a:latin typeface="Calibri" pitchFamily="34" charset="0"/>
                <a:ea typeface="Calibri" pitchFamily="34" charset="-122"/>
                <a:cs typeface="Calibri" pitchFamily="34" charset="-120"/>
              </a:rPr>
              <a:t>SECTION 2</a:t>
            </a:r>
            <a:endParaRPr lang="en-US" sz="1400" dirty="0"/>
          </a:p>
        </p:txBody>
      </p:sp>
      <p:sp>
        <p:nvSpPr>
          <p:cNvPr id="4" name="Text 2"/>
          <p:cNvSpPr/>
          <p:nvPr/>
        </p:nvSpPr>
        <p:spPr>
          <a:xfrm>
            <a:off x="640080" y="2212848"/>
            <a:ext cx="7863840" cy="1188720"/>
          </a:xfrm>
          <a:prstGeom prst="rect">
            <a:avLst/>
          </a:prstGeom>
          <a:noFill/>
          <a:ln/>
        </p:spPr>
        <p:txBody>
          <a:bodyPr wrap="square" lIns="0" tIns="0" rIns="0" bIns="0"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Deep Dives: The Error Sources Polling Lives With</a:t>
            </a:r>
            <a:endParaRPr lang="en-US" sz="3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DEEP DIVE · REPRESENTATION</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Coverage: who never had a chance</a:t>
            </a:r>
            <a:endParaRPr lang="en-US" sz="2700" dirty="0"/>
          </a:p>
        </p:txBody>
      </p:sp>
      <p:sp>
        <p:nvSpPr>
          <p:cNvPr id="4" name="Text 2"/>
          <p:cNvSpPr/>
          <p:nvPr/>
        </p:nvSpPr>
        <p:spPr>
          <a:xfrm>
            <a:off x="502920" y="1261872"/>
            <a:ext cx="8229600" cy="310896"/>
          </a:xfrm>
          <a:prstGeom prst="rect">
            <a:avLst/>
          </a:prstGeom>
          <a:noFill/>
          <a:ln/>
        </p:spPr>
        <p:txBody>
          <a:bodyPr wrap="square" lIns="0" tIns="0" rIns="0" bIns="0" rtlCol="0" anchor="ctr"/>
          <a:lstStyle/>
          <a:p>
            <a:pPr indent="0" marL="0">
              <a:buNone/>
            </a:pPr>
            <a:r>
              <a:rPr lang="en-US" sz="1400" i="1" dirty="0">
                <a:solidFill>
                  <a:srgbClr val="262B33"/>
                </a:solidFill>
                <a:latin typeface="Calibri" pitchFamily="34" charset="0"/>
                <a:ea typeface="Calibri" pitchFamily="34" charset="-122"/>
                <a:cs typeface="Calibri" pitchFamily="34" charset="-120"/>
              </a:rPr>
              <a:t>Coverage error: failure to include all elements of the target population in the sampling frame.</a:t>
            </a:r>
            <a:endParaRPr lang="en-US" sz="1400" dirty="0"/>
          </a:p>
        </p:txBody>
      </p:sp>
      <p:sp>
        <p:nvSpPr>
          <p:cNvPr id="5" name="Shape 3"/>
          <p:cNvSpPr/>
          <p:nvPr/>
        </p:nvSpPr>
        <p:spPr>
          <a:xfrm>
            <a:off x="502920" y="1664208"/>
            <a:ext cx="8229600" cy="548640"/>
          </a:xfrm>
          <a:prstGeom prst="rect">
            <a:avLst/>
          </a:prstGeom>
          <a:solidFill>
            <a:srgbClr val="F3E2CF"/>
          </a:solidFill>
          <a:ln/>
        </p:spPr>
      </p:sp>
      <p:sp>
        <p:nvSpPr>
          <p:cNvPr id="6" name="Shape 4"/>
          <p:cNvSpPr/>
          <p:nvPr/>
        </p:nvSpPr>
        <p:spPr>
          <a:xfrm>
            <a:off x="502920" y="1664208"/>
            <a:ext cx="82296" cy="548640"/>
          </a:xfrm>
          <a:prstGeom prst="rect">
            <a:avLst/>
          </a:prstGeom>
          <a:solidFill>
            <a:srgbClr val="B5651D"/>
          </a:solidFill>
          <a:ln/>
        </p:spPr>
      </p:sp>
      <p:sp>
        <p:nvSpPr>
          <p:cNvPr id="7" name="Text 5"/>
          <p:cNvSpPr/>
          <p:nvPr/>
        </p:nvSpPr>
        <p:spPr>
          <a:xfrm>
            <a:off x="731520" y="1664208"/>
            <a:ext cx="7863840" cy="548640"/>
          </a:xfrm>
          <a:prstGeom prst="rect">
            <a:avLst/>
          </a:prstGeom>
          <a:noFill/>
          <a:ln/>
        </p:spPr>
        <p:txBody>
          <a:bodyPr wrap="square" lIns="0" tIns="0" rIns="0" bIns="0" rtlCol="0" anchor="ctr"/>
          <a:lstStyle/>
          <a:p>
            <a:pPr indent="0" marL="0">
              <a:buNone/>
            </a:pPr>
            <a:r>
              <a:rPr lang="en-US" sz="1300" b="1" dirty="0">
                <a:solidFill>
                  <a:srgbClr val="7A4A12"/>
                </a:solidFill>
                <a:latin typeface="Calibri" pitchFamily="34" charset="0"/>
                <a:ea typeface="Calibri" pitchFamily="34" charset="-122"/>
                <a:cs typeface="Calibri" pitchFamily="34" charset="-120"/>
              </a:rPr>
              <a:t>“The poll was online-only” is coverage error, not sampling bias </a:t>
            </a:r>
            <a:pPr indent="0" marL="0">
              <a:buNone/>
            </a:pPr>
            <a:r>
              <a:rPr lang="en-US" sz="1300" dirty="0">
                <a:solidFill>
                  <a:srgbClr val="262B33"/>
                </a:solidFill>
                <a:latin typeface="Calibri" pitchFamily="34" charset="0"/>
                <a:ea typeface="Calibri" pitchFamily="34" charset="-122"/>
                <a:cs typeface="Calibri" pitchFamily="34" charset="-120"/>
              </a:rPr>
              <a:t>— the offline population never had a chance of selection.</a:t>
            </a:r>
            <a:endParaRPr lang="en-US" sz="1300" dirty="0"/>
          </a:p>
        </p:txBody>
      </p:sp>
      <p:sp>
        <p:nvSpPr>
          <p:cNvPr id="8" name="Shape 6"/>
          <p:cNvSpPr/>
          <p:nvPr/>
        </p:nvSpPr>
        <p:spPr>
          <a:xfrm>
            <a:off x="502920" y="2359152"/>
            <a:ext cx="8229600" cy="603504"/>
          </a:xfrm>
          <a:prstGeom prst="rect">
            <a:avLst/>
          </a:prstGeom>
          <a:solidFill>
            <a:srgbClr val="1B2A4A"/>
          </a:solidFill>
          <a:ln/>
        </p:spPr>
      </p:sp>
      <p:sp>
        <p:nvSpPr>
          <p:cNvPr id="9" name="Text 7"/>
          <p:cNvSpPr/>
          <p:nvPr/>
        </p:nvSpPr>
        <p:spPr>
          <a:xfrm>
            <a:off x="502920" y="2359152"/>
            <a:ext cx="822960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Coverage bias (mean)</a:t>
            </a:r>
            <a:pPr algn="ctr" indent="0" marL="0">
              <a:buNone/>
            </a:pPr>
            <a:r>
              <a:rPr lang="en-US" sz="1400" dirty="0">
                <a:solidFill>
                  <a:srgbClr val="FFFFFF"/>
                </a:solidFill>
                <a:latin typeface="Calibri" pitchFamily="34" charset="0"/>
                <a:ea typeface="Calibri" pitchFamily="34" charset="-122"/>
                <a:cs typeface="Calibri" pitchFamily="34" charset="-120"/>
              </a:rPr>
              <a:t>   =   uncovered share (U / N)   ×   ( covered mean  −  uncovered mean )</a:t>
            </a:r>
            <a:endParaRPr lang="en-US" sz="1400" dirty="0"/>
          </a:p>
        </p:txBody>
      </p:sp>
      <p:sp>
        <p:nvSpPr>
          <p:cNvPr id="10" name="Text 8"/>
          <p:cNvSpPr/>
          <p:nvPr/>
        </p:nvSpPr>
        <p:spPr>
          <a:xfrm>
            <a:off x="502920" y="3035808"/>
            <a:ext cx="8229600" cy="292608"/>
          </a:xfrm>
          <a:prstGeom prst="rect">
            <a:avLst/>
          </a:prstGeom>
          <a:noFill/>
          <a:ln/>
        </p:spPr>
        <p:txBody>
          <a:bodyPr wrap="square" lIns="0" tIns="0" rIns="0" bIns="0"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The uncovered never appear in your data — seeing this bias requires external benchmarks (e.g., the ACS) or surveys that measure frame membership.</a:t>
            </a:r>
            <a:endParaRPr lang="en-US" sz="1150" dirty="0"/>
          </a:p>
        </p:txBody>
      </p:sp>
      <p:sp>
        <p:nvSpPr>
          <p:cNvPr id="11" name="Text 9"/>
          <p:cNvSpPr/>
          <p:nvPr/>
        </p:nvSpPr>
        <p:spPr>
          <a:xfrm>
            <a:off x="502920" y="3456432"/>
            <a:ext cx="2743200" cy="274320"/>
          </a:xfrm>
          <a:prstGeom prst="rect">
            <a:avLst/>
          </a:prstGeom>
          <a:noFill/>
          <a:ln/>
        </p:spPr>
        <p:txBody>
          <a:bodyPr wrap="square" lIns="0" tIns="0" rIns="0" bIns="0" rtlCol="0" anchor="ctr"/>
          <a:lstStyle/>
          <a:p>
            <a:pPr indent="0" marL="0">
              <a:buNone/>
            </a:pPr>
            <a:r>
              <a:rPr lang="en-US" sz="1250" b="1" dirty="0">
                <a:solidFill>
                  <a:srgbClr val="2C6E9C"/>
                </a:solidFill>
                <a:latin typeface="Calibri" pitchFamily="34" charset="0"/>
                <a:ea typeface="Calibri" pitchFamily="34" charset="-122"/>
                <a:cs typeface="Calibri" pitchFamily="34" charset="-120"/>
              </a:rPr>
              <a:t>Repairs</a:t>
            </a:r>
            <a:endParaRPr lang="en-US" sz="1250" dirty="0"/>
          </a:p>
        </p:txBody>
      </p:sp>
      <p:sp>
        <p:nvSpPr>
          <p:cNvPr id="12" name="Shape 10"/>
          <p:cNvSpPr/>
          <p:nvPr/>
        </p:nvSpPr>
        <p:spPr>
          <a:xfrm>
            <a:off x="502920" y="3767328"/>
            <a:ext cx="1956816" cy="603504"/>
          </a:xfrm>
          <a:prstGeom prst="roundRect">
            <a:avLst>
              <a:gd name="adj" fmla="val 9091"/>
            </a:avLst>
          </a:prstGeom>
          <a:solidFill>
            <a:srgbClr val="D6E6F2"/>
          </a:solidFill>
          <a:ln/>
        </p:spPr>
      </p:sp>
      <p:sp>
        <p:nvSpPr>
          <p:cNvPr id="13" name="Text 11"/>
          <p:cNvSpPr/>
          <p:nvPr/>
        </p:nvSpPr>
        <p:spPr>
          <a:xfrm>
            <a:off x="502920" y="3767328"/>
            <a:ext cx="1956816" cy="603504"/>
          </a:xfrm>
          <a:prstGeom prst="rect">
            <a:avLst/>
          </a:prstGeom>
          <a:noFill/>
          <a:ln/>
        </p:spPr>
        <p:txBody>
          <a:bodyPr wrap="square" lIns="508" tIns="508" rIns="508" bIns="508" rtlCol="0" anchor="ctr"/>
          <a:lstStyle/>
          <a:p>
            <a:pPr algn="ctr" indent="0" marL="0">
              <a:lnSpc>
                <a:spcPct val="95000"/>
              </a:lnSpc>
              <a:buNone/>
            </a:pPr>
            <a:r>
              <a:rPr lang="en-US" sz="1050" b="1" dirty="0">
                <a:solidFill>
                  <a:srgbClr val="1F4E6B"/>
                </a:solidFill>
                <a:latin typeface="Calibri" pitchFamily="34" charset="0"/>
                <a:ea typeface="Calibri" pitchFamily="34" charset="-122"/>
                <a:cs typeface="Calibri" pitchFamily="34" charset="-120"/>
              </a:rPr>
              <a:t>Redefine the target population</a:t>
            </a:r>
            <a:endParaRPr lang="en-US" sz="1050" dirty="0"/>
          </a:p>
        </p:txBody>
      </p:sp>
      <p:sp>
        <p:nvSpPr>
          <p:cNvPr id="14" name="Shape 12"/>
          <p:cNvSpPr/>
          <p:nvPr/>
        </p:nvSpPr>
        <p:spPr>
          <a:xfrm>
            <a:off x="2592324" y="3767328"/>
            <a:ext cx="1956816" cy="603504"/>
          </a:xfrm>
          <a:prstGeom prst="roundRect">
            <a:avLst>
              <a:gd name="adj" fmla="val 9091"/>
            </a:avLst>
          </a:prstGeom>
          <a:solidFill>
            <a:srgbClr val="D6E6F2"/>
          </a:solidFill>
          <a:ln/>
        </p:spPr>
      </p:sp>
      <p:sp>
        <p:nvSpPr>
          <p:cNvPr id="15" name="Text 13"/>
          <p:cNvSpPr/>
          <p:nvPr/>
        </p:nvSpPr>
        <p:spPr>
          <a:xfrm>
            <a:off x="2592324" y="3767328"/>
            <a:ext cx="1956816" cy="603504"/>
          </a:xfrm>
          <a:prstGeom prst="rect">
            <a:avLst/>
          </a:prstGeom>
          <a:noFill/>
          <a:ln/>
        </p:spPr>
        <p:txBody>
          <a:bodyPr wrap="square" lIns="508" tIns="508" rIns="508" bIns="508" rtlCol="0" anchor="ctr"/>
          <a:lstStyle/>
          <a:p>
            <a:pPr algn="ctr" indent="0" marL="0">
              <a:lnSpc>
                <a:spcPct val="95000"/>
              </a:lnSpc>
              <a:buNone/>
            </a:pPr>
            <a:r>
              <a:rPr lang="en-US" sz="1050" b="1" dirty="0">
                <a:solidFill>
                  <a:srgbClr val="1F4E6B"/>
                </a:solidFill>
                <a:latin typeface="Calibri" pitchFamily="34" charset="0"/>
                <a:ea typeface="Calibri" pitchFamily="34" charset="-122"/>
                <a:cs typeface="Calibri" pitchFamily="34" charset="-120"/>
              </a:rPr>
              <a:t>Use multiple frames</a:t>
            </a:r>
            <a:endParaRPr lang="en-US" sz="1050" dirty="0"/>
          </a:p>
        </p:txBody>
      </p:sp>
      <p:sp>
        <p:nvSpPr>
          <p:cNvPr id="16" name="Shape 14"/>
          <p:cNvSpPr/>
          <p:nvPr/>
        </p:nvSpPr>
        <p:spPr>
          <a:xfrm>
            <a:off x="4681728" y="3767328"/>
            <a:ext cx="1956816" cy="603504"/>
          </a:xfrm>
          <a:prstGeom prst="roundRect">
            <a:avLst>
              <a:gd name="adj" fmla="val 9091"/>
            </a:avLst>
          </a:prstGeom>
          <a:solidFill>
            <a:srgbClr val="D6E6F2"/>
          </a:solidFill>
          <a:ln/>
        </p:spPr>
      </p:sp>
      <p:sp>
        <p:nvSpPr>
          <p:cNvPr id="17" name="Text 15"/>
          <p:cNvSpPr/>
          <p:nvPr/>
        </p:nvSpPr>
        <p:spPr>
          <a:xfrm>
            <a:off x="4681728" y="3767328"/>
            <a:ext cx="1956816" cy="603504"/>
          </a:xfrm>
          <a:prstGeom prst="rect">
            <a:avLst/>
          </a:prstGeom>
          <a:noFill/>
          <a:ln/>
        </p:spPr>
        <p:txBody>
          <a:bodyPr wrap="square" lIns="508" tIns="508" rIns="508" bIns="508" rtlCol="0" anchor="ctr"/>
          <a:lstStyle/>
          <a:p>
            <a:pPr algn="ctr" indent="0" marL="0">
              <a:lnSpc>
                <a:spcPct val="95000"/>
              </a:lnSpc>
              <a:buNone/>
            </a:pPr>
            <a:r>
              <a:rPr lang="en-US" sz="1050" b="1" dirty="0">
                <a:solidFill>
                  <a:srgbClr val="1F4E6B"/>
                </a:solidFill>
                <a:latin typeface="Calibri" pitchFamily="34" charset="0"/>
                <a:ea typeface="Calibri" pitchFamily="34" charset="-122"/>
                <a:cs typeface="Calibri" pitchFamily="34" charset="-120"/>
              </a:rPr>
              <a:t>Link missing units to the frame</a:t>
            </a:r>
            <a:endParaRPr lang="en-US" sz="1050" dirty="0"/>
          </a:p>
        </p:txBody>
      </p:sp>
      <p:sp>
        <p:nvSpPr>
          <p:cNvPr id="18" name="Shape 16"/>
          <p:cNvSpPr/>
          <p:nvPr/>
        </p:nvSpPr>
        <p:spPr>
          <a:xfrm>
            <a:off x="6771132" y="3767328"/>
            <a:ext cx="1956816" cy="603504"/>
          </a:xfrm>
          <a:prstGeom prst="roundRect">
            <a:avLst>
              <a:gd name="adj" fmla="val 9091"/>
            </a:avLst>
          </a:prstGeom>
          <a:solidFill>
            <a:srgbClr val="D6E6F2"/>
          </a:solidFill>
          <a:ln/>
        </p:spPr>
      </p:sp>
      <p:sp>
        <p:nvSpPr>
          <p:cNvPr id="19" name="Text 17"/>
          <p:cNvSpPr/>
          <p:nvPr/>
        </p:nvSpPr>
        <p:spPr>
          <a:xfrm>
            <a:off x="6771132" y="3767328"/>
            <a:ext cx="1956816" cy="603504"/>
          </a:xfrm>
          <a:prstGeom prst="rect">
            <a:avLst/>
          </a:prstGeom>
          <a:noFill/>
          <a:ln/>
        </p:spPr>
        <p:txBody>
          <a:bodyPr wrap="square" lIns="508" tIns="508" rIns="508" bIns="508" rtlCol="0" anchor="ctr"/>
          <a:lstStyle/>
          <a:p>
            <a:pPr algn="ctr" indent="0" marL="0">
              <a:lnSpc>
                <a:spcPct val="95000"/>
              </a:lnSpc>
              <a:buNone/>
            </a:pPr>
            <a:r>
              <a:rPr lang="en-US" sz="1050" b="1" dirty="0">
                <a:solidFill>
                  <a:srgbClr val="1F4E6B"/>
                </a:solidFill>
                <a:latin typeface="Calibri" pitchFamily="34" charset="0"/>
                <a:ea typeface="Calibri" pitchFamily="34" charset="-122"/>
                <a:cs typeface="Calibri" pitchFamily="34" charset="-120"/>
              </a:rPr>
              <a:t>Benchmark against external data</a:t>
            </a:r>
            <a:endParaRPr lang="en-US" sz="1050" dirty="0"/>
          </a:p>
        </p:txBody>
      </p:sp>
      <p:sp>
        <p:nvSpPr>
          <p:cNvPr id="20" name="Text 18"/>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DEEP DIVE · NONRESPONSE</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Response rates: necessary, not sufficient</a:t>
            </a:r>
            <a:endParaRPr lang="en-US" sz="2700" dirty="0"/>
          </a:p>
        </p:txBody>
      </p:sp>
      <p:sp>
        <p:nvSpPr>
          <p:cNvPr id="4" name="Text 2"/>
          <p:cNvSpPr/>
          <p:nvPr/>
        </p:nvSpPr>
        <p:spPr>
          <a:xfrm>
            <a:off x="502920" y="1298448"/>
            <a:ext cx="3657600" cy="274320"/>
          </a:xfrm>
          <a:prstGeom prst="rect">
            <a:avLst/>
          </a:prstGeom>
          <a:noFill/>
          <a:ln/>
        </p:spPr>
        <p:txBody>
          <a:bodyPr wrap="square" lIns="0" tIns="0" rIns="0" bIns="0" rtlCol="0" anchor="ctr"/>
          <a:lstStyle/>
          <a:p>
            <a:pPr indent="0" marL="0">
              <a:buNone/>
            </a:pPr>
            <a:r>
              <a:rPr lang="en-US" sz="1250" b="1" dirty="0">
                <a:solidFill>
                  <a:srgbClr val="B5651D"/>
                </a:solidFill>
                <a:latin typeface="Calibri" pitchFamily="34" charset="0"/>
                <a:ea typeface="Calibri" pitchFamily="34" charset="-122"/>
                <a:cs typeface="Calibri" pitchFamily="34" charset="-120"/>
              </a:rPr>
              <a:t>AAPOR standard rates</a:t>
            </a:r>
            <a:endParaRPr lang="en-US" sz="1250" dirty="0"/>
          </a:p>
        </p:txBody>
      </p:sp>
      <p:sp>
        <p:nvSpPr>
          <p:cNvPr id="5" name="Shape 3"/>
          <p:cNvSpPr/>
          <p:nvPr/>
        </p:nvSpPr>
        <p:spPr>
          <a:xfrm>
            <a:off x="502920" y="1627632"/>
            <a:ext cx="713232" cy="365760"/>
          </a:xfrm>
          <a:prstGeom prst="roundRect">
            <a:avLst>
              <a:gd name="adj" fmla="val 15000"/>
            </a:avLst>
          </a:prstGeom>
          <a:solidFill>
            <a:srgbClr val="1B2A4A"/>
          </a:solidFill>
          <a:ln/>
        </p:spPr>
      </p:sp>
      <p:sp>
        <p:nvSpPr>
          <p:cNvPr id="6" name="Text 4"/>
          <p:cNvSpPr/>
          <p:nvPr/>
        </p:nvSpPr>
        <p:spPr>
          <a:xfrm>
            <a:off x="502920" y="1627632"/>
            <a:ext cx="713232"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RR1</a:t>
            </a:r>
            <a:endParaRPr lang="en-US" sz="1200" dirty="0"/>
          </a:p>
        </p:txBody>
      </p:sp>
      <p:sp>
        <p:nvSpPr>
          <p:cNvPr id="7" name="Text 5"/>
          <p:cNvSpPr/>
          <p:nvPr/>
        </p:nvSpPr>
        <p:spPr>
          <a:xfrm>
            <a:off x="1325880" y="1627632"/>
            <a:ext cx="3108960" cy="365760"/>
          </a:xfrm>
          <a:prstGeom prst="rect">
            <a:avLst/>
          </a:prstGeom>
          <a:noFill/>
          <a:ln/>
        </p:spPr>
        <p:txBody>
          <a:bodyPr wrap="square" lIns="0" tIns="0" rIns="0" bIns="0" rtlCol="0" anchor="ctr"/>
          <a:lstStyle/>
          <a:p>
            <a:pPr indent="0" marL="0">
              <a:buNone/>
            </a:pPr>
            <a:r>
              <a:rPr lang="en-US" sz="1150" dirty="0">
                <a:solidFill>
                  <a:srgbClr val="262B33"/>
                </a:solidFill>
                <a:latin typeface="Calibri" pitchFamily="34" charset="0"/>
                <a:ea typeface="Calibri" pitchFamily="34" charset="-122"/>
                <a:cs typeface="Calibri" pitchFamily="34" charset="-120"/>
              </a:rPr>
              <a:t>most conservative — completes only</a:t>
            </a:r>
            <a:endParaRPr lang="en-US" sz="1150" dirty="0"/>
          </a:p>
        </p:txBody>
      </p:sp>
      <p:sp>
        <p:nvSpPr>
          <p:cNvPr id="8" name="Shape 6"/>
          <p:cNvSpPr/>
          <p:nvPr/>
        </p:nvSpPr>
        <p:spPr>
          <a:xfrm>
            <a:off x="502920" y="2084832"/>
            <a:ext cx="713232" cy="365760"/>
          </a:xfrm>
          <a:prstGeom prst="roundRect">
            <a:avLst>
              <a:gd name="adj" fmla="val 15000"/>
            </a:avLst>
          </a:prstGeom>
          <a:solidFill>
            <a:srgbClr val="1B2A4A"/>
          </a:solidFill>
          <a:ln/>
        </p:spPr>
      </p:sp>
      <p:sp>
        <p:nvSpPr>
          <p:cNvPr id="9" name="Text 7"/>
          <p:cNvSpPr/>
          <p:nvPr/>
        </p:nvSpPr>
        <p:spPr>
          <a:xfrm>
            <a:off x="502920" y="2084832"/>
            <a:ext cx="713232"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RR2</a:t>
            </a:r>
            <a:endParaRPr lang="en-US" sz="1200" dirty="0"/>
          </a:p>
        </p:txBody>
      </p:sp>
      <p:sp>
        <p:nvSpPr>
          <p:cNvPr id="10" name="Text 8"/>
          <p:cNvSpPr/>
          <p:nvPr/>
        </p:nvSpPr>
        <p:spPr>
          <a:xfrm>
            <a:off x="1325880" y="2084832"/>
            <a:ext cx="3108960" cy="365760"/>
          </a:xfrm>
          <a:prstGeom prst="rect">
            <a:avLst/>
          </a:prstGeom>
          <a:noFill/>
          <a:ln/>
        </p:spPr>
        <p:txBody>
          <a:bodyPr wrap="square" lIns="0" tIns="0" rIns="0" bIns="0" rtlCol="0" anchor="ctr"/>
          <a:lstStyle/>
          <a:p>
            <a:pPr indent="0" marL="0">
              <a:buNone/>
            </a:pPr>
            <a:r>
              <a:rPr lang="en-US" sz="1150" dirty="0">
                <a:solidFill>
                  <a:srgbClr val="262B33"/>
                </a:solidFill>
                <a:latin typeface="Calibri" pitchFamily="34" charset="0"/>
                <a:ea typeface="Calibri" pitchFamily="34" charset="-122"/>
                <a:cs typeface="Calibri" pitchFamily="34" charset="-120"/>
              </a:rPr>
              <a:t>adds partial interviews</a:t>
            </a:r>
            <a:endParaRPr lang="en-US" sz="1150" dirty="0"/>
          </a:p>
        </p:txBody>
      </p:sp>
      <p:sp>
        <p:nvSpPr>
          <p:cNvPr id="11" name="Shape 9"/>
          <p:cNvSpPr/>
          <p:nvPr/>
        </p:nvSpPr>
        <p:spPr>
          <a:xfrm>
            <a:off x="502920" y="2542032"/>
            <a:ext cx="713232" cy="365760"/>
          </a:xfrm>
          <a:prstGeom prst="roundRect">
            <a:avLst>
              <a:gd name="adj" fmla="val 15000"/>
            </a:avLst>
          </a:prstGeom>
          <a:solidFill>
            <a:srgbClr val="1B2A4A"/>
          </a:solidFill>
          <a:ln/>
        </p:spPr>
      </p:sp>
      <p:sp>
        <p:nvSpPr>
          <p:cNvPr id="12" name="Text 10"/>
          <p:cNvSpPr/>
          <p:nvPr/>
        </p:nvSpPr>
        <p:spPr>
          <a:xfrm>
            <a:off x="502920" y="2542032"/>
            <a:ext cx="713232"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RR3</a:t>
            </a:r>
            <a:endParaRPr lang="en-US" sz="1200" dirty="0"/>
          </a:p>
        </p:txBody>
      </p:sp>
      <p:sp>
        <p:nvSpPr>
          <p:cNvPr id="13" name="Text 11"/>
          <p:cNvSpPr/>
          <p:nvPr/>
        </p:nvSpPr>
        <p:spPr>
          <a:xfrm>
            <a:off x="1325880" y="2542032"/>
            <a:ext cx="3108960" cy="365760"/>
          </a:xfrm>
          <a:prstGeom prst="rect">
            <a:avLst/>
          </a:prstGeom>
          <a:noFill/>
          <a:ln/>
        </p:spPr>
        <p:txBody>
          <a:bodyPr wrap="square" lIns="0" tIns="0" rIns="0" bIns="0" rtlCol="0" anchor="ctr"/>
          <a:lstStyle/>
          <a:p>
            <a:pPr indent="0" marL="0">
              <a:buNone/>
            </a:pPr>
            <a:r>
              <a:rPr lang="en-US" sz="1150" dirty="0">
                <a:solidFill>
                  <a:srgbClr val="262B33"/>
                </a:solidFill>
                <a:latin typeface="Calibri" pitchFamily="34" charset="0"/>
                <a:ea typeface="Calibri" pitchFamily="34" charset="-122"/>
                <a:cs typeface="Calibri" pitchFamily="34" charset="-120"/>
              </a:rPr>
              <a:t>estimates eligibility of unknowns (e)</a:t>
            </a:r>
            <a:endParaRPr lang="en-US" sz="1150" dirty="0"/>
          </a:p>
        </p:txBody>
      </p:sp>
      <p:sp>
        <p:nvSpPr>
          <p:cNvPr id="14" name="Shape 12"/>
          <p:cNvSpPr/>
          <p:nvPr/>
        </p:nvSpPr>
        <p:spPr>
          <a:xfrm>
            <a:off x="502920" y="2999232"/>
            <a:ext cx="713232" cy="365760"/>
          </a:xfrm>
          <a:prstGeom prst="roundRect">
            <a:avLst>
              <a:gd name="adj" fmla="val 15000"/>
            </a:avLst>
          </a:prstGeom>
          <a:solidFill>
            <a:srgbClr val="1B2A4A"/>
          </a:solidFill>
          <a:ln/>
        </p:spPr>
      </p:sp>
      <p:sp>
        <p:nvSpPr>
          <p:cNvPr id="15" name="Text 13"/>
          <p:cNvSpPr/>
          <p:nvPr/>
        </p:nvSpPr>
        <p:spPr>
          <a:xfrm>
            <a:off x="502920" y="2999232"/>
            <a:ext cx="713232"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RR4</a:t>
            </a:r>
            <a:endParaRPr lang="en-US" sz="1200" dirty="0"/>
          </a:p>
        </p:txBody>
      </p:sp>
      <p:sp>
        <p:nvSpPr>
          <p:cNvPr id="16" name="Text 14"/>
          <p:cNvSpPr/>
          <p:nvPr/>
        </p:nvSpPr>
        <p:spPr>
          <a:xfrm>
            <a:off x="1325880" y="2999232"/>
            <a:ext cx="3108960" cy="365760"/>
          </a:xfrm>
          <a:prstGeom prst="rect">
            <a:avLst/>
          </a:prstGeom>
          <a:noFill/>
          <a:ln/>
        </p:spPr>
        <p:txBody>
          <a:bodyPr wrap="square" lIns="0" tIns="0" rIns="0" bIns="0" rtlCol="0" anchor="ctr"/>
          <a:lstStyle/>
          <a:p>
            <a:pPr indent="0" marL="0">
              <a:buNone/>
            </a:pPr>
            <a:r>
              <a:rPr lang="en-US" sz="1150" dirty="0">
                <a:solidFill>
                  <a:srgbClr val="262B33"/>
                </a:solidFill>
                <a:latin typeface="Calibri" pitchFamily="34" charset="0"/>
                <a:ea typeface="Calibri" pitchFamily="34" charset="-122"/>
                <a:cs typeface="Calibri" pitchFamily="34" charset="-120"/>
              </a:rPr>
              <a:t>most liberal — partials + e</a:t>
            </a:r>
            <a:endParaRPr lang="en-US" sz="1150" dirty="0"/>
          </a:p>
        </p:txBody>
      </p:sp>
      <p:sp>
        <p:nvSpPr>
          <p:cNvPr id="17" name="Text 15"/>
          <p:cNvSpPr/>
          <p:nvPr/>
        </p:nvSpPr>
        <p:spPr>
          <a:xfrm>
            <a:off x="502920" y="3547872"/>
            <a:ext cx="3977640" cy="548640"/>
          </a:xfrm>
          <a:prstGeom prst="rect">
            <a:avLst/>
          </a:prstGeom>
          <a:noFill/>
          <a:ln/>
        </p:spPr>
        <p:txBody>
          <a:bodyPr wrap="square" lIns="0" tIns="0" rIns="0" bIns="0" rtlCol="0" anchor="ctr"/>
          <a:lstStyle/>
          <a:p>
            <a:pPr indent="0" marL="0">
              <a:lnSpc>
                <a:spcPct val="105000"/>
              </a:lnSpc>
              <a:buNone/>
            </a:pPr>
            <a:r>
              <a:rPr lang="en-US" sz="1150" b="1" dirty="0">
                <a:solidFill>
                  <a:srgbClr val="1B2A4A"/>
                </a:solidFill>
                <a:latin typeface="Calibri" pitchFamily="34" charset="0"/>
                <a:ea typeface="Calibri" pitchFamily="34" charset="-122"/>
                <a:cs typeface="Calibri" pitchFamily="34" charset="-120"/>
              </a:rPr>
              <a:t>Bias of a respondent mean  ≈  </a:t>
            </a:r>
            <a:pPr indent="0" marL="0">
              <a:lnSpc>
                <a:spcPct val="105000"/>
              </a:lnSpc>
              <a:buNone/>
            </a:pPr>
            <a:r>
              <a:rPr lang="en-US" sz="1150" dirty="0">
                <a:solidFill>
                  <a:srgbClr val="1B2A4A"/>
                </a:solidFill>
                <a:latin typeface="Calibri" pitchFamily="34" charset="0"/>
                <a:ea typeface="Calibri" pitchFamily="34" charset="-122"/>
                <a:cs typeface="Calibri" pitchFamily="34" charset="-120"/>
              </a:rPr>
              <a:t>nonresponse rate × (respondent mean − nonrespondent mean)</a:t>
            </a:r>
            <a:endParaRPr lang="en-US" sz="1150" dirty="0"/>
          </a:p>
        </p:txBody>
      </p:sp>
      <p:sp>
        <p:nvSpPr>
          <p:cNvPr id="18" name="Shape 16"/>
          <p:cNvSpPr/>
          <p:nvPr/>
        </p:nvSpPr>
        <p:spPr>
          <a:xfrm>
            <a:off x="4663440" y="1298448"/>
            <a:ext cx="4069080" cy="2670048"/>
          </a:xfrm>
          <a:prstGeom prst="rect">
            <a:avLst/>
          </a:prstGeom>
          <a:solidFill>
            <a:srgbClr val="EEF1F6"/>
          </a:solidFill>
          <a:ln/>
        </p:spPr>
      </p:sp>
      <p:sp>
        <p:nvSpPr>
          <p:cNvPr id="19" name="Text 17"/>
          <p:cNvSpPr/>
          <p:nvPr/>
        </p:nvSpPr>
        <p:spPr>
          <a:xfrm>
            <a:off x="4864608" y="1426464"/>
            <a:ext cx="3749040" cy="274320"/>
          </a:xfrm>
          <a:prstGeom prst="rect">
            <a:avLst/>
          </a:prstGeom>
          <a:noFill/>
          <a:ln/>
        </p:spPr>
        <p:txBody>
          <a:bodyPr wrap="square" lIns="0" tIns="0" rIns="0" bIns="0" rtlCol="0" anchor="ctr"/>
          <a:lstStyle/>
          <a:p>
            <a:pPr indent="0" marL="0">
              <a:buNone/>
            </a:pPr>
            <a:r>
              <a:rPr lang="en-US" sz="1350" b="1" dirty="0">
                <a:solidFill>
                  <a:srgbClr val="1B2A4A"/>
                </a:solidFill>
                <a:latin typeface="Georgia" pitchFamily="34" charset="0"/>
                <a:ea typeface="Georgia" pitchFamily="34" charset="-122"/>
                <a:cs typeface="Georgia" pitchFamily="34" charset="-120"/>
              </a:rPr>
              <a:t>Groves (2006) — 30-study meta-analysis</a:t>
            </a:r>
            <a:endParaRPr lang="en-US" sz="1350" dirty="0"/>
          </a:p>
        </p:txBody>
      </p:sp>
      <p:sp>
        <p:nvSpPr>
          <p:cNvPr id="20" name="Text 18"/>
          <p:cNvSpPr/>
          <p:nvPr/>
        </p:nvSpPr>
        <p:spPr>
          <a:xfrm>
            <a:off x="4864608" y="1792224"/>
            <a:ext cx="3703320" cy="210312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250" dirty="0">
                <a:solidFill>
                  <a:srgbClr val="262B33"/>
                </a:solidFill>
                <a:latin typeface="Calibri" pitchFamily="34" charset="0"/>
                <a:ea typeface="Calibri" pitchFamily="34" charset="-122"/>
                <a:cs typeface="Calibri" pitchFamily="34" charset="-120"/>
              </a:rPr>
              <a:t>Mean absolute relative bias ≈ 9% of the full-sample estimate.</a:t>
            </a:r>
            <a:endParaRPr lang="en-US" sz="1250" dirty="0"/>
          </a:p>
          <a:p>
            <a:pPr marL="342900" indent="-342900">
              <a:lnSpc>
                <a:spcPct val="105000"/>
              </a:lnSpc>
              <a:spcAft>
                <a:spcPts val="900"/>
              </a:spcAft>
              <a:buSzPct val="100000"/>
              <a:buChar char="•"/>
            </a:pPr>
            <a:r>
              <a:rPr lang="en-US" sz="1250" dirty="0">
                <a:solidFill>
                  <a:srgbClr val="262B33"/>
                </a:solidFill>
                <a:latin typeface="Calibri" pitchFamily="34" charset="0"/>
                <a:ea typeface="Calibri" pitchFamily="34" charset="-122"/>
                <a:cs typeface="Calibri" pitchFamily="34" charset="-120"/>
              </a:rPr>
              <a:t>Correlation between nonresponse rate and bias ≈ 0.33 — the rate is a weak proxy.</a:t>
            </a:r>
            <a:endParaRPr lang="en-US" sz="1250" dirty="0"/>
          </a:p>
          <a:p>
            <a:pPr marL="342900" indent="-342900">
              <a:lnSpc>
                <a:spcPct val="105000"/>
              </a:lnSpc>
              <a:spcAft>
                <a:spcPts val="900"/>
              </a:spcAft>
              <a:buSzPct val="100000"/>
              <a:buChar char="•"/>
            </a:pPr>
            <a:r>
              <a:rPr lang="en-US" sz="1250" dirty="0">
                <a:solidFill>
                  <a:srgbClr val="262B33"/>
                </a:solidFill>
                <a:latin typeface="Calibri" pitchFamily="34" charset="0"/>
                <a:ea typeface="Calibri" pitchFamily="34" charset="-122"/>
                <a:cs typeface="Calibri" pitchFamily="34" charset="-120"/>
              </a:rPr>
              <a:t>Bias varies estimate-by-estimate within the same survey.</a:t>
            </a:r>
            <a:endParaRPr lang="en-US" sz="1250" dirty="0"/>
          </a:p>
        </p:txBody>
      </p:sp>
      <p:sp>
        <p:nvSpPr>
          <p:cNvPr id="21" name="Shape 19"/>
          <p:cNvSpPr/>
          <p:nvPr/>
        </p:nvSpPr>
        <p:spPr>
          <a:xfrm>
            <a:off x="502920" y="4133088"/>
            <a:ext cx="8229600" cy="640080"/>
          </a:xfrm>
          <a:prstGeom prst="rect">
            <a:avLst/>
          </a:prstGeom>
          <a:solidFill>
            <a:srgbClr val="1B2A4A"/>
          </a:solidFill>
          <a:ln/>
        </p:spPr>
      </p:sp>
      <p:sp>
        <p:nvSpPr>
          <p:cNvPr id="22" name="Text 20"/>
          <p:cNvSpPr/>
          <p:nvPr/>
        </p:nvSpPr>
        <p:spPr>
          <a:xfrm>
            <a:off x="713232" y="4133088"/>
            <a:ext cx="777240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It's the bias, not the rate. </a:t>
            </a:r>
            <a:pPr indent="0" marL="0">
              <a:buNone/>
            </a:pPr>
            <a:r>
              <a:rPr lang="en-US" sz="1300" dirty="0">
                <a:solidFill>
                  <a:srgbClr val="D7DEEA"/>
                </a:solidFill>
                <a:latin typeface="Calibri" pitchFamily="34" charset="0"/>
                <a:ea typeface="Calibri" pitchFamily="34" charset="-122"/>
                <a:cs typeface="Calibri" pitchFamily="34" charset="-120"/>
              </a:rPr>
              <a:t>A balanced 40% can beat a skewed 60% — pushing the rate up helps only if it brings in different people.</a:t>
            </a:r>
            <a:endParaRPr lang="en-US" sz="1300" dirty="0"/>
          </a:p>
        </p:txBody>
      </p:sp>
      <p:sp>
        <p:nvSpPr>
          <p:cNvPr id="23" name="Text 21"/>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DEEP DIVE · ADJUSTMENT</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Weighting: variables beat algorithms</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229600" cy="914400"/>
        </p:xfrm>
        <a:graphic>
          <a:graphicData uri="http://schemas.openxmlformats.org/drawingml/2006/table">
            <a:tbl>
              <a:tblPr/>
              <a:tblGrid>
                <a:gridCol w="2743200"/>
                <a:gridCol w="2743200"/>
                <a:gridCol w="2743200"/>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Adjustment variable…</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Low assoc. with outcome</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High assoc. with outcome</a:t>
                      </a:r>
                      <a:endParaRPr lang="en-US" sz="11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r>
              <a:tr h="566928">
                <a:tc>
                  <a:txBody>
                    <a:bodyPr/>
                    <a:lstStyle/>
                    <a:p>
                      <a:pPr algn="l" indent="0" marL="0">
                        <a:buNone/>
                      </a:pPr>
                      <a:r>
                        <a:rPr lang="en-US" sz="1100" b="1" dirty="0">
                          <a:solidFill>
                            <a:srgbClr val="1B2A4A"/>
                          </a:solidFill>
                          <a:latin typeface="Calibri" pitchFamily="34" charset="0"/>
                          <a:ea typeface="Calibri" pitchFamily="34" charset="-122"/>
                          <a:cs typeface="Calibri" pitchFamily="34" charset="-120"/>
                        </a:rPr>
                        <a:t>Low assoc. with nonresponse</a:t>
                      </a:r>
                      <a:endParaRPr lang="en-US" sz="1100" dirty="0">
                        <a:latin typeface="Calibri" charset="0"/>
                        <a:ea typeface="Calibri" charset="0"/>
                        <a:cs typeface="Calibri" charset="0"/>
                      </a:endParaRPr>
                    </a:p>
                  </a:txBody>
                  <a:tcPr marL="762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CEF"/>
                    </a:solidFill>
                  </a:tcPr>
                </a:tc>
                <a:tc>
                  <a:txBody>
                    <a:bodyPr/>
                    <a:lstStyle/>
                    <a:p>
                      <a:pPr algn="ctr" indent="0" marL="0">
                        <a:buNone/>
                      </a:pPr>
                      <a:r>
                        <a:rPr lang="en-US" sz="1100" dirty="0">
                          <a:solidFill>
                            <a:srgbClr val="262B33"/>
                          </a:solidFill>
                          <a:latin typeface="Calibri" pitchFamily="34" charset="0"/>
                          <a:ea typeface="Calibri" pitchFamily="34" charset="-122"/>
                          <a:cs typeface="Calibri" pitchFamily="34" charset="-120"/>
                        </a:rPr>
                        <a:t>Bias —    ·    Variance —</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4E6B"/>
                          </a:solidFill>
                          <a:latin typeface="Calibri" pitchFamily="34" charset="0"/>
                          <a:ea typeface="Calibri" pitchFamily="34" charset="-122"/>
                          <a:cs typeface="Calibri" pitchFamily="34" charset="-120"/>
                        </a:rPr>
                        <a:t>Bias —    ·    Variance ↓</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6F2"/>
                    </a:solidFill>
                  </a:tcPr>
                </a:tc>
              </a:tr>
              <a:tr h="566928">
                <a:tc>
                  <a:txBody>
                    <a:bodyPr/>
                    <a:lstStyle/>
                    <a:p>
                      <a:pPr algn="l" indent="0" marL="0">
                        <a:buNone/>
                      </a:pPr>
                      <a:r>
                        <a:rPr lang="en-US" sz="1100" b="1" dirty="0">
                          <a:solidFill>
                            <a:srgbClr val="1B2A4A"/>
                          </a:solidFill>
                          <a:latin typeface="Calibri" pitchFamily="34" charset="0"/>
                          <a:ea typeface="Calibri" pitchFamily="34" charset="-122"/>
                          <a:cs typeface="Calibri" pitchFamily="34" charset="-120"/>
                        </a:rPr>
                        <a:t>High assoc. with nonresponse</a:t>
                      </a:r>
                      <a:endParaRPr lang="en-US" sz="1100" dirty="0">
                        <a:latin typeface="Calibri" charset="0"/>
                        <a:ea typeface="Calibri" charset="0"/>
                        <a:cs typeface="Calibri" charset="0"/>
                      </a:endParaRPr>
                    </a:p>
                  </a:txBody>
                  <a:tcPr marL="762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CEF"/>
                    </a:solidFill>
                  </a:tcPr>
                </a:tc>
                <a:tc>
                  <a:txBody>
                    <a:bodyPr/>
                    <a:lstStyle/>
                    <a:p>
                      <a:pPr algn="ctr" indent="0" marL="0">
                        <a:buNone/>
                      </a:pPr>
                      <a:r>
                        <a:rPr lang="en-US" sz="1100" dirty="0">
                          <a:solidFill>
                            <a:srgbClr val="9C2C2C"/>
                          </a:solidFill>
                          <a:latin typeface="Calibri" pitchFamily="34" charset="0"/>
                          <a:ea typeface="Calibri" pitchFamily="34" charset="-122"/>
                          <a:cs typeface="Calibri" pitchFamily="34" charset="-120"/>
                        </a:rPr>
                        <a:t>Bias —    ·    Variance ↑</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DEDE"/>
                    </a:solidFill>
                  </a:tcPr>
                </a:tc>
                <a:tc>
                  <a:txBody>
                    <a:bodyPr/>
                    <a:lstStyle/>
                    <a:p>
                      <a:pPr algn="ctr" indent="0" marL="0">
                        <a:buNone/>
                      </a:pPr>
                      <a:r>
                        <a:rPr lang="en-US" sz="1100" b="1" dirty="0">
                          <a:solidFill>
                            <a:srgbClr val="2C5F34"/>
                          </a:solidFill>
                          <a:latin typeface="Calibri" pitchFamily="34" charset="0"/>
                          <a:ea typeface="Calibri" pitchFamily="34" charset="-122"/>
                          <a:cs typeface="Calibri" pitchFamily="34" charset="-120"/>
                        </a:rPr>
                        <a:t>Bias ↓   ·   Variance ↓     ← the target</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ADD"/>
                    </a:solidFill>
                  </a:tcPr>
                </a:tc>
              </a:tr>
            </a:tbl>
          </a:graphicData>
        </a:graphic>
      </p:graphicFrame>
      <p:sp>
        <p:nvSpPr>
          <p:cNvPr id="5" name="Text 2"/>
          <p:cNvSpPr/>
          <p:nvPr/>
        </p:nvSpPr>
        <p:spPr>
          <a:xfrm>
            <a:off x="502920" y="2999232"/>
            <a:ext cx="8229600" cy="292608"/>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Little &amp; Vartivarian (2005): weighting is not an automatic bias–variance trade — with the right variables it reduces both.</a:t>
            </a:r>
            <a:endParaRPr lang="en-US" sz="1150" dirty="0"/>
          </a:p>
        </p:txBody>
      </p:sp>
      <p:sp>
        <p:nvSpPr>
          <p:cNvPr id="6" name="Text 3"/>
          <p:cNvSpPr/>
          <p:nvPr/>
        </p:nvSpPr>
        <p:spPr>
          <a:xfrm>
            <a:off x="502920" y="3419856"/>
            <a:ext cx="8229600" cy="329184"/>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The toolbox:  </a:t>
            </a:r>
            <a:pPr indent="0" marL="0">
              <a:buNone/>
            </a:pPr>
            <a:r>
              <a:rPr lang="en-US" sz="1250" dirty="0">
                <a:solidFill>
                  <a:srgbClr val="262B33"/>
                </a:solidFill>
                <a:latin typeface="Calibri" pitchFamily="34" charset="0"/>
                <a:ea typeface="Calibri" pitchFamily="34" charset="-122"/>
                <a:cs typeface="Calibri" pitchFamily="34" charset="-120"/>
              </a:rPr>
              <a:t>weighting-class adjustment · response-propensity weights (inverse predicted probability) · poststratification · raking to known margins</a:t>
            </a:r>
            <a:endParaRPr lang="en-US" sz="1250" dirty="0"/>
          </a:p>
        </p:txBody>
      </p:sp>
      <p:sp>
        <p:nvSpPr>
          <p:cNvPr id="7" name="Shape 4"/>
          <p:cNvSpPr/>
          <p:nvPr/>
        </p:nvSpPr>
        <p:spPr>
          <a:xfrm>
            <a:off x="502920" y="3913632"/>
            <a:ext cx="8229600" cy="841248"/>
          </a:xfrm>
          <a:prstGeom prst="rect">
            <a:avLst/>
          </a:prstGeom>
          <a:solidFill>
            <a:srgbClr val="FFFFFF"/>
          </a:solidFill>
          <a:ln w="12700">
            <a:solidFill>
              <a:srgbClr val="EAECEF"/>
            </a:solidFill>
            <a:prstDash val="solid"/>
          </a:ln>
        </p:spPr>
      </p:sp>
      <p:sp>
        <p:nvSpPr>
          <p:cNvPr id="8" name="Shape 5"/>
          <p:cNvSpPr/>
          <p:nvPr/>
        </p:nvSpPr>
        <p:spPr>
          <a:xfrm>
            <a:off x="502920" y="3913632"/>
            <a:ext cx="82296" cy="841248"/>
          </a:xfrm>
          <a:prstGeom prst="rect">
            <a:avLst/>
          </a:prstGeom>
          <a:solidFill>
            <a:srgbClr val="B5651D"/>
          </a:solidFill>
          <a:ln/>
        </p:spPr>
      </p:sp>
      <p:sp>
        <p:nvSpPr>
          <p:cNvPr id="9" name="Text 6"/>
          <p:cNvSpPr/>
          <p:nvPr/>
        </p:nvSpPr>
        <p:spPr>
          <a:xfrm>
            <a:off x="731520" y="3913632"/>
            <a:ext cx="7863840" cy="841248"/>
          </a:xfrm>
          <a:prstGeom prst="rect">
            <a:avLst/>
          </a:prstGeom>
          <a:noFill/>
          <a:ln/>
        </p:spPr>
        <p:txBody>
          <a:bodyPr wrap="square" lIns="0" tIns="0" rIns="0" bIns="0" rtlCol="0" anchor="ctr"/>
          <a:lstStyle/>
          <a:p>
            <a:pPr indent="0" marL="0">
              <a:lnSpc>
                <a:spcPct val="103000"/>
              </a:lnSpc>
              <a:buNone/>
            </a:pPr>
            <a:r>
              <a:rPr lang="en-US" sz="1200" b="1" dirty="0">
                <a:solidFill>
                  <a:srgbClr val="7A4A12"/>
                </a:solidFill>
                <a:latin typeface="Calibri" pitchFamily="34" charset="0"/>
                <a:ea typeface="Calibri" pitchFamily="34" charset="-122"/>
                <a:cs typeface="Calibri" pitchFamily="34" charset="-120"/>
              </a:rPr>
              <a:t>Cautionary class example: </a:t>
            </a:r>
            <a:pPr indent="0" marL="0">
              <a:lnSpc>
                <a:spcPct val="103000"/>
              </a:lnSpc>
              <a:buNone/>
            </a:pPr>
            <a:r>
              <a:rPr lang="en-US" sz="1200" dirty="0">
                <a:solidFill>
                  <a:srgbClr val="262B33"/>
                </a:solidFill>
                <a:latin typeface="Calibri" pitchFamily="34" charset="0"/>
                <a:ea typeface="Calibri" pitchFamily="34" charset="-122"/>
                <a:cs typeface="Calibri" pitchFamily="34" charset="-120"/>
              </a:rPr>
              <a:t>weight on a variable tied to response but not the outcome (upweighting low-responding men 4× in a GPA study) and you buy variance without removing bias. For ML-based weighting, the algorithm matters less than the variables used.</a:t>
            </a:r>
            <a:endParaRPr lang="en-US" sz="1200" dirty="0"/>
          </a:p>
        </p:txBody>
      </p:sp>
      <p:sp>
        <p:nvSpPr>
          <p:cNvPr id="10" name="Text 7"/>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DEEP DIVE · MEASUREMENT</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The question is an instrument</a:t>
            </a:r>
            <a:endParaRPr lang="en-US" sz="2700" dirty="0"/>
          </a:p>
        </p:txBody>
      </p:sp>
      <p:sp>
        <p:nvSpPr>
          <p:cNvPr id="4" name="Shape 2"/>
          <p:cNvSpPr/>
          <p:nvPr/>
        </p:nvSpPr>
        <p:spPr>
          <a:xfrm>
            <a:off x="502920" y="1353312"/>
            <a:ext cx="8229600" cy="640080"/>
          </a:xfrm>
          <a:prstGeom prst="rect">
            <a:avLst/>
          </a:prstGeom>
          <a:solidFill>
            <a:srgbClr val="FFFFFF"/>
          </a:solidFill>
          <a:ln w="12700">
            <a:solidFill>
              <a:srgbClr val="EAECEF"/>
            </a:solidFill>
            <a:prstDash val="solid"/>
          </a:ln>
        </p:spPr>
      </p:sp>
      <p:sp>
        <p:nvSpPr>
          <p:cNvPr id="5" name="Shape 3"/>
          <p:cNvSpPr/>
          <p:nvPr/>
        </p:nvSpPr>
        <p:spPr>
          <a:xfrm>
            <a:off x="502920" y="1353312"/>
            <a:ext cx="82296" cy="640080"/>
          </a:xfrm>
          <a:prstGeom prst="rect">
            <a:avLst/>
          </a:prstGeom>
          <a:solidFill>
            <a:srgbClr val="B5651D"/>
          </a:solidFill>
          <a:ln/>
        </p:spPr>
      </p:sp>
      <p:sp>
        <p:nvSpPr>
          <p:cNvPr id="6" name="Text 4"/>
          <p:cNvSpPr/>
          <p:nvPr/>
        </p:nvSpPr>
        <p:spPr>
          <a:xfrm>
            <a:off x="713232" y="1353312"/>
            <a:ext cx="2240280" cy="640080"/>
          </a:xfrm>
          <a:prstGeom prst="rect">
            <a:avLst/>
          </a:prstGeom>
          <a:noFill/>
          <a:ln/>
        </p:spPr>
        <p:txBody>
          <a:bodyPr wrap="square" lIns="0" tIns="0" rIns="0" bIns="0" rtlCol="0" anchor="ctr"/>
          <a:lstStyle/>
          <a:p>
            <a:pPr indent="0" marL="0">
              <a:lnSpc>
                <a:spcPct val="95000"/>
              </a:lnSpc>
              <a:buNone/>
            </a:pPr>
            <a:r>
              <a:rPr lang="en-US" sz="1250" b="1" dirty="0">
                <a:solidFill>
                  <a:srgbClr val="1B2A4A"/>
                </a:solidFill>
                <a:latin typeface="Georgia" pitchFamily="34" charset="0"/>
                <a:ea typeface="Georgia" pitchFamily="34" charset="-122"/>
                <a:cs typeface="Georgia" pitchFamily="34" charset="-120"/>
              </a:rPr>
              <a:t>Wording moves answers</a:t>
            </a:r>
            <a:endParaRPr lang="en-US" sz="1250" dirty="0"/>
          </a:p>
        </p:txBody>
      </p:sp>
      <p:sp>
        <p:nvSpPr>
          <p:cNvPr id="7" name="Text 5"/>
          <p:cNvSpPr/>
          <p:nvPr/>
        </p:nvSpPr>
        <p:spPr>
          <a:xfrm>
            <a:off x="3035808" y="1353312"/>
            <a:ext cx="4069080" cy="640080"/>
          </a:xfrm>
          <a:prstGeom prst="rect">
            <a:avLst/>
          </a:prstGeom>
          <a:noFill/>
          <a:ln/>
        </p:spPr>
        <p:txBody>
          <a:bodyPr wrap="square" lIns="0" tIns="0" rIns="0" bIns="0" rtlCol="0" anchor="ctr"/>
          <a:lstStyle/>
          <a:p>
            <a:pPr indent="0" marL="0">
              <a:lnSpc>
                <a:spcPct val="98000"/>
              </a:lnSpc>
              <a:buNone/>
            </a:pPr>
            <a:r>
              <a:rPr lang="en-US" sz="1100" dirty="0">
                <a:solidFill>
                  <a:srgbClr val="262B33"/>
                </a:solidFill>
                <a:latin typeface="Calibri" pitchFamily="34" charset="0"/>
                <a:ea typeface="Calibri" pitchFamily="34" charset="-122"/>
                <a:cs typeface="Calibri" pitchFamily="34" charset="-120"/>
              </a:rPr>
              <a:t>Alcohol response scales changed reports of heavy drinking; gambling-expenditure wording produced 5-fold differences in reported spending.</a:t>
            </a:r>
            <a:endParaRPr lang="en-US" sz="1100" dirty="0"/>
          </a:p>
        </p:txBody>
      </p:sp>
      <p:sp>
        <p:nvSpPr>
          <p:cNvPr id="8" name="Text 6"/>
          <p:cNvSpPr/>
          <p:nvPr/>
        </p:nvSpPr>
        <p:spPr>
          <a:xfrm>
            <a:off x="7178040" y="1353312"/>
            <a:ext cx="1508760" cy="640080"/>
          </a:xfrm>
          <a:prstGeom prst="rect">
            <a:avLst/>
          </a:prstGeom>
          <a:noFill/>
          <a:ln/>
        </p:spPr>
        <p:txBody>
          <a:bodyPr wrap="square" lIns="0" tIns="0" rIns="0" bIns="0" rtlCol="0" anchor="ctr"/>
          <a:lstStyle/>
          <a:p>
            <a:pPr algn="r" indent="0" marL="0">
              <a:lnSpc>
                <a:spcPct val="95000"/>
              </a:lnSpc>
              <a:buNone/>
            </a:pPr>
            <a:r>
              <a:rPr lang="en-US" sz="900" i="1" dirty="0">
                <a:solidFill>
                  <a:srgbClr val="6B7280"/>
                </a:solidFill>
                <a:latin typeface="Calibri" pitchFamily="34" charset="0"/>
                <a:ea typeface="Calibri" pitchFamily="34" charset="-122"/>
                <a:cs typeface="Calibri" pitchFamily="34" charset="-120"/>
              </a:rPr>
              <a:t>Sudman &amp; Bradburn 1982 · Wood &amp; Williams 2007</a:t>
            </a:r>
            <a:endParaRPr lang="en-US" sz="900" dirty="0"/>
          </a:p>
        </p:txBody>
      </p:sp>
      <p:sp>
        <p:nvSpPr>
          <p:cNvPr id="9" name="Shape 7"/>
          <p:cNvSpPr/>
          <p:nvPr/>
        </p:nvSpPr>
        <p:spPr>
          <a:xfrm>
            <a:off x="502920" y="2066544"/>
            <a:ext cx="8229600" cy="640080"/>
          </a:xfrm>
          <a:prstGeom prst="rect">
            <a:avLst/>
          </a:prstGeom>
          <a:solidFill>
            <a:srgbClr val="FFFFFF"/>
          </a:solidFill>
          <a:ln w="12700">
            <a:solidFill>
              <a:srgbClr val="EAECEF"/>
            </a:solidFill>
            <a:prstDash val="solid"/>
          </a:ln>
        </p:spPr>
      </p:sp>
      <p:sp>
        <p:nvSpPr>
          <p:cNvPr id="10" name="Shape 8"/>
          <p:cNvSpPr/>
          <p:nvPr/>
        </p:nvSpPr>
        <p:spPr>
          <a:xfrm>
            <a:off x="502920" y="2066544"/>
            <a:ext cx="82296" cy="640080"/>
          </a:xfrm>
          <a:prstGeom prst="rect">
            <a:avLst/>
          </a:prstGeom>
          <a:solidFill>
            <a:srgbClr val="B5651D"/>
          </a:solidFill>
          <a:ln/>
        </p:spPr>
      </p:sp>
      <p:sp>
        <p:nvSpPr>
          <p:cNvPr id="11" name="Text 9"/>
          <p:cNvSpPr/>
          <p:nvPr/>
        </p:nvSpPr>
        <p:spPr>
          <a:xfrm>
            <a:off x="713232" y="2066544"/>
            <a:ext cx="2240280" cy="640080"/>
          </a:xfrm>
          <a:prstGeom prst="rect">
            <a:avLst/>
          </a:prstGeom>
          <a:noFill/>
          <a:ln/>
        </p:spPr>
        <p:txBody>
          <a:bodyPr wrap="square" lIns="0" tIns="0" rIns="0" bIns="0" rtlCol="0" anchor="ctr"/>
          <a:lstStyle/>
          <a:p>
            <a:pPr indent="0" marL="0">
              <a:lnSpc>
                <a:spcPct val="95000"/>
              </a:lnSpc>
              <a:buNone/>
            </a:pPr>
            <a:r>
              <a:rPr lang="en-US" sz="1250" b="1" dirty="0">
                <a:solidFill>
                  <a:srgbClr val="1B2A4A"/>
                </a:solidFill>
                <a:latin typeface="Georgia" pitchFamily="34" charset="0"/>
                <a:ea typeface="Georgia" pitchFamily="34" charset="-122"/>
                <a:cs typeface="Georgia" pitchFamily="34" charset="-120"/>
              </a:rPr>
              <a:t>Respondents satisfice</a:t>
            </a:r>
            <a:endParaRPr lang="en-US" sz="1250" dirty="0"/>
          </a:p>
        </p:txBody>
      </p:sp>
      <p:sp>
        <p:nvSpPr>
          <p:cNvPr id="12" name="Text 10"/>
          <p:cNvSpPr/>
          <p:nvPr/>
        </p:nvSpPr>
        <p:spPr>
          <a:xfrm>
            <a:off x="3035808" y="2066544"/>
            <a:ext cx="4069080" cy="640080"/>
          </a:xfrm>
          <a:prstGeom prst="rect">
            <a:avLst/>
          </a:prstGeom>
          <a:noFill/>
          <a:ln/>
        </p:spPr>
        <p:txBody>
          <a:bodyPr wrap="square" lIns="0" tIns="0" rIns="0" bIns="0" rtlCol="0" anchor="ctr"/>
          <a:lstStyle/>
          <a:p>
            <a:pPr indent="0" marL="0">
              <a:lnSpc>
                <a:spcPct val="98000"/>
              </a:lnSpc>
              <a:buNone/>
            </a:pPr>
            <a:r>
              <a:rPr lang="en-US" sz="1100" dirty="0">
                <a:solidFill>
                  <a:srgbClr val="262B33"/>
                </a:solidFill>
                <a:latin typeface="Calibri" pitchFamily="34" charset="0"/>
                <a:ea typeface="Calibri" pitchFamily="34" charset="-122"/>
                <a:cs typeface="Calibri" pitchFamily="34" charset="-120"/>
              </a:rPr>
              <a:t>Shortcutting — straightlining, quick “don't knows” — rises with task difficulty and falls with ability and motivation.</a:t>
            </a:r>
            <a:endParaRPr lang="en-US" sz="1100" dirty="0"/>
          </a:p>
        </p:txBody>
      </p:sp>
      <p:sp>
        <p:nvSpPr>
          <p:cNvPr id="13" name="Text 11"/>
          <p:cNvSpPr/>
          <p:nvPr/>
        </p:nvSpPr>
        <p:spPr>
          <a:xfrm>
            <a:off x="7178040" y="2066544"/>
            <a:ext cx="1508760" cy="640080"/>
          </a:xfrm>
          <a:prstGeom prst="rect">
            <a:avLst/>
          </a:prstGeom>
          <a:noFill/>
          <a:ln/>
        </p:spPr>
        <p:txBody>
          <a:bodyPr wrap="square" lIns="0" tIns="0" rIns="0" bIns="0" rtlCol="0" anchor="ctr"/>
          <a:lstStyle/>
          <a:p>
            <a:pPr algn="r" indent="0" marL="0">
              <a:lnSpc>
                <a:spcPct val="95000"/>
              </a:lnSpc>
              <a:buNone/>
            </a:pPr>
            <a:r>
              <a:rPr lang="en-US" sz="900" i="1" dirty="0">
                <a:solidFill>
                  <a:srgbClr val="6B7280"/>
                </a:solidFill>
                <a:latin typeface="Calibri" pitchFamily="34" charset="0"/>
                <a:ea typeface="Calibri" pitchFamily="34" charset="-122"/>
                <a:cs typeface="Calibri" pitchFamily="34" charset="-120"/>
              </a:rPr>
              <a:t>Krosnick 1991</a:t>
            </a:r>
            <a:endParaRPr lang="en-US" sz="900" dirty="0"/>
          </a:p>
        </p:txBody>
      </p:sp>
      <p:sp>
        <p:nvSpPr>
          <p:cNvPr id="14" name="Shape 12"/>
          <p:cNvSpPr/>
          <p:nvPr/>
        </p:nvSpPr>
        <p:spPr>
          <a:xfrm>
            <a:off x="502920" y="2779776"/>
            <a:ext cx="8229600" cy="640080"/>
          </a:xfrm>
          <a:prstGeom prst="rect">
            <a:avLst/>
          </a:prstGeom>
          <a:solidFill>
            <a:srgbClr val="FFFFFF"/>
          </a:solidFill>
          <a:ln w="12700">
            <a:solidFill>
              <a:srgbClr val="EAECEF"/>
            </a:solidFill>
            <a:prstDash val="solid"/>
          </a:ln>
        </p:spPr>
      </p:sp>
      <p:sp>
        <p:nvSpPr>
          <p:cNvPr id="15" name="Shape 13"/>
          <p:cNvSpPr/>
          <p:nvPr/>
        </p:nvSpPr>
        <p:spPr>
          <a:xfrm>
            <a:off x="502920" y="2779776"/>
            <a:ext cx="82296" cy="640080"/>
          </a:xfrm>
          <a:prstGeom prst="rect">
            <a:avLst/>
          </a:prstGeom>
          <a:solidFill>
            <a:srgbClr val="B5651D"/>
          </a:solidFill>
          <a:ln/>
        </p:spPr>
      </p:sp>
      <p:sp>
        <p:nvSpPr>
          <p:cNvPr id="16" name="Text 14"/>
          <p:cNvSpPr/>
          <p:nvPr/>
        </p:nvSpPr>
        <p:spPr>
          <a:xfrm>
            <a:off x="713232" y="2779776"/>
            <a:ext cx="2240280" cy="640080"/>
          </a:xfrm>
          <a:prstGeom prst="rect">
            <a:avLst/>
          </a:prstGeom>
          <a:noFill/>
          <a:ln/>
        </p:spPr>
        <p:txBody>
          <a:bodyPr wrap="square" lIns="0" tIns="0" rIns="0" bIns="0" rtlCol="0" anchor="ctr"/>
          <a:lstStyle/>
          <a:p>
            <a:pPr indent="0" marL="0">
              <a:lnSpc>
                <a:spcPct val="95000"/>
              </a:lnSpc>
              <a:buNone/>
            </a:pPr>
            <a:r>
              <a:rPr lang="en-US" sz="1250" b="1" dirty="0">
                <a:solidFill>
                  <a:srgbClr val="1B2A4A"/>
                </a:solidFill>
                <a:latin typeface="Georgia" pitchFamily="34" charset="0"/>
                <a:ea typeface="Georgia" pitchFamily="34" charset="-122"/>
                <a:cs typeface="Georgia" pitchFamily="34" charset="-120"/>
              </a:rPr>
              <a:t>Memory &amp; self-presentation</a:t>
            </a:r>
            <a:endParaRPr lang="en-US" sz="1250" dirty="0"/>
          </a:p>
        </p:txBody>
      </p:sp>
      <p:sp>
        <p:nvSpPr>
          <p:cNvPr id="17" name="Text 15"/>
          <p:cNvSpPr/>
          <p:nvPr/>
        </p:nvSpPr>
        <p:spPr>
          <a:xfrm>
            <a:off x="3035808" y="2779776"/>
            <a:ext cx="4069080" cy="640080"/>
          </a:xfrm>
          <a:prstGeom prst="rect">
            <a:avLst/>
          </a:prstGeom>
          <a:noFill/>
          <a:ln/>
        </p:spPr>
        <p:txBody>
          <a:bodyPr wrap="square" lIns="0" tIns="0" rIns="0" bIns="0" rtlCol="0" anchor="ctr"/>
          <a:lstStyle/>
          <a:p>
            <a:pPr indent="0" marL="0">
              <a:lnSpc>
                <a:spcPct val="98000"/>
              </a:lnSpc>
              <a:buNone/>
            </a:pPr>
            <a:r>
              <a:rPr lang="en-US" sz="1100" dirty="0">
                <a:solidFill>
                  <a:srgbClr val="262B33"/>
                </a:solidFill>
                <a:latin typeface="Calibri" pitchFamily="34" charset="0"/>
                <a:ea typeface="Calibri" pitchFamily="34" charset="-122"/>
                <a:cs typeface="Calibri" pitchFamily="34" charset="-120"/>
              </a:rPr>
              <a:t>Telescoping pulls events into the reference period; social desirability edits sensitive answers. Tobacco self-reports agreed with saliva 87.5% of the time.</a:t>
            </a:r>
            <a:endParaRPr lang="en-US" sz="1100" dirty="0"/>
          </a:p>
        </p:txBody>
      </p:sp>
      <p:sp>
        <p:nvSpPr>
          <p:cNvPr id="18" name="Text 16"/>
          <p:cNvSpPr/>
          <p:nvPr/>
        </p:nvSpPr>
        <p:spPr>
          <a:xfrm>
            <a:off x="7178040" y="2779776"/>
            <a:ext cx="1508760" cy="640080"/>
          </a:xfrm>
          <a:prstGeom prst="rect">
            <a:avLst/>
          </a:prstGeom>
          <a:noFill/>
          <a:ln/>
        </p:spPr>
        <p:txBody>
          <a:bodyPr wrap="square" lIns="0" tIns="0" rIns="0" bIns="0" rtlCol="0" anchor="ctr"/>
          <a:lstStyle/>
          <a:p>
            <a:pPr algn="r" indent="0" marL="0">
              <a:lnSpc>
                <a:spcPct val="95000"/>
              </a:lnSpc>
              <a:buNone/>
            </a:pPr>
            <a:r>
              <a:rPr lang="en-US" sz="900" i="1" dirty="0">
                <a:solidFill>
                  <a:srgbClr val="6B7280"/>
                </a:solidFill>
                <a:latin typeface="Calibri" pitchFamily="34" charset="0"/>
                <a:ea typeface="Calibri" pitchFamily="34" charset="-122"/>
                <a:cs typeface="Calibri" pitchFamily="34" charset="-120"/>
              </a:rPr>
              <a:t>Tourangeau et al. 2018</a:t>
            </a:r>
            <a:endParaRPr lang="en-US" sz="900" dirty="0"/>
          </a:p>
        </p:txBody>
      </p:sp>
      <p:sp>
        <p:nvSpPr>
          <p:cNvPr id="19" name="Shape 17"/>
          <p:cNvSpPr/>
          <p:nvPr/>
        </p:nvSpPr>
        <p:spPr>
          <a:xfrm>
            <a:off x="502920" y="3493008"/>
            <a:ext cx="8229600" cy="640080"/>
          </a:xfrm>
          <a:prstGeom prst="rect">
            <a:avLst/>
          </a:prstGeom>
          <a:solidFill>
            <a:srgbClr val="FFFFFF"/>
          </a:solidFill>
          <a:ln w="12700">
            <a:solidFill>
              <a:srgbClr val="EAECEF"/>
            </a:solidFill>
            <a:prstDash val="solid"/>
          </a:ln>
        </p:spPr>
      </p:sp>
      <p:sp>
        <p:nvSpPr>
          <p:cNvPr id="20" name="Shape 18"/>
          <p:cNvSpPr/>
          <p:nvPr/>
        </p:nvSpPr>
        <p:spPr>
          <a:xfrm>
            <a:off x="502920" y="3493008"/>
            <a:ext cx="82296" cy="640080"/>
          </a:xfrm>
          <a:prstGeom prst="rect">
            <a:avLst/>
          </a:prstGeom>
          <a:solidFill>
            <a:srgbClr val="B5651D"/>
          </a:solidFill>
          <a:ln/>
        </p:spPr>
      </p:sp>
      <p:sp>
        <p:nvSpPr>
          <p:cNvPr id="21" name="Text 19"/>
          <p:cNvSpPr/>
          <p:nvPr/>
        </p:nvSpPr>
        <p:spPr>
          <a:xfrm>
            <a:off x="713232" y="3493008"/>
            <a:ext cx="2240280" cy="640080"/>
          </a:xfrm>
          <a:prstGeom prst="rect">
            <a:avLst/>
          </a:prstGeom>
          <a:noFill/>
          <a:ln/>
        </p:spPr>
        <p:txBody>
          <a:bodyPr wrap="square" lIns="0" tIns="0" rIns="0" bIns="0" rtlCol="0" anchor="ctr"/>
          <a:lstStyle/>
          <a:p>
            <a:pPr indent="0" marL="0">
              <a:lnSpc>
                <a:spcPct val="95000"/>
              </a:lnSpc>
              <a:buNone/>
            </a:pPr>
            <a:r>
              <a:rPr lang="en-US" sz="1250" b="1" dirty="0">
                <a:solidFill>
                  <a:srgbClr val="1B2A4A"/>
                </a:solidFill>
                <a:latin typeface="Georgia" pitchFamily="34" charset="0"/>
                <a:ea typeface="Georgia" pitchFamily="34" charset="-122"/>
                <a:cs typeface="Georgia" pitchFamily="34" charset="-120"/>
              </a:rPr>
              <a:t>Interviewers add variance</a:t>
            </a:r>
            <a:endParaRPr lang="en-US" sz="1250" dirty="0"/>
          </a:p>
        </p:txBody>
      </p:sp>
      <p:sp>
        <p:nvSpPr>
          <p:cNvPr id="22" name="Text 20"/>
          <p:cNvSpPr/>
          <p:nvPr/>
        </p:nvSpPr>
        <p:spPr>
          <a:xfrm>
            <a:off x="3035808" y="3493008"/>
            <a:ext cx="4069080" cy="640080"/>
          </a:xfrm>
          <a:prstGeom prst="rect">
            <a:avLst/>
          </a:prstGeom>
          <a:noFill/>
          <a:ln/>
        </p:spPr>
        <p:txBody>
          <a:bodyPr wrap="square" lIns="0" tIns="0" rIns="0" bIns="0" rtlCol="0" anchor="ctr"/>
          <a:lstStyle/>
          <a:p>
            <a:pPr indent="0" marL="0">
              <a:lnSpc>
                <a:spcPct val="98000"/>
              </a:lnSpc>
              <a:buNone/>
            </a:pPr>
            <a:r>
              <a:rPr lang="en-US" sz="1100" dirty="0">
                <a:solidFill>
                  <a:srgbClr val="262B33"/>
                </a:solidFill>
                <a:latin typeface="Calibri" pitchFamily="34" charset="0"/>
                <a:ea typeface="Calibri" pitchFamily="34" charset="-122"/>
                <a:cs typeface="Calibri" pitchFamily="34" charset="-120"/>
              </a:rPr>
              <a:t>Differential interviewer behavior inflates variance: design effect ≈ 1 + roh × (workload − 1).</a:t>
            </a:r>
            <a:endParaRPr lang="en-US" sz="1100" dirty="0"/>
          </a:p>
        </p:txBody>
      </p:sp>
      <p:sp>
        <p:nvSpPr>
          <p:cNvPr id="23" name="Text 21"/>
          <p:cNvSpPr/>
          <p:nvPr/>
        </p:nvSpPr>
        <p:spPr>
          <a:xfrm>
            <a:off x="7178040" y="3493008"/>
            <a:ext cx="1508760" cy="640080"/>
          </a:xfrm>
          <a:prstGeom prst="rect">
            <a:avLst/>
          </a:prstGeom>
          <a:noFill/>
          <a:ln/>
        </p:spPr>
        <p:txBody>
          <a:bodyPr wrap="square" lIns="0" tIns="0" rIns="0" bIns="0" rtlCol="0" anchor="ctr"/>
          <a:lstStyle/>
          <a:p>
            <a:pPr algn="r" indent="0" marL="0">
              <a:lnSpc>
                <a:spcPct val="95000"/>
              </a:lnSpc>
              <a:buNone/>
            </a:pPr>
            <a:r>
              <a:rPr lang="en-US" sz="900" i="1" dirty="0">
                <a:solidFill>
                  <a:srgbClr val="6B7280"/>
                </a:solidFill>
                <a:latin typeface="Calibri" pitchFamily="34" charset="0"/>
                <a:ea typeface="Calibri" pitchFamily="34" charset="-122"/>
                <a:cs typeface="Calibri" pitchFamily="34" charset="-120"/>
              </a:rPr>
              <a:t>West &amp; Blom 2016</a:t>
            </a:r>
            <a:endParaRPr lang="en-US" sz="900" dirty="0"/>
          </a:p>
        </p:txBody>
      </p:sp>
      <p:sp>
        <p:nvSpPr>
          <p:cNvPr id="24" name="Shape 22"/>
          <p:cNvSpPr/>
          <p:nvPr/>
        </p:nvSpPr>
        <p:spPr>
          <a:xfrm>
            <a:off x="502920" y="4224528"/>
            <a:ext cx="8229600" cy="457200"/>
          </a:xfrm>
          <a:prstGeom prst="roundRect">
            <a:avLst>
              <a:gd name="adj" fmla="val 12000"/>
            </a:avLst>
          </a:prstGeom>
          <a:solidFill>
            <a:srgbClr val="DCEADD"/>
          </a:solidFill>
          <a:ln/>
        </p:spPr>
      </p:sp>
      <p:sp>
        <p:nvSpPr>
          <p:cNvPr id="25" name="Text 23"/>
          <p:cNvSpPr/>
          <p:nvPr/>
        </p:nvSpPr>
        <p:spPr>
          <a:xfrm>
            <a:off x="502920" y="4224528"/>
            <a:ext cx="8229600" cy="457200"/>
          </a:xfrm>
          <a:prstGeom prst="rect">
            <a:avLst/>
          </a:prstGeom>
          <a:noFill/>
          <a:ln/>
        </p:spPr>
        <p:txBody>
          <a:bodyPr wrap="square" lIns="0" tIns="0" rIns="0" bIns="0" rtlCol="0" anchor="ctr"/>
          <a:lstStyle/>
          <a:p>
            <a:pPr algn="ctr" indent="0" marL="0">
              <a:buNone/>
            </a:pPr>
            <a:r>
              <a:rPr lang="en-US" sz="1200" b="1" dirty="0">
                <a:solidFill>
                  <a:srgbClr val="2C5F34"/>
                </a:solidFill>
                <a:latin typeface="Calibri" pitchFamily="34" charset="0"/>
                <a:ea typeface="Calibri" pitchFamily="34" charset="-122"/>
                <a:cs typeface="Calibri" pitchFamily="34" charset="-120"/>
              </a:rPr>
              <a:t>Defenses:  </a:t>
            </a:r>
            <a:pPr algn="ctr" indent="0" marL="0">
              <a:buNone/>
            </a:pPr>
            <a:r>
              <a:rPr lang="en-US" sz="1200" dirty="0">
                <a:solidFill>
                  <a:srgbClr val="1B2A4A"/>
                </a:solidFill>
                <a:latin typeface="Calibri" pitchFamily="34" charset="0"/>
                <a:ea typeface="Calibri" pitchFamily="34" charset="-122"/>
                <a:cs typeface="Calibri" pitchFamily="34" charset="-120"/>
              </a:rPr>
              <a:t>cognitive testing · behavior coding · record checks · split-ballot experiments · standardized interviewer training</a:t>
            </a:r>
            <a:endParaRPr lang="en-US" sz="1200" dirty="0"/>
          </a:p>
        </p:txBody>
      </p:sp>
      <p:sp>
        <p:nvSpPr>
          <p:cNvPr id="26" name="Text 24"/>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DEEP DIVE · THE LAST MILE</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Analytic error: the estimate you publish</a:t>
            </a:r>
            <a:endParaRPr lang="en-US" sz="2700" dirty="0"/>
          </a:p>
        </p:txBody>
      </p:sp>
      <p:sp>
        <p:nvSpPr>
          <p:cNvPr id="4" name="Text 2"/>
          <p:cNvSpPr/>
          <p:nvPr/>
        </p:nvSpPr>
        <p:spPr>
          <a:xfrm>
            <a:off x="502920" y="1280160"/>
            <a:ext cx="8229600" cy="365760"/>
          </a:xfrm>
          <a:prstGeom prst="rect">
            <a:avLst/>
          </a:prstGeom>
          <a:noFill/>
          <a:ln/>
        </p:spPr>
        <p:txBody>
          <a:bodyPr wrap="square" lIns="0" tIns="0" rIns="0" bIns="0" rtlCol="0" anchor="ctr"/>
          <a:lstStyle/>
          <a:p>
            <a:pPr indent="0" marL="0">
              <a:lnSpc>
                <a:spcPct val="102000"/>
              </a:lnSpc>
              <a:buNone/>
            </a:pPr>
            <a:r>
              <a:rPr lang="en-US" sz="1400" i="1" dirty="0">
                <a:solidFill>
                  <a:srgbClr val="262B33"/>
                </a:solidFill>
                <a:latin typeface="Calibri" pitchFamily="34" charset="0"/>
                <a:ea typeface="Calibri" pitchFamily="34" charset="-122"/>
                <a:cs typeface="Calibri" pitchFamily="34" charset="-120"/>
              </a:rPr>
              <a:t>Analytic error: the failure of the data user to employ appropriate estimation methods when analyzing the collected survey data.</a:t>
            </a:r>
            <a:endParaRPr lang="en-US" sz="1400" dirty="0"/>
          </a:p>
        </p:txBody>
      </p:sp>
      <p:sp>
        <p:nvSpPr>
          <p:cNvPr id="5" name="Shape 3"/>
          <p:cNvSpPr/>
          <p:nvPr/>
        </p:nvSpPr>
        <p:spPr>
          <a:xfrm>
            <a:off x="502920" y="1792224"/>
            <a:ext cx="8229600" cy="868680"/>
          </a:xfrm>
          <a:prstGeom prst="rect">
            <a:avLst/>
          </a:prstGeom>
          <a:solidFill>
            <a:srgbClr val="1B2A4A"/>
          </a:solidFill>
          <a:ln/>
          <a:effectLst>
            <a:outerShdw sx="100000" sy="100000" kx="0" ky="0" algn="bl" rotWithShape="0" blurRad="88900" dist="25400" dir="8100000">
              <a:srgbClr val="000000">
                <a:alpha val="16000"/>
              </a:srgbClr>
            </a:outerShdw>
          </a:effectLst>
        </p:spPr>
      </p:sp>
      <p:sp>
        <p:nvSpPr>
          <p:cNvPr id="6" name="Text 4"/>
          <p:cNvSpPr/>
          <p:nvPr/>
        </p:nvSpPr>
        <p:spPr>
          <a:xfrm>
            <a:off x="777240" y="1792224"/>
            <a:ext cx="1645920" cy="8686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 50%</a:t>
            </a:r>
            <a:endParaRPr lang="en-US" sz="3000" dirty="0"/>
          </a:p>
        </p:txBody>
      </p:sp>
      <p:sp>
        <p:nvSpPr>
          <p:cNvPr id="7" name="Text 5"/>
          <p:cNvSpPr/>
          <p:nvPr/>
        </p:nvSpPr>
        <p:spPr>
          <a:xfrm>
            <a:off x="2560320" y="1792224"/>
            <a:ext cx="5943600" cy="868680"/>
          </a:xfrm>
          <a:prstGeom prst="rect">
            <a:avLst/>
          </a:prstGeom>
          <a:noFill/>
          <a:ln/>
        </p:spPr>
        <p:txBody>
          <a:bodyPr wrap="square" lIns="0" tIns="0" rIns="0" bIns="0" rtlCol="0" anchor="ctr"/>
          <a:lstStyle/>
          <a:p>
            <a:pPr indent="0" marL="0">
              <a:lnSpc>
                <a:spcPct val="105000"/>
              </a:lnSpc>
              <a:buNone/>
            </a:pPr>
            <a:r>
              <a:rPr lang="en-US" sz="1350" dirty="0">
                <a:solidFill>
                  <a:srgbClr val="D7DEEA"/>
                </a:solidFill>
                <a:latin typeface="Calibri" pitchFamily="34" charset="0"/>
                <a:ea typeface="Calibri" pitchFamily="34" charset="-122"/>
                <a:cs typeface="Calibri" pitchFamily="34" charset="-120"/>
              </a:rPr>
              <a:t>of published secondary analyses in a metadata review did not use the survey weights.  (West, Sakshaug &amp; Aurelien, 2016)</a:t>
            </a:r>
            <a:endParaRPr lang="en-US" sz="1350" dirty="0"/>
          </a:p>
        </p:txBody>
      </p:sp>
      <p:sp>
        <p:nvSpPr>
          <p:cNvPr id="8" name="Text 6"/>
          <p:cNvSpPr/>
          <p:nvPr/>
        </p:nvSpPr>
        <p:spPr>
          <a:xfrm>
            <a:off x="502920" y="2834640"/>
            <a:ext cx="5486400" cy="274320"/>
          </a:xfrm>
          <a:prstGeom prst="rect">
            <a:avLst/>
          </a:prstGeom>
          <a:noFill/>
          <a:ln/>
        </p:spPr>
        <p:txBody>
          <a:bodyPr wrap="square" lIns="0" tIns="0" rIns="0" bIns="0" rtlCol="0" anchor="ctr"/>
          <a:lstStyle/>
          <a:p>
            <a:pPr indent="0" marL="0">
              <a:buNone/>
            </a:pPr>
            <a:r>
              <a:rPr lang="en-US" sz="1250" b="1" dirty="0">
                <a:solidFill>
                  <a:srgbClr val="2C6E9C"/>
                </a:solidFill>
                <a:latin typeface="Calibri" pitchFamily="34" charset="0"/>
                <a:ea typeface="Calibri" pitchFamily="34" charset="-122"/>
                <a:cs typeface="Calibri" pitchFamily="34" charset="-120"/>
              </a:rPr>
              <a:t>Design-based analysis in practice</a:t>
            </a:r>
            <a:endParaRPr lang="en-US" sz="1250" dirty="0"/>
          </a:p>
        </p:txBody>
      </p:sp>
      <p:sp>
        <p:nvSpPr>
          <p:cNvPr id="9" name="Text 7"/>
          <p:cNvSpPr/>
          <p:nvPr/>
        </p:nvSpPr>
        <p:spPr>
          <a:xfrm>
            <a:off x="502920" y="3145536"/>
            <a:ext cx="8229600" cy="1188720"/>
          </a:xfrm>
          <a:prstGeom prst="rect">
            <a:avLst/>
          </a:prstGeom>
          <a:noFill/>
          <a:ln/>
        </p:spPr>
        <p:txBody>
          <a:bodyPr wrap="square" lIns="0" tIns="0" rIns="0" bIns="0" rtlCol="0" anchor="ctr"/>
          <a:lstStyle/>
          <a:p>
            <a:pPr marL="342900" indent="-342900">
              <a:lnSpc>
                <a:spcPct val="104000"/>
              </a:lnSpc>
              <a:spcAft>
                <a:spcPts val="800"/>
              </a:spcAft>
              <a:buSzPct val="100000"/>
              <a:buChar char="•"/>
            </a:pPr>
            <a:r>
              <a:rPr lang="en-US" sz="1350" dirty="0">
                <a:solidFill>
                  <a:srgbClr val="262B33"/>
                </a:solidFill>
                <a:latin typeface="Calibri" pitchFamily="34" charset="0"/>
                <a:ea typeface="Calibri" pitchFamily="34" charset="-122"/>
                <a:cs typeface="Calibri" pitchFamily="34" charset="-120"/>
              </a:rPr>
              <a:t>Weights → unbiased point estimates for the population, not the sample.</a:t>
            </a:r>
            <a:endParaRPr lang="en-US" sz="1350" dirty="0"/>
          </a:p>
          <a:p>
            <a:pPr marL="342900" indent="-342900">
              <a:lnSpc>
                <a:spcPct val="104000"/>
              </a:lnSpc>
              <a:spcAft>
                <a:spcPts val="800"/>
              </a:spcAft>
              <a:buSzPct val="100000"/>
              <a:buChar char="•"/>
            </a:pPr>
            <a:r>
              <a:rPr lang="en-US" sz="1350" dirty="0">
                <a:solidFill>
                  <a:srgbClr val="262B33"/>
                </a:solidFill>
                <a:latin typeface="Calibri" pitchFamily="34" charset="0"/>
                <a:ea typeface="Calibri" pitchFamily="34" charset="-122"/>
                <a:cs typeface="Calibri" pitchFamily="34" charset="-120"/>
              </a:rPr>
              <a:t>Strata &amp; clusters → honest standard errors; ignoring them typically understates uncertainty.</a:t>
            </a:r>
            <a:endParaRPr lang="en-US" sz="1350" dirty="0"/>
          </a:p>
          <a:p>
            <a:pPr marL="342900" indent="-342900">
              <a:lnSpc>
                <a:spcPct val="104000"/>
              </a:lnSpc>
              <a:spcAft>
                <a:spcPts val="800"/>
              </a:spcAft>
              <a:buSzPct val="100000"/>
              <a:buChar char="•"/>
            </a:pPr>
            <a:r>
              <a:rPr lang="en-US" sz="1350" dirty="0">
                <a:solidFill>
                  <a:srgbClr val="262B33"/>
                </a:solidFill>
                <a:latin typeface="Calibri" pitchFamily="34" charset="0"/>
                <a:ea typeface="Calibri" pitchFamily="34" charset="-122"/>
                <a:cs typeface="Calibri" pitchFamily="34" charset="-120"/>
              </a:rPr>
              <a:t>Getting this wrong distorts both the estimate and the significance test — a self-inflicted error.</a:t>
            </a:r>
            <a:endParaRPr lang="en-US" sz="1350" dirty="0"/>
          </a:p>
        </p:txBody>
      </p:sp>
      <p:sp>
        <p:nvSpPr>
          <p:cNvPr id="10" name="Text 8"/>
          <p:cNvSpPr/>
          <p:nvPr/>
        </p:nvSpPr>
        <p:spPr>
          <a:xfrm>
            <a:off x="502920" y="4425696"/>
            <a:ext cx="8229600" cy="310896"/>
          </a:xfrm>
          <a:prstGeom prst="rect">
            <a:avLst/>
          </a:prstGeom>
          <a:noFill/>
          <a:ln/>
        </p:spPr>
        <p:txBody>
          <a:bodyPr wrap="square" lIns="0" tIns="0" rIns="0" bIns="0" rtlCol="0" anchor="ctr"/>
          <a:lstStyle/>
          <a:p>
            <a:pPr indent="0" marL="0">
              <a:buNone/>
            </a:pPr>
            <a:r>
              <a:rPr lang="en-US" sz="1300" b="1" dirty="0">
                <a:solidFill>
                  <a:srgbClr val="2C5F34"/>
                </a:solidFill>
                <a:latin typeface="Calibri" pitchFamily="34" charset="0"/>
                <a:ea typeface="Calibri" pitchFamily="34" charset="-122"/>
                <a:cs typeface="Calibri" pitchFamily="34" charset="-120"/>
              </a:rPr>
              <a:t>This is the one error source entirely within our control </a:t>
            </a:r>
            <a:pPr indent="0" marL="0">
              <a:buNone/>
            </a:pPr>
            <a:r>
              <a:rPr lang="en-US" sz="1300" dirty="0">
                <a:solidFill>
                  <a:srgbClr val="262B33"/>
                </a:solidFill>
                <a:latin typeface="Calibri" pitchFamily="34" charset="0"/>
                <a:ea typeface="Calibri" pitchFamily="34" charset="-122"/>
                <a:cs typeface="Calibri" pitchFamily="34" charset="-120"/>
              </a:rPr>
              <a:t>— the six-step process earlier exists to prevent it.</a:t>
            </a:r>
            <a:endParaRPr lang="en-US" sz="1300" dirty="0"/>
          </a:p>
        </p:txBody>
      </p:sp>
      <p:sp>
        <p:nvSpPr>
          <p:cNvPr id="11" name="Text 9"/>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2C6E9C"/>
                </a:solidFill>
                <a:latin typeface="Calibri" pitchFamily="34" charset="0"/>
                <a:ea typeface="Calibri" pitchFamily="34" charset="-122"/>
                <a:cs typeface="Calibri" pitchFamily="34" charset="-120"/>
              </a:rPr>
              <a:t>CURTIN, PRESSER &amp; SINGER (2000) · CONSUMER SENTIMENT</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Levels vs. trends</a:t>
            </a:r>
            <a:endParaRPr lang="en-US" sz="2700" dirty="0"/>
          </a:p>
        </p:txBody>
      </p:sp>
      <p:sp>
        <p:nvSpPr>
          <p:cNvPr id="4" name="Shape 2"/>
          <p:cNvSpPr/>
          <p:nvPr/>
        </p:nvSpPr>
        <p:spPr>
          <a:xfrm>
            <a:off x="502920" y="1371600"/>
            <a:ext cx="4023360" cy="2286000"/>
          </a:xfrm>
          <a:prstGeom prst="rect">
            <a:avLst/>
          </a:prstGeom>
          <a:solidFill>
            <a:srgbClr val="FFFFFF"/>
          </a:solidFill>
          <a:ln w="12700">
            <a:solidFill>
              <a:srgbClr val="EAECEF"/>
            </a:solidFill>
            <a:prstDash val="solid"/>
          </a:ln>
          <a:effectLst>
            <a:outerShdw sx="100000" sy="100000" kx="0" ky="0" algn="bl" rotWithShape="0" blurRad="88900" dist="25400" dir="8100000">
              <a:srgbClr val="000000">
                <a:alpha val="16000"/>
              </a:srgbClr>
            </a:outerShdw>
          </a:effectLst>
        </p:spPr>
      </p:sp>
      <p:sp>
        <p:nvSpPr>
          <p:cNvPr id="5" name="Shape 3"/>
          <p:cNvSpPr/>
          <p:nvPr/>
        </p:nvSpPr>
        <p:spPr>
          <a:xfrm>
            <a:off x="502920" y="1371600"/>
            <a:ext cx="4023360" cy="512064"/>
          </a:xfrm>
          <a:prstGeom prst="rect">
            <a:avLst/>
          </a:prstGeom>
          <a:solidFill>
            <a:srgbClr val="2C6E9C"/>
          </a:solidFill>
          <a:ln/>
        </p:spPr>
      </p:sp>
      <p:sp>
        <p:nvSpPr>
          <p:cNvPr id="6" name="Text 4"/>
          <p:cNvSpPr/>
          <p:nvPr/>
        </p:nvSpPr>
        <p:spPr>
          <a:xfrm>
            <a:off x="502920" y="1371600"/>
            <a:ext cx="4023360"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Who's hard to reach is systematic</a:t>
            </a:r>
            <a:endParaRPr lang="en-US" sz="1400" dirty="0"/>
          </a:p>
        </p:txBody>
      </p:sp>
      <p:sp>
        <p:nvSpPr>
          <p:cNvPr id="7" name="Text 5"/>
          <p:cNvSpPr/>
          <p:nvPr/>
        </p:nvSpPr>
        <p:spPr>
          <a:xfrm>
            <a:off x="731520" y="2029968"/>
            <a:ext cx="3566160" cy="1463040"/>
          </a:xfrm>
          <a:prstGeom prst="rect">
            <a:avLst/>
          </a:prstGeom>
          <a:noFill/>
          <a:ln/>
        </p:spPr>
        <p:txBody>
          <a:bodyPr wrap="square" lIns="0" tIns="0" rIns="0" bIns="0" rtlCol="0" anchor="ctr"/>
          <a:lstStyle/>
          <a:p>
            <a:pPr marL="342900" indent="-342900">
              <a:lnSpc>
                <a:spcPct val="106000"/>
              </a:lnSpc>
              <a:spcAft>
                <a:spcPts val="800"/>
              </a:spcAft>
              <a:buSzPct val="100000"/>
              <a:buChar char="•"/>
            </a:pPr>
            <a:r>
              <a:rPr lang="en-US" sz="1250" dirty="0">
                <a:solidFill>
                  <a:srgbClr val="262B33"/>
                </a:solidFill>
                <a:latin typeface="Calibri" pitchFamily="34" charset="0"/>
                <a:ea typeface="Calibri" pitchFamily="34" charset="-122"/>
                <a:cs typeface="Calibri" pitchFamily="34" charset="-120"/>
              </a:rPr>
              <a:t>In the Index of Consumer Sentiment, respondents needing many calls skewed younger, more affluent, more optimistic.</a:t>
            </a:r>
            <a:endParaRPr lang="en-US" sz="1250" dirty="0"/>
          </a:p>
          <a:p>
            <a:pPr marL="342900" indent="-342900">
              <a:lnSpc>
                <a:spcPct val="106000"/>
              </a:lnSpc>
              <a:spcAft>
                <a:spcPts val="800"/>
              </a:spcAft>
              <a:buSzPct val="100000"/>
              <a:buChar char="•"/>
            </a:pPr>
            <a:r>
              <a:rPr lang="en-US" sz="1250" dirty="0">
                <a:solidFill>
                  <a:srgbClr val="262B33"/>
                </a:solidFill>
                <a:latin typeface="Calibri" pitchFamily="34" charset="0"/>
                <a:ea typeface="Calibri" pitchFamily="34" charset="-122"/>
                <a:cs typeface="Calibri" pitchFamily="34" charset="-120"/>
              </a:rPr>
              <a:t>Refusal conversions skewed older, less educated, less optimistic.</a:t>
            </a:r>
            <a:endParaRPr lang="en-US" sz="1250" dirty="0"/>
          </a:p>
        </p:txBody>
      </p:sp>
      <p:sp>
        <p:nvSpPr>
          <p:cNvPr id="8" name="Shape 6"/>
          <p:cNvSpPr/>
          <p:nvPr/>
        </p:nvSpPr>
        <p:spPr>
          <a:xfrm>
            <a:off x="4800600" y="1371600"/>
            <a:ext cx="4023360" cy="2286000"/>
          </a:xfrm>
          <a:prstGeom prst="rect">
            <a:avLst/>
          </a:prstGeom>
          <a:solidFill>
            <a:srgbClr val="FFFFFF"/>
          </a:solidFill>
          <a:ln w="12700">
            <a:solidFill>
              <a:srgbClr val="EAECEF"/>
            </a:solidFill>
            <a:prstDash val="solid"/>
          </a:ln>
          <a:effectLst>
            <a:outerShdw sx="100000" sy="100000" kx="0" ky="0" algn="bl" rotWithShape="0" blurRad="88900" dist="25400" dir="8100000">
              <a:srgbClr val="000000">
                <a:alpha val="16000"/>
              </a:srgbClr>
            </a:outerShdw>
          </a:effectLst>
        </p:spPr>
      </p:sp>
      <p:sp>
        <p:nvSpPr>
          <p:cNvPr id="9" name="Shape 7"/>
          <p:cNvSpPr/>
          <p:nvPr/>
        </p:nvSpPr>
        <p:spPr>
          <a:xfrm>
            <a:off x="4800600" y="1371600"/>
            <a:ext cx="4023360" cy="512064"/>
          </a:xfrm>
          <a:prstGeom prst="rect">
            <a:avLst/>
          </a:prstGeom>
          <a:solidFill>
            <a:srgbClr val="3A7D44"/>
          </a:solidFill>
          <a:ln/>
        </p:spPr>
      </p:sp>
      <p:sp>
        <p:nvSpPr>
          <p:cNvPr id="10" name="Text 8"/>
          <p:cNvSpPr/>
          <p:nvPr/>
        </p:nvSpPr>
        <p:spPr>
          <a:xfrm>
            <a:off x="4800600" y="1371600"/>
            <a:ext cx="4023360"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Trends are sturdier than levels</a:t>
            </a:r>
            <a:endParaRPr lang="en-US" sz="1400" dirty="0"/>
          </a:p>
        </p:txBody>
      </p:sp>
      <p:sp>
        <p:nvSpPr>
          <p:cNvPr id="11" name="Text 9"/>
          <p:cNvSpPr/>
          <p:nvPr/>
        </p:nvSpPr>
        <p:spPr>
          <a:xfrm>
            <a:off x="5029200" y="2029968"/>
            <a:ext cx="3566160" cy="1463040"/>
          </a:xfrm>
          <a:prstGeom prst="rect">
            <a:avLst/>
          </a:prstGeom>
          <a:noFill/>
          <a:ln/>
        </p:spPr>
        <p:txBody>
          <a:bodyPr wrap="square" lIns="0" tIns="0" rIns="0" bIns="0" rtlCol="0" anchor="ctr"/>
          <a:lstStyle/>
          <a:p>
            <a:pPr marL="342900" indent="-342900">
              <a:lnSpc>
                <a:spcPct val="106000"/>
              </a:lnSpc>
              <a:spcAft>
                <a:spcPts val="800"/>
              </a:spcAft>
              <a:buSzPct val="100000"/>
              <a:buChar char="•"/>
            </a:pPr>
            <a:r>
              <a:rPr lang="en-US" sz="1250" dirty="0">
                <a:solidFill>
                  <a:srgbClr val="262B33"/>
                </a:solidFill>
                <a:latin typeface="Calibri" pitchFamily="34" charset="0"/>
                <a:ea typeface="Calibri" pitchFamily="34" charset="-122"/>
                <a:cs typeface="Calibri" pitchFamily="34" charset="-120"/>
              </a:rPr>
              <a:t>Excluding hard-to-reach cases shifted levels only modestly…</a:t>
            </a:r>
            <a:endParaRPr lang="en-US" sz="1250" dirty="0"/>
          </a:p>
          <a:p>
            <a:pPr marL="342900" indent="-342900">
              <a:lnSpc>
                <a:spcPct val="106000"/>
              </a:lnSpc>
              <a:spcAft>
                <a:spcPts val="800"/>
              </a:spcAft>
              <a:buSzPct val="100000"/>
              <a:buChar char="•"/>
            </a:pPr>
            <a:r>
              <a:rPr lang="en-US" sz="1250" dirty="0">
                <a:solidFill>
                  <a:srgbClr val="262B33"/>
                </a:solidFill>
                <a:latin typeface="Calibri" pitchFamily="34" charset="0"/>
                <a:ea typeface="Calibri" pitchFamily="34" charset="-122"/>
                <a:cs typeface="Calibri" pitchFamily="34" charset="-120"/>
              </a:rPr>
              <a:t>…and estimates of change over time stayed remarkably robust — harder and easier respondents change at similar rates.</a:t>
            </a:r>
            <a:endParaRPr lang="en-US" sz="1250" dirty="0"/>
          </a:p>
        </p:txBody>
      </p:sp>
      <p:sp>
        <p:nvSpPr>
          <p:cNvPr id="12" name="Shape 10"/>
          <p:cNvSpPr/>
          <p:nvPr/>
        </p:nvSpPr>
        <p:spPr>
          <a:xfrm>
            <a:off x="502920" y="3931920"/>
            <a:ext cx="8229600" cy="731520"/>
          </a:xfrm>
          <a:prstGeom prst="rect">
            <a:avLst/>
          </a:prstGeom>
          <a:solidFill>
            <a:srgbClr val="1B2A4A"/>
          </a:solidFill>
          <a:ln/>
        </p:spPr>
      </p:sp>
      <p:sp>
        <p:nvSpPr>
          <p:cNvPr id="13" name="Text 11"/>
          <p:cNvSpPr/>
          <p:nvPr/>
        </p:nvSpPr>
        <p:spPr>
          <a:xfrm>
            <a:off x="713232" y="3931920"/>
            <a:ext cx="7772400" cy="731520"/>
          </a:xfrm>
          <a:prstGeom prst="rect">
            <a:avLst/>
          </a:prstGeom>
          <a:noFill/>
          <a:ln/>
        </p:spPr>
        <p:txBody>
          <a:bodyPr wrap="square" lIns="0" tIns="0" rIns="0" bIns="0" rtlCol="0" anchor="ctr"/>
          <a:lstStyle/>
          <a:p>
            <a:pPr indent="0" marL="0">
              <a:lnSpc>
                <a:spcPct val="104000"/>
              </a:lnSpc>
              <a:buNone/>
            </a:pPr>
            <a:r>
              <a:rPr lang="en-US" sz="1350" b="1" dirty="0">
                <a:solidFill>
                  <a:srgbClr val="FFFFFF"/>
                </a:solidFill>
                <a:latin typeface="Calibri" pitchFamily="34" charset="0"/>
                <a:ea typeface="Calibri" pitchFamily="34" charset="-122"/>
                <a:cs typeface="Calibri" pitchFamily="34" charset="-120"/>
              </a:rPr>
              <a:t>For trackers: </a:t>
            </a:r>
            <a:pPr indent="0" marL="0">
              <a:lnSpc>
                <a:spcPct val="104000"/>
              </a:lnSpc>
              <a:buNone/>
            </a:pPr>
            <a:r>
              <a:rPr lang="en-US" sz="1350" dirty="0">
                <a:solidFill>
                  <a:srgbClr val="D7DEEA"/>
                </a:solidFill>
                <a:latin typeface="Calibri" pitchFamily="34" charset="0"/>
                <a:ea typeface="Calibri" pitchFamily="34" charset="-122"/>
                <a:cs typeface="Calibri" pitchFamily="34" charset="-120"/>
              </a:rPr>
              <a:t>keep the design consistent and disclose changes — a level shift right after a design change may be method, not opinion.</a:t>
            </a:r>
            <a:endParaRPr lang="en-US" sz="1350" dirty="0"/>
          </a:p>
        </p:txBody>
      </p:sp>
      <p:sp>
        <p:nvSpPr>
          <p:cNvPr id="14" name="Text 12"/>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40080" y="1993392"/>
            <a:ext cx="566928" cy="82296"/>
          </a:xfrm>
          <a:prstGeom prst="rect">
            <a:avLst/>
          </a:prstGeom>
          <a:solidFill>
            <a:srgbClr val="B5651D"/>
          </a:solidFill>
          <a:ln/>
        </p:spPr>
      </p:sp>
      <p:sp>
        <p:nvSpPr>
          <p:cNvPr id="3" name="Text 1"/>
          <p:cNvSpPr/>
          <p:nvPr/>
        </p:nvSpPr>
        <p:spPr>
          <a:xfrm>
            <a:off x="640080" y="1517904"/>
            <a:ext cx="7863840" cy="365760"/>
          </a:xfrm>
          <a:prstGeom prst="rect">
            <a:avLst/>
          </a:prstGeom>
          <a:noFill/>
          <a:ln/>
        </p:spPr>
        <p:txBody>
          <a:bodyPr wrap="square" lIns="0" tIns="0" rIns="0" bIns="0" rtlCol="0" anchor="ctr"/>
          <a:lstStyle/>
          <a:p>
            <a:pPr indent="0" marL="0">
              <a:buNone/>
            </a:pPr>
            <a:r>
              <a:rPr lang="en-US" sz="1400" b="1" spc="300" kern="0" dirty="0">
                <a:solidFill>
                  <a:srgbClr val="D6E6F2"/>
                </a:solidFill>
                <a:latin typeface="Calibri" pitchFamily="34" charset="0"/>
                <a:ea typeface="Calibri" pitchFamily="34" charset="-122"/>
                <a:cs typeface="Calibri" pitchFamily="34" charset="-120"/>
              </a:rPr>
              <a:t>SECTION 3</a:t>
            </a:r>
            <a:endParaRPr lang="en-US" sz="1400" dirty="0"/>
          </a:p>
        </p:txBody>
      </p:sp>
      <p:sp>
        <p:nvSpPr>
          <p:cNvPr id="4" name="Text 2"/>
          <p:cNvSpPr/>
          <p:nvPr/>
        </p:nvSpPr>
        <p:spPr>
          <a:xfrm>
            <a:off x="640080" y="2212848"/>
            <a:ext cx="7863840" cy="1188720"/>
          </a:xfrm>
          <a:prstGeom prst="rect">
            <a:avLst/>
          </a:prstGeom>
          <a:noFill/>
          <a:ln/>
        </p:spPr>
        <p:txBody>
          <a:bodyPr wrap="square" lIns="0" tIns="0" rIns="0" bIns="0"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The AI Landscape in Survey Research  —  Buskirk (2026)</a:t>
            </a:r>
            <a:endParaRPr lang="en-US" sz="3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B5651D"/>
                </a:solidFill>
                <a:latin typeface="Calibri" pitchFamily="34" charset="0"/>
                <a:ea typeface="Calibri" pitchFamily="34" charset="-122"/>
                <a:cs typeface="Calibri" pitchFamily="34" charset="-120"/>
              </a:rPr>
              <a:t>DEFINITIONS</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What do we mean by “AI”?</a:t>
            </a:r>
            <a:endParaRPr lang="en-US" sz="2700" dirty="0"/>
          </a:p>
        </p:txBody>
      </p:sp>
      <p:sp>
        <p:nvSpPr>
          <p:cNvPr id="4" name="Shape 2"/>
          <p:cNvSpPr/>
          <p:nvPr/>
        </p:nvSpPr>
        <p:spPr>
          <a:xfrm>
            <a:off x="914400" y="1325880"/>
            <a:ext cx="4480560" cy="3246120"/>
          </a:xfrm>
          <a:prstGeom prst="rect">
            <a:avLst/>
          </a:prstGeom>
          <a:solidFill>
            <a:srgbClr val="EAF1F7"/>
          </a:solidFill>
          <a:ln w="15875">
            <a:solidFill>
              <a:srgbClr val="FFFFFF"/>
            </a:solidFill>
            <a:prstDash val="solid"/>
          </a:ln>
        </p:spPr>
      </p:sp>
      <p:sp>
        <p:nvSpPr>
          <p:cNvPr id="5" name="Shape 3"/>
          <p:cNvSpPr/>
          <p:nvPr/>
        </p:nvSpPr>
        <p:spPr>
          <a:xfrm>
            <a:off x="1353312" y="1673352"/>
            <a:ext cx="3602736" cy="2551176"/>
          </a:xfrm>
          <a:prstGeom prst="rect">
            <a:avLst/>
          </a:prstGeom>
          <a:solidFill>
            <a:srgbClr val="CFE1F0"/>
          </a:solidFill>
          <a:ln w="15875">
            <a:solidFill>
              <a:srgbClr val="FFFFFF"/>
            </a:solidFill>
            <a:prstDash val="solid"/>
          </a:ln>
        </p:spPr>
      </p:sp>
      <p:sp>
        <p:nvSpPr>
          <p:cNvPr id="6" name="Shape 4"/>
          <p:cNvSpPr/>
          <p:nvPr/>
        </p:nvSpPr>
        <p:spPr>
          <a:xfrm>
            <a:off x="1792224" y="2020824"/>
            <a:ext cx="2724912" cy="1856232"/>
          </a:xfrm>
          <a:prstGeom prst="rect">
            <a:avLst/>
          </a:prstGeom>
          <a:solidFill>
            <a:srgbClr val="AECBE6"/>
          </a:solidFill>
          <a:ln w="15875">
            <a:solidFill>
              <a:srgbClr val="FFFFFF"/>
            </a:solidFill>
            <a:prstDash val="solid"/>
          </a:ln>
        </p:spPr>
      </p:sp>
      <p:sp>
        <p:nvSpPr>
          <p:cNvPr id="7" name="Shape 5"/>
          <p:cNvSpPr/>
          <p:nvPr/>
        </p:nvSpPr>
        <p:spPr>
          <a:xfrm>
            <a:off x="2231136" y="2368296"/>
            <a:ext cx="1847088" cy="1161288"/>
          </a:xfrm>
          <a:prstGeom prst="rect">
            <a:avLst/>
          </a:prstGeom>
          <a:solidFill>
            <a:srgbClr val="7FB0D8"/>
          </a:solidFill>
          <a:ln w="15875">
            <a:solidFill>
              <a:srgbClr val="FFFFFF"/>
            </a:solidFill>
            <a:prstDash val="solid"/>
          </a:ln>
        </p:spPr>
      </p:sp>
      <p:sp>
        <p:nvSpPr>
          <p:cNvPr id="8" name="Shape 6"/>
          <p:cNvSpPr/>
          <p:nvPr/>
        </p:nvSpPr>
        <p:spPr>
          <a:xfrm>
            <a:off x="2670048" y="2715768"/>
            <a:ext cx="969264" cy="466344"/>
          </a:xfrm>
          <a:prstGeom prst="rect">
            <a:avLst/>
          </a:prstGeom>
          <a:solidFill>
            <a:srgbClr val="1B2A4A"/>
          </a:solidFill>
          <a:ln w="15875">
            <a:solidFill>
              <a:srgbClr val="FFFFFF"/>
            </a:solidFill>
            <a:prstDash val="solid"/>
          </a:ln>
        </p:spPr>
      </p:sp>
      <p:sp>
        <p:nvSpPr>
          <p:cNvPr id="9" name="Text 7"/>
          <p:cNvSpPr/>
          <p:nvPr/>
        </p:nvSpPr>
        <p:spPr>
          <a:xfrm>
            <a:off x="914400" y="1389888"/>
            <a:ext cx="4480560" cy="274320"/>
          </a:xfrm>
          <a:prstGeom prst="rect">
            <a:avLst/>
          </a:prstGeom>
          <a:noFill/>
          <a:ln/>
        </p:spPr>
        <p:txBody>
          <a:bodyPr wrap="square" lIns="0" tIns="0" rIns="0" bIns="0" rtlCol="0" anchor="t"/>
          <a:lstStyle/>
          <a:p>
            <a:pPr algn="ctr" indent="0" marL="0">
              <a:buNone/>
            </a:pPr>
            <a:r>
              <a:rPr lang="en-US" sz="1250" b="1" dirty="0">
                <a:solidFill>
                  <a:srgbClr val="1F4E6B"/>
                </a:solidFill>
                <a:latin typeface="Calibri" pitchFamily="34" charset="0"/>
                <a:ea typeface="Calibri" pitchFamily="34" charset="-122"/>
                <a:cs typeface="Calibri" pitchFamily="34" charset="-120"/>
              </a:rPr>
              <a:t>Artificial Intelligence</a:t>
            </a:r>
            <a:endParaRPr lang="en-US" sz="1250" dirty="0"/>
          </a:p>
        </p:txBody>
      </p:sp>
      <p:sp>
        <p:nvSpPr>
          <p:cNvPr id="10" name="Text 8"/>
          <p:cNvSpPr/>
          <p:nvPr/>
        </p:nvSpPr>
        <p:spPr>
          <a:xfrm>
            <a:off x="1353312" y="1737360"/>
            <a:ext cx="3602736" cy="274320"/>
          </a:xfrm>
          <a:prstGeom prst="rect">
            <a:avLst/>
          </a:prstGeom>
          <a:noFill/>
          <a:ln/>
        </p:spPr>
        <p:txBody>
          <a:bodyPr wrap="square" lIns="0" tIns="0" rIns="0" bIns="0" rtlCol="0" anchor="t"/>
          <a:lstStyle/>
          <a:p>
            <a:pPr algn="ctr" indent="0" marL="0">
              <a:buNone/>
            </a:pPr>
            <a:r>
              <a:rPr lang="en-US" sz="1250" b="1" dirty="0">
                <a:solidFill>
                  <a:srgbClr val="1F4E6B"/>
                </a:solidFill>
                <a:latin typeface="Calibri" pitchFamily="34" charset="0"/>
                <a:ea typeface="Calibri" pitchFamily="34" charset="-122"/>
                <a:cs typeface="Calibri" pitchFamily="34" charset="-120"/>
              </a:rPr>
              <a:t>Machine Learning</a:t>
            </a:r>
            <a:endParaRPr lang="en-US" sz="1250" dirty="0"/>
          </a:p>
        </p:txBody>
      </p:sp>
      <p:sp>
        <p:nvSpPr>
          <p:cNvPr id="11" name="Text 9"/>
          <p:cNvSpPr/>
          <p:nvPr/>
        </p:nvSpPr>
        <p:spPr>
          <a:xfrm>
            <a:off x="1792224" y="2084832"/>
            <a:ext cx="2724912" cy="274320"/>
          </a:xfrm>
          <a:prstGeom prst="rect">
            <a:avLst/>
          </a:prstGeom>
          <a:noFill/>
          <a:ln/>
        </p:spPr>
        <p:txBody>
          <a:bodyPr wrap="square" lIns="0" tIns="0" rIns="0" bIns="0" rtlCol="0" anchor="t"/>
          <a:lstStyle/>
          <a:p>
            <a:pPr algn="ctr" indent="0" marL="0">
              <a:buNone/>
            </a:pPr>
            <a:r>
              <a:rPr lang="en-US" sz="1250" b="1" dirty="0">
                <a:solidFill>
                  <a:srgbClr val="1F4E6B"/>
                </a:solidFill>
                <a:latin typeface="Calibri" pitchFamily="34" charset="0"/>
                <a:ea typeface="Calibri" pitchFamily="34" charset="-122"/>
                <a:cs typeface="Calibri" pitchFamily="34" charset="-120"/>
              </a:rPr>
              <a:t>Deep Learning</a:t>
            </a:r>
            <a:endParaRPr lang="en-US" sz="1250" dirty="0"/>
          </a:p>
        </p:txBody>
      </p:sp>
      <p:sp>
        <p:nvSpPr>
          <p:cNvPr id="12" name="Text 10"/>
          <p:cNvSpPr/>
          <p:nvPr/>
        </p:nvSpPr>
        <p:spPr>
          <a:xfrm>
            <a:off x="2231136" y="2432304"/>
            <a:ext cx="1847088"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Generative AI</a:t>
            </a:r>
            <a:endParaRPr lang="en-US" sz="1250" dirty="0"/>
          </a:p>
        </p:txBody>
      </p:sp>
      <p:sp>
        <p:nvSpPr>
          <p:cNvPr id="13" name="Text 11"/>
          <p:cNvSpPr/>
          <p:nvPr/>
        </p:nvSpPr>
        <p:spPr>
          <a:xfrm>
            <a:off x="2670048" y="2715768"/>
            <a:ext cx="969264"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LLMs</a:t>
            </a:r>
            <a:endParaRPr lang="en-US" sz="1200" dirty="0"/>
          </a:p>
        </p:txBody>
      </p:sp>
      <p:sp>
        <p:nvSpPr>
          <p:cNvPr id="14" name="Text 12"/>
          <p:cNvSpPr/>
          <p:nvPr/>
        </p:nvSpPr>
        <p:spPr>
          <a:xfrm>
            <a:off x="5760720" y="1554480"/>
            <a:ext cx="2971800" cy="1280160"/>
          </a:xfrm>
          <a:prstGeom prst="rect">
            <a:avLst/>
          </a:prstGeom>
          <a:noFill/>
          <a:ln/>
        </p:spPr>
        <p:txBody>
          <a:bodyPr wrap="square" lIns="0" tIns="0" rIns="0" bIns="0" rtlCol="0" anchor="ctr"/>
          <a:lstStyle/>
          <a:p>
            <a:pPr indent="0" marL="0">
              <a:lnSpc>
                <a:spcPct val="108000"/>
              </a:lnSpc>
              <a:buNone/>
            </a:pPr>
            <a:r>
              <a:rPr lang="en-US" sz="1400" b="1" dirty="0">
                <a:solidFill>
                  <a:srgbClr val="262B33"/>
                </a:solidFill>
                <a:latin typeface="Calibri" pitchFamily="34" charset="0"/>
                <a:ea typeface="Calibri" pitchFamily="34" charset="-122"/>
                <a:cs typeface="Calibri" pitchFamily="34" charset="-120"/>
              </a:rPr>
              <a:t>A nested simplification: </a:t>
            </a:r>
            <a:pPr indent="0" marL="0">
              <a:lnSpc>
                <a:spcPct val="108000"/>
              </a:lnSpc>
              <a:buNone/>
            </a:pPr>
            <a:r>
              <a:rPr lang="en-US" sz="1400" dirty="0">
                <a:solidFill>
                  <a:srgbClr val="262B33"/>
                </a:solidFill>
                <a:latin typeface="Calibri" pitchFamily="34" charset="0"/>
                <a:ea typeface="Calibri" pitchFamily="34" charset="-122"/>
                <a:cs typeface="Calibri" pitchFamily="34" charset="-120"/>
              </a:rPr>
              <a:t>LLMs are one kind of generative AI, built on deep learning, within machine learning and AI.</a:t>
            </a:r>
            <a:endParaRPr lang="en-US" sz="1400" dirty="0"/>
          </a:p>
        </p:txBody>
      </p:sp>
      <p:sp>
        <p:nvSpPr>
          <p:cNvPr id="15" name="Text 13"/>
          <p:cNvSpPr/>
          <p:nvPr/>
        </p:nvSpPr>
        <p:spPr>
          <a:xfrm>
            <a:off x="5760720" y="2880360"/>
            <a:ext cx="2971800" cy="1463040"/>
          </a:xfrm>
          <a:prstGeom prst="rect">
            <a:avLst/>
          </a:prstGeom>
          <a:noFill/>
          <a:ln/>
        </p:spPr>
        <p:txBody>
          <a:bodyPr wrap="square" lIns="0" tIns="0" rIns="0" bIns="0" rtlCol="0" anchor="ctr"/>
          <a:lstStyle/>
          <a:p>
            <a:pPr indent="0" marL="0">
              <a:lnSpc>
                <a:spcPct val="108000"/>
              </a:lnSpc>
              <a:buNone/>
            </a:pPr>
            <a:r>
              <a:rPr lang="en-US" sz="1400" dirty="0">
                <a:solidFill>
                  <a:srgbClr val="262B33"/>
                </a:solidFill>
                <a:latin typeface="Calibri" pitchFamily="34" charset="0"/>
                <a:ea typeface="Calibri" pitchFamily="34" charset="-122"/>
                <a:cs typeface="Calibri" pitchFamily="34" charset="-120"/>
              </a:rPr>
              <a:t>LLMs learn statistical patterns in language and are not deterministic — they generate probable, sometimes variable, text.</a:t>
            </a:r>
            <a:endParaRPr lang="en-US" sz="1400" dirty="0"/>
          </a:p>
        </p:txBody>
      </p:sp>
      <p:sp>
        <p:nvSpPr>
          <p:cNvPr id="16" name="Text 14"/>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B5651D"/>
                </a:solidFill>
                <a:latin typeface="Calibri" pitchFamily="34" charset="0"/>
                <a:ea typeface="Calibri" pitchFamily="34" charset="-122"/>
                <a:cs typeface="Calibri" pitchFamily="34" charset="-120"/>
              </a:rPr>
              <a:t>THE CENTRAL QUESTION</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Where does AI belong in the survey loop?</a:t>
            </a:r>
            <a:endParaRPr lang="en-US" sz="2700" dirty="0"/>
          </a:p>
        </p:txBody>
      </p:sp>
      <p:sp>
        <p:nvSpPr>
          <p:cNvPr id="4" name="Shape 2"/>
          <p:cNvSpPr/>
          <p:nvPr/>
        </p:nvSpPr>
        <p:spPr>
          <a:xfrm>
            <a:off x="502920" y="1417320"/>
            <a:ext cx="3931920" cy="2788920"/>
          </a:xfrm>
          <a:prstGeom prst="rect">
            <a:avLst/>
          </a:prstGeom>
          <a:solidFill>
            <a:srgbClr val="DCEADD"/>
          </a:solidFill>
          <a:ln/>
        </p:spPr>
      </p:sp>
      <p:sp>
        <p:nvSpPr>
          <p:cNvPr id="5" name="Shape 3"/>
          <p:cNvSpPr/>
          <p:nvPr/>
        </p:nvSpPr>
        <p:spPr>
          <a:xfrm>
            <a:off x="502920" y="1417320"/>
            <a:ext cx="3931920" cy="457200"/>
          </a:xfrm>
          <a:prstGeom prst="rect">
            <a:avLst/>
          </a:prstGeom>
          <a:solidFill>
            <a:srgbClr val="3A7D44"/>
          </a:solidFill>
          <a:ln/>
        </p:spPr>
      </p:sp>
      <p:sp>
        <p:nvSpPr>
          <p:cNvPr id="6" name="Text 4"/>
          <p:cNvSpPr/>
          <p:nvPr/>
        </p:nvSpPr>
        <p:spPr>
          <a:xfrm>
            <a:off x="502920" y="1417320"/>
            <a:ext cx="393192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USE AI TO OPERATE</a:t>
            </a:r>
            <a:endParaRPr lang="en-US" sz="1350" dirty="0"/>
          </a:p>
        </p:txBody>
      </p:sp>
      <p:sp>
        <p:nvSpPr>
          <p:cNvPr id="7" name="Text 5"/>
          <p:cNvSpPr/>
          <p:nvPr/>
        </p:nvSpPr>
        <p:spPr>
          <a:xfrm>
            <a:off x="713232" y="2020824"/>
            <a:ext cx="3520440" cy="2011680"/>
          </a:xfrm>
          <a:prstGeom prst="rect">
            <a:avLst/>
          </a:prstGeom>
          <a:noFill/>
          <a:ln/>
        </p:spPr>
        <p:txBody>
          <a:bodyPr wrap="square" lIns="0" tIns="0" rIns="0" bIns="0" rtlCol="0" anchor="ctr"/>
          <a:lstStyle/>
          <a:p>
            <a:pPr indent="0" marL="0">
              <a:lnSpc>
                <a:spcPct val="110000"/>
              </a:lnSpc>
              <a:buNone/>
            </a:pPr>
            <a:r>
              <a:rPr lang="en-US" sz="1400" b="1" dirty="0">
                <a:solidFill>
                  <a:srgbClr val="262B33"/>
                </a:solidFill>
                <a:latin typeface="Calibri" pitchFamily="34" charset="0"/>
                <a:ea typeface="Calibri" pitchFamily="34" charset="-122"/>
                <a:cs typeface="Calibri" pitchFamily="34" charset="-120"/>
              </a:rPr>
              <a:t>Improve how surveys run.</a:t>
            </a:r>
            <a:endParaRPr lang="en-US" sz="1400" dirty="0"/>
          </a:p>
          <a:p>
            <a:pPr indent="0" marL="0">
              <a:lnSpc>
                <a:spcPct val="110000"/>
              </a:lnSpc>
              <a:buNone/>
            </a:pPr>
            <a:r>
              <a:rPr lang="en-US" sz="1400" dirty="0">
                <a:solidFill>
                  <a:srgbClr val="262B33"/>
                </a:solidFill>
                <a:latin typeface="Calibri" pitchFamily="34" charset="0"/>
                <a:ea typeface="Calibri" pitchFamily="34" charset="-122"/>
                <a:cs typeface="Calibri" pitchFamily="34" charset="-120"/>
              </a:rPr>
              <a:t>Detect problems earlier, adapt in the field, reduce respondent and staff burden.</a:t>
            </a:r>
            <a:endParaRPr lang="en-US" sz="1400" dirty="0"/>
          </a:p>
        </p:txBody>
      </p:sp>
      <p:sp>
        <p:nvSpPr>
          <p:cNvPr id="8" name="Shape 6"/>
          <p:cNvSpPr/>
          <p:nvPr/>
        </p:nvSpPr>
        <p:spPr>
          <a:xfrm>
            <a:off x="4690872" y="1417320"/>
            <a:ext cx="3931920" cy="2788920"/>
          </a:xfrm>
          <a:prstGeom prst="rect">
            <a:avLst/>
          </a:prstGeom>
          <a:solidFill>
            <a:srgbClr val="D6E6F2"/>
          </a:solidFill>
          <a:ln/>
        </p:spPr>
      </p:sp>
      <p:sp>
        <p:nvSpPr>
          <p:cNvPr id="9" name="Shape 7"/>
          <p:cNvSpPr/>
          <p:nvPr/>
        </p:nvSpPr>
        <p:spPr>
          <a:xfrm>
            <a:off x="4690872" y="1417320"/>
            <a:ext cx="3931920" cy="457200"/>
          </a:xfrm>
          <a:prstGeom prst="rect">
            <a:avLst/>
          </a:prstGeom>
          <a:solidFill>
            <a:srgbClr val="1B2A4A"/>
          </a:solidFill>
          <a:ln/>
        </p:spPr>
      </p:sp>
      <p:sp>
        <p:nvSpPr>
          <p:cNvPr id="10" name="Text 8"/>
          <p:cNvSpPr/>
          <p:nvPr/>
        </p:nvSpPr>
        <p:spPr>
          <a:xfrm>
            <a:off x="4690872" y="1417320"/>
            <a:ext cx="393192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KEEP HUMAN-LED</a:t>
            </a:r>
            <a:endParaRPr lang="en-US" sz="1350" dirty="0"/>
          </a:p>
        </p:txBody>
      </p:sp>
      <p:sp>
        <p:nvSpPr>
          <p:cNvPr id="11" name="Text 9"/>
          <p:cNvSpPr/>
          <p:nvPr/>
        </p:nvSpPr>
        <p:spPr>
          <a:xfrm>
            <a:off x="4901184" y="2020824"/>
            <a:ext cx="3520440" cy="2011680"/>
          </a:xfrm>
          <a:prstGeom prst="rect">
            <a:avLst/>
          </a:prstGeom>
          <a:noFill/>
          <a:ln/>
        </p:spPr>
        <p:txBody>
          <a:bodyPr wrap="square" lIns="0" tIns="0" rIns="0" bIns="0" rtlCol="0" anchor="ctr"/>
          <a:lstStyle/>
          <a:p>
            <a:pPr indent="0" marL="0">
              <a:lnSpc>
                <a:spcPct val="110000"/>
              </a:lnSpc>
              <a:buNone/>
            </a:pPr>
            <a:r>
              <a:rPr lang="en-US" sz="1400" b="1" dirty="0">
                <a:solidFill>
                  <a:srgbClr val="262B33"/>
                </a:solidFill>
                <a:latin typeface="Calibri" pitchFamily="34" charset="0"/>
                <a:ea typeface="Calibri" pitchFamily="34" charset="-122"/>
                <a:cs typeface="Calibri" pitchFamily="34" charset="-120"/>
              </a:rPr>
              <a:t>Inference, transparency, reproducibility, validity.</a:t>
            </a:r>
            <a:endParaRPr lang="en-US" sz="1400" dirty="0"/>
          </a:p>
          <a:p>
            <a:pPr indent="0" marL="0">
              <a:lnSpc>
                <a:spcPct val="110000"/>
              </a:lnSpc>
              <a:buNone/>
            </a:pPr>
            <a:r>
              <a:rPr lang="en-US" sz="1400" dirty="0">
                <a:solidFill>
                  <a:srgbClr val="262B33"/>
                </a:solidFill>
                <a:latin typeface="Calibri" pitchFamily="34" charset="0"/>
                <a:ea typeface="Calibri" pitchFamily="34" charset="-122"/>
                <a:cs typeface="Calibri" pitchFamily="34" charset="-120"/>
              </a:rPr>
              <a:t>AI should inform these decisions, not make them.</a:t>
            </a:r>
            <a:endParaRPr lang="en-US" sz="1400" dirty="0"/>
          </a:p>
        </p:txBody>
      </p:sp>
      <p:sp>
        <p:nvSpPr>
          <p:cNvPr id="12" name="Text 10"/>
          <p:cNvSpPr/>
          <p:nvPr/>
        </p:nvSpPr>
        <p:spPr>
          <a:xfrm>
            <a:off x="502920" y="4352544"/>
            <a:ext cx="8229600" cy="548640"/>
          </a:xfrm>
          <a:prstGeom prst="rect">
            <a:avLst/>
          </a:prstGeom>
          <a:noFill/>
          <a:ln/>
        </p:spPr>
        <p:txBody>
          <a:bodyPr wrap="square" lIns="0" tIns="0" rIns="0" bIns="0" rtlCol="0" anchor="ctr"/>
          <a:lstStyle/>
          <a:p>
            <a:pPr algn="ctr" indent="0" marL="0">
              <a:lnSpc>
                <a:spcPct val="104000"/>
              </a:lnSpc>
              <a:buNone/>
            </a:pPr>
            <a:r>
              <a:rPr lang="en-US" sz="1250" b="1" dirty="0">
                <a:solidFill>
                  <a:srgbClr val="1B2A4A"/>
                </a:solidFill>
                <a:latin typeface="Calibri" pitchFamily="34" charset="0"/>
                <a:ea typeface="Calibri" pitchFamily="34" charset="-122"/>
                <a:cs typeface="Calibri" pitchFamily="34" charset="-120"/>
              </a:rPr>
              <a:t>Probability surveys have always been human-in-the-loop. </a:t>
            </a:r>
            <a:pPr algn="ctr" indent="0" marL="0">
              <a:lnSpc>
                <a:spcPct val="104000"/>
              </a:lnSpc>
              <a:buNone/>
            </a:pPr>
            <a:r>
              <a:rPr lang="en-US" sz="1250" dirty="0">
                <a:solidFill>
                  <a:srgbClr val="1B2A4A"/>
                </a:solidFill>
                <a:latin typeface="Calibri" pitchFamily="34" charset="0"/>
                <a:ea typeface="Calibri" pitchFamily="34" charset="-122"/>
                <a:cs typeface="Calibri" pitchFamily="34" charset="-120"/>
              </a:rPr>
              <a:t>The near-term future is intentional augmentation, not full automation — and probability samples can help align and correct AI, not only the reverse.</a:t>
            </a:r>
            <a:endParaRPr lang="en-US" sz="1250" dirty="0"/>
          </a:p>
        </p:txBody>
      </p:sp>
      <p:sp>
        <p:nvSpPr>
          <p:cNvPr id="13" name="Text 11"/>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B5651D"/>
                </a:solidFill>
                <a:latin typeface="Calibri" pitchFamily="34" charset="0"/>
                <a:ea typeface="Calibri" pitchFamily="34" charset="-122"/>
                <a:cs typeface="Calibri" pitchFamily="34" charset="-120"/>
              </a:rPr>
              <a:t>ACROSS THE SURVEY PROCESS</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Promise &amp; precaution</a:t>
            </a:r>
            <a:endParaRPr lang="en-US" sz="2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234440"/>
                <a:gridCol w="3497580"/>
                <a:gridCol w="349758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Phase</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Promise</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Precaution</a:t>
                      </a:r>
                      <a:endParaRPr lang="en-US" sz="130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A4A"/>
                    </a:solidFill>
                  </a:tcPr>
                </a:tc>
              </a:tr>
              <a:tr h="868680">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Pre-</a:t>
                      </a:r>
                      <a:endParaRPr lang="en-US" sz="1250" dirty="0">
                        <a:latin typeface="Calibri" charset="0"/>
                        <a:ea typeface="Calibri" charset="0"/>
                        <a:cs typeface="Calibri" charset="0"/>
                      </a:endParaRPr>
                    </a:p>
                    <a:p>
                      <a:pPr indent="0" marL="0">
                        <a:buNone/>
                      </a:pPr>
                      <a:r>
                        <a:rPr lang="en-US" sz="1250" b="1" dirty="0">
                          <a:solidFill>
                            <a:srgbClr val="1B2A4A"/>
                          </a:solidFill>
                          <a:latin typeface="Calibri" pitchFamily="34" charset="0"/>
                          <a:ea typeface="Calibri" pitchFamily="34" charset="-122"/>
                          <a:cs typeface="Calibri" pitchFamily="34" charset="-120"/>
                        </a:rPr>
                        <a:t>collection</a:t>
                      </a:r>
                      <a:endParaRPr lang="en-US" sz="12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CEF"/>
                    </a:solidFill>
                  </a:tcPr>
                </a:tc>
                <a:tc>
                  <a:txBody>
                    <a:bodyPr/>
                    <a:lstStyle/>
                    <a:p>
                      <a:pPr indent="0" marL="0">
                        <a:buNone/>
                      </a:pPr>
                      <a:r>
                        <a:rPr lang="en-US" sz="1150" dirty="0">
                          <a:solidFill>
                            <a:srgbClr val="262B33"/>
                          </a:solidFill>
                          <a:latin typeface="Calibri" pitchFamily="34" charset="0"/>
                          <a:ea typeface="Calibri" pitchFamily="34" charset="-122"/>
                          <a:cs typeface="Calibri" pitchFamily="34" charset="-120"/>
                        </a:rPr>
                        <a:t>Draft and diversify questionnaire items; readability support.</a:t>
                      </a:r>
                      <a:endParaRPr lang="en-US" sz="11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ADD"/>
                    </a:solidFill>
                  </a:tcPr>
                </a:tc>
                <a:tc>
                  <a:txBody>
                    <a:bodyPr/>
                    <a:lstStyle/>
                    <a:p>
                      <a:pPr indent="0" marL="0">
                        <a:buNone/>
                      </a:pPr>
                      <a:r>
                        <a:rPr lang="en-US" sz="1150" dirty="0">
                          <a:solidFill>
                            <a:srgbClr val="262B33"/>
                          </a:solidFill>
                          <a:latin typeface="Calibri" pitchFamily="34" charset="0"/>
                          <a:ea typeface="Calibri" pitchFamily="34" charset="-122"/>
                          <a:cs typeface="Calibri" pitchFamily="34" charset="-120"/>
                        </a:rPr>
                        <a:t>Models stumble on negatively-keyed items; open-source readability tools are still more reliable.</a:t>
                      </a:r>
                      <a:endParaRPr lang="en-US" sz="11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DEDE"/>
                    </a:solidFill>
                  </a:tcPr>
                </a:tc>
              </a:tr>
              <a:tr h="960120">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p>
                      <a:pPr indent="0" marL="0">
                        <a:buNone/>
                      </a:pPr>
                      <a:r>
                        <a:rPr lang="en-US" sz="1250" b="1" dirty="0">
                          <a:solidFill>
                            <a:srgbClr val="1B2A4A"/>
                          </a:solidFill>
                          <a:latin typeface="Calibri" pitchFamily="34" charset="0"/>
                          <a:ea typeface="Calibri" pitchFamily="34" charset="-122"/>
                          <a:cs typeface="Calibri" pitchFamily="34" charset="-120"/>
                        </a:rPr>
                        <a:t>collection</a:t>
                      </a:r>
                      <a:endParaRPr lang="en-US" sz="12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CEF"/>
                    </a:solidFill>
                  </a:tcPr>
                </a:tc>
                <a:tc>
                  <a:txBody>
                    <a:bodyPr/>
                    <a:lstStyle/>
                    <a:p>
                      <a:pPr indent="0" marL="0">
                        <a:buNone/>
                      </a:pPr>
                      <a:r>
                        <a:rPr lang="en-US" sz="1150" dirty="0">
                          <a:solidFill>
                            <a:srgbClr val="262B33"/>
                          </a:solidFill>
                          <a:latin typeface="Calibri" pitchFamily="34" charset="0"/>
                          <a:ea typeface="Calibri" pitchFamily="34" charset="-122"/>
                          <a:cs typeface="Calibri" pitchFamily="34" charset="-120"/>
                        </a:rPr>
                        <a:t>Conversational probing can raise open-ended detail; “silicon” / synthetic respondents for hard-to-reach groups.</a:t>
                      </a:r>
                      <a:endParaRPr lang="en-US" sz="11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ADD"/>
                    </a:solidFill>
                  </a:tcPr>
                </a:tc>
                <a:tc>
                  <a:txBody>
                    <a:bodyPr/>
                    <a:lstStyle/>
                    <a:p>
                      <a:pPr indent="0" marL="0">
                        <a:buNone/>
                      </a:pPr>
                      <a:r>
                        <a:rPr lang="en-US" sz="1150" dirty="0">
                          <a:solidFill>
                            <a:srgbClr val="262B33"/>
                          </a:solidFill>
                          <a:latin typeface="Calibri" pitchFamily="34" charset="0"/>
                          <a:ea typeface="Calibri" pitchFamily="34" charset="-122"/>
                          <a:cs typeface="Calibri" pitchFamily="34" charset="-120"/>
                        </a:rPr>
                        <a:t>Synthetic answers are less variable, prompt- and model-dependent, can under-represent groups; autonomous AI can evade detection.</a:t>
                      </a:r>
                      <a:endParaRPr lang="en-US" sz="11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DEDE"/>
                    </a:solidFill>
                  </a:tcPr>
                </a:tc>
              </a:tr>
              <a:tr h="777240">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Post-</a:t>
                      </a:r>
                      <a:endParaRPr lang="en-US" sz="1250" dirty="0">
                        <a:latin typeface="Calibri" charset="0"/>
                        <a:ea typeface="Calibri" charset="0"/>
                        <a:cs typeface="Calibri" charset="0"/>
                      </a:endParaRPr>
                    </a:p>
                    <a:p>
                      <a:pPr indent="0" marL="0">
                        <a:buNone/>
                      </a:pPr>
                      <a:r>
                        <a:rPr lang="en-US" sz="1250" b="1" dirty="0">
                          <a:solidFill>
                            <a:srgbClr val="1B2A4A"/>
                          </a:solidFill>
                          <a:latin typeface="Calibri" pitchFamily="34" charset="0"/>
                          <a:ea typeface="Calibri" pitchFamily="34" charset="-122"/>
                          <a:cs typeface="Calibri" pitchFamily="34" charset="-120"/>
                        </a:rPr>
                        <a:t>collection</a:t>
                      </a:r>
                      <a:endParaRPr lang="en-US" sz="12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CEF"/>
                    </a:solidFill>
                  </a:tcPr>
                </a:tc>
                <a:tc>
                  <a:txBody>
                    <a:bodyPr/>
                    <a:lstStyle/>
                    <a:p>
                      <a:pPr indent="0" marL="0">
                        <a:buNone/>
                      </a:pPr>
                      <a:r>
                        <a:rPr lang="en-US" sz="1150" dirty="0">
                          <a:solidFill>
                            <a:srgbClr val="262B33"/>
                          </a:solidFill>
                          <a:latin typeface="Calibri" pitchFamily="34" charset="0"/>
                          <a:ea typeface="Calibri" pitchFamily="34" charset="-122"/>
                          <a:cs typeface="Calibri" pitchFamily="34" charset="-120"/>
                        </a:rPr>
                        <a:t>Coding, labeling, and cleaning at scale — often far cheaper than human coders.</a:t>
                      </a:r>
                      <a:endParaRPr lang="en-US" sz="11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ADD"/>
                    </a:solidFill>
                  </a:tcPr>
                </a:tc>
                <a:tc>
                  <a:txBody>
                    <a:bodyPr/>
                    <a:lstStyle/>
                    <a:p>
                      <a:pPr indent="0" marL="0">
                        <a:buNone/>
                      </a:pPr>
                      <a:r>
                        <a:rPr lang="en-US" sz="1150" dirty="0">
                          <a:solidFill>
                            <a:srgbClr val="262B33"/>
                          </a:solidFill>
                          <a:latin typeface="Calibri" pitchFamily="34" charset="0"/>
                          <a:ea typeface="Calibri" pitchFamily="34" charset="-122"/>
                          <a:cs typeface="Calibri" pitchFamily="34" charset="-120"/>
                        </a:rPr>
                        <a:t>Smaller / older models trail human coders, and performance varies sharply by task.</a:t>
                      </a:r>
                      <a:endParaRPr lang="en-US" sz="1150" dirty="0">
                        <a:latin typeface="Calibri" charset="0"/>
                        <a:ea typeface="Calibri" charset="0"/>
                        <a:cs typeface="Calibri"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DEDE"/>
                    </a:solidFill>
                  </a:tcPr>
                </a:tc>
              </a:tr>
            </a:tbl>
          </a:graphicData>
        </a:graphic>
      </p:graphicFrame>
      <p:sp>
        <p:nvSpPr>
          <p:cNvPr id="5" name="Text 2"/>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40080" y="1993392"/>
            <a:ext cx="566928" cy="82296"/>
          </a:xfrm>
          <a:prstGeom prst="rect">
            <a:avLst/>
          </a:prstGeom>
          <a:solidFill>
            <a:srgbClr val="B5651D"/>
          </a:solidFill>
          <a:ln/>
        </p:spPr>
      </p:sp>
      <p:sp>
        <p:nvSpPr>
          <p:cNvPr id="3" name="Text 1"/>
          <p:cNvSpPr/>
          <p:nvPr/>
        </p:nvSpPr>
        <p:spPr>
          <a:xfrm>
            <a:off x="640080" y="1517904"/>
            <a:ext cx="7863840" cy="365760"/>
          </a:xfrm>
          <a:prstGeom prst="rect">
            <a:avLst/>
          </a:prstGeom>
          <a:noFill/>
          <a:ln/>
        </p:spPr>
        <p:txBody>
          <a:bodyPr wrap="square" lIns="0" tIns="0" rIns="0" bIns="0" rtlCol="0" anchor="ctr"/>
          <a:lstStyle/>
          <a:p>
            <a:pPr indent="0" marL="0">
              <a:buNone/>
            </a:pPr>
            <a:r>
              <a:rPr lang="en-US" sz="1400" b="1" spc="300" kern="0" dirty="0">
                <a:solidFill>
                  <a:srgbClr val="D6E6F2"/>
                </a:solidFill>
                <a:latin typeface="Calibri" pitchFamily="34" charset="0"/>
                <a:ea typeface="Calibri" pitchFamily="34" charset="-122"/>
                <a:cs typeface="Calibri" pitchFamily="34" charset="-120"/>
              </a:rPr>
              <a:t>SECTION 4</a:t>
            </a:r>
            <a:endParaRPr lang="en-US" sz="1400" dirty="0"/>
          </a:p>
        </p:txBody>
      </p:sp>
      <p:sp>
        <p:nvSpPr>
          <p:cNvPr id="4" name="Text 2"/>
          <p:cNvSpPr/>
          <p:nvPr/>
        </p:nvSpPr>
        <p:spPr>
          <a:xfrm>
            <a:off x="640080" y="2212848"/>
            <a:ext cx="7863840" cy="1188720"/>
          </a:xfrm>
          <a:prstGeom prst="rect">
            <a:avLst/>
          </a:prstGeom>
          <a:noFill/>
          <a:ln/>
        </p:spPr>
        <p:txBody>
          <a:bodyPr wrap="square" lIns="0" tIns="0" rIns="0" bIns="0"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My Capstone: Latent-to-Language (L2L)</a:t>
            </a:r>
            <a:endParaRPr lang="en-US" sz="3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B5651D"/>
                </a:solidFill>
                <a:latin typeface="Calibri" pitchFamily="34" charset="0"/>
                <a:ea typeface="Calibri" pitchFamily="34" charset="-122"/>
                <a:cs typeface="Calibri" pitchFamily="34" charset="-120"/>
              </a:rPr>
              <a:t>ITEM NONRESPONSE MEETS LLMS</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The problem</a:t>
            </a:r>
            <a:endParaRPr lang="en-US" sz="2700" dirty="0"/>
          </a:p>
        </p:txBody>
      </p:sp>
      <p:sp>
        <p:nvSpPr>
          <p:cNvPr id="4" name="Text 2"/>
          <p:cNvSpPr/>
          <p:nvPr/>
        </p:nvSpPr>
        <p:spPr>
          <a:xfrm>
            <a:off x="502920" y="1417320"/>
            <a:ext cx="8229600" cy="1554480"/>
          </a:xfrm>
          <a:prstGeom prst="rect">
            <a:avLst/>
          </a:prstGeom>
          <a:noFill/>
          <a:ln/>
        </p:spPr>
        <p:txBody>
          <a:bodyPr wrap="square" lIns="0" tIns="0" rIns="0" bIns="0" rtlCol="0" anchor="ctr"/>
          <a:lstStyle/>
          <a:p>
            <a:pPr indent="0" marL="0">
              <a:lnSpc>
                <a:spcPct val="108000"/>
              </a:lnSpc>
              <a:spcAft>
                <a:spcPts val="1000"/>
              </a:spcAft>
              <a:buNone/>
            </a:pPr>
            <a:r>
              <a:rPr lang="en-US" sz="1550" b="1" dirty="0">
                <a:solidFill>
                  <a:srgbClr val="262B33"/>
                </a:solidFill>
                <a:latin typeface="Calibri" pitchFamily="34" charset="0"/>
                <a:ea typeface="Calibri" pitchFamily="34" charset="-122"/>
                <a:cs typeface="Calibri" pitchFamily="34" charset="-120"/>
              </a:rPr>
              <a:t>Surveys carry missing item values. </a:t>
            </a:r>
            <a:endParaRPr lang="en-US" sz="1550" dirty="0"/>
          </a:p>
          <a:p>
            <a:pPr marL="342900" indent="-342900">
              <a:lnSpc>
                <a:spcPct val="108000"/>
              </a:lnSpc>
              <a:spcAft>
                <a:spcPts val="1000"/>
              </a:spcAft>
              <a:buSzPct val="100000"/>
              <a:buChar char="•"/>
            </a:pPr>
            <a:r>
              <a:rPr lang="en-US" sz="1550" dirty="0">
                <a:solidFill>
                  <a:srgbClr val="262B33"/>
                </a:solidFill>
                <a:latin typeface="Calibri" pitchFamily="34" charset="0"/>
                <a:ea typeface="Calibri" pitchFamily="34" charset="-122"/>
                <a:cs typeface="Calibri" pitchFamily="34" charset="-120"/>
              </a:rPr>
              <a:t>Standard fixes (multiple imputation by chained equations, tree-based methods) treat items as generic tabular features.</a:t>
            </a:r>
            <a:endParaRPr lang="en-US" sz="1550" dirty="0"/>
          </a:p>
          <a:p>
            <a:pPr marL="342900" indent="-342900">
              <a:lnSpc>
                <a:spcPct val="108000"/>
              </a:lnSpc>
              <a:spcAft>
                <a:spcPts val="1000"/>
              </a:spcAft>
              <a:buSzPct val="100000"/>
              <a:buChar char="•"/>
            </a:pPr>
            <a:r>
              <a:rPr lang="en-US" sz="1550" b="1" dirty="0">
                <a:solidFill>
                  <a:srgbClr val="262B33"/>
                </a:solidFill>
                <a:latin typeface="Calibri" pitchFamily="34" charset="0"/>
                <a:ea typeface="Calibri" pitchFamily="34" charset="-122"/>
                <a:cs typeface="Calibri" pitchFamily="34" charset="-120"/>
              </a:rPr>
              <a:t>LLMs are fluent but opaque, </a:t>
            </a:r>
            <a:pPr indent="0" marL="0">
              <a:lnSpc>
                <a:spcPct val="108000"/>
              </a:lnSpc>
              <a:spcAft>
                <a:spcPts val="1000"/>
              </a:spcAft>
              <a:buNone/>
            </a:pPr>
            <a:r>
              <a:rPr lang="en-US" sz="1550" dirty="0">
                <a:solidFill>
                  <a:srgbClr val="262B33"/>
                </a:solidFill>
                <a:latin typeface="Calibri" pitchFamily="34" charset="0"/>
                <a:ea typeface="Calibri" pitchFamily="34" charset="-122"/>
                <a:cs typeface="Calibri" pitchFamily="34" charset="-120"/>
              </a:rPr>
              <a:t>and can impose world knowledge that doesn't match the surveyed population.</a:t>
            </a:r>
            <a:endParaRPr lang="en-US" sz="1550" dirty="0"/>
          </a:p>
        </p:txBody>
      </p:sp>
      <p:sp>
        <p:nvSpPr>
          <p:cNvPr id="5" name="Shape 3"/>
          <p:cNvSpPr/>
          <p:nvPr/>
        </p:nvSpPr>
        <p:spPr>
          <a:xfrm>
            <a:off x="502920" y="3246120"/>
            <a:ext cx="8229600" cy="960120"/>
          </a:xfrm>
          <a:prstGeom prst="rect">
            <a:avLst/>
          </a:prstGeom>
          <a:solidFill>
            <a:srgbClr val="1B2A4A"/>
          </a:solidFill>
          <a:ln/>
          <a:effectLst>
            <a:outerShdw sx="100000" sy="100000" kx="0" ky="0" algn="bl" rotWithShape="0" blurRad="88900" dist="25400" dir="8100000">
              <a:srgbClr val="000000">
                <a:alpha val="16000"/>
              </a:srgbClr>
            </a:outerShdw>
          </a:effectLst>
        </p:spPr>
      </p:sp>
      <p:sp>
        <p:nvSpPr>
          <p:cNvPr id="6" name="Text 4"/>
          <p:cNvSpPr/>
          <p:nvPr/>
        </p:nvSpPr>
        <p:spPr>
          <a:xfrm>
            <a:off x="777240" y="3246120"/>
            <a:ext cx="7680960" cy="960120"/>
          </a:xfrm>
          <a:prstGeom prst="rect">
            <a:avLst/>
          </a:prstGeom>
          <a:noFill/>
          <a:ln/>
        </p:spPr>
        <p:txBody>
          <a:bodyPr wrap="square" lIns="0" tIns="0" rIns="0" bIns="0" rtlCol="0" anchor="ctr"/>
          <a:lstStyle/>
          <a:p>
            <a:pPr algn="l" indent="0" marL="0">
              <a:lnSpc>
                <a:spcPct val="106000"/>
              </a:lnSpc>
              <a:buNone/>
            </a:pPr>
            <a:r>
              <a:rPr lang="en-US" sz="1600" b="1" dirty="0">
                <a:solidFill>
                  <a:srgbClr val="D6E6F2"/>
                </a:solidFill>
                <a:latin typeface="Calibri" pitchFamily="34" charset="0"/>
                <a:ea typeface="Calibri" pitchFamily="34" charset="-122"/>
                <a:cs typeface="Calibri" pitchFamily="34" charset="-120"/>
              </a:rPr>
              <a:t>The question:  </a:t>
            </a:r>
            <a:pPr algn="l" indent="0" marL="0">
              <a:lnSpc>
                <a:spcPct val="106000"/>
              </a:lnSpc>
              <a:buNone/>
            </a:pPr>
            <a:r>
              <a:rPr lang="en-US" sz="1600" i="1" dirty="0">
                <a:solidFill>
                  <a:srgbClr val="FFFFFF"/>
                </a:solidFill>
                <a:latin typeface="Calibri" pitchFamily="34" charset="0"/>
                <a:ea typeface="Calibri" pitchFamily="34" charset="-122"/>
                <a:cs typeface="Calibri" pitchFamily="34" charset="-120"/>
              </a:rPr>
              <a:t>can we guide an LLM to impute missing items in a way that respects the instrument's measurement structure?</a:t>
            </a:r>
            <a:endParaRPr lang="en-US" sz="1600" dirty="0"/>
          </a:p>
        </p:txBody>
      </p:sp>
      <p:sp>
        <p:nvSpPr>
          <p:cNvPr id="7" name="Text 5"/>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B5651D"/>
                </a:solidFill>
                <a:latin typeface="Calibri" pitchFamily="34" charset="0"/>
                <a:ea typeface="Calibri" pitchFamily="34" charset="-122"/>
                <a:cs typeface="Calibri" pitchFamily="34" charset="-120"/>
              </a:rPr>
              <a:t>THE APPROACH</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Translate measurement conclusions into language</a:t>
            </a:r>
            <a:endParaRPr lang="en-US" sz="2700" dirty="0"/>
          </a:p>
        </p:txBody>
      </p:sp>
      <p:sp>
        <p:nvSpPr>
          <p:cNvPr id="4" name="Shape 2"/>
          <p:cNvSpPr/>
          <p:nvPr/>
        </p:nvSpPr>
        <p:spPr>
          <a:xfrm>
            <a:off x="1847088" y="1956816"/>
            <a:ext cx="251460" cy="0"/>
          </a:xfrm>
          <a:prstGeom prst="line">
            <a:avLst/>
          </a:prstGeom>
          <a:noFill/>
          <a:ln w="22225">
            <a:solidFill>
              <a:srgbClr val="6B7280"/>
            </a:solidFill>
            <a:prstDash val="solid"/>
            <a:tailEnd type="triangle"/>
          </a:ln>
        </p:spPr>
      </p:sp>
      <p:sp>
        <p:nvSpPr>
          <p:cNvPr id="5" name="Shape 3"/>
          <p:cNvSpPr/>
          <p:nvPr/>
        </p:nvSpPr>
        <p:spPr>
          <a:xfrm>
            <a:off x="3579876" y="1956816"/>
            <a:ext cx="251460" cy="0"/>
          </a:xfrm>
          <a:prstGeom prst="line">
            <a:avLst/>
          </a:prstGeom>
          <a:noFill/>
          <a:ln w="22225">
            <a:solidFill>
              <a:srgbClr val="6B7280"/>
            </a:solidFill>
            <a:prstDash val="solid"/>
            <a:tailEnd type="triangle"/>
          </a:ln>
        </p:spPr>
      </p:sp>
      <p:sp>
        <p:nvSpPr>
          <p:cNvPr id="6" name="Shape 4"/>
          <p:cNvSpPr/>
          <p:nvPr/>
        </p:nvSpPr>
        <p:spPr>
          <a:xfrm>
            <a:off x="5312664" y="1956816"/>
            <a:ext cx="251460" cy="0"/>
          </a:xfrm>
          <a:prstGeom prst="line">
            <a:avLst/>
          </a:prstGeom>
          <a:noFill/>
          <a:ln w="22225">
            <a:solidFill>
              <a:srgbClr val="6B7280"/>
            </a:solidFill>
            <a:prstDash val="solid"/>
            <a:tailEnd type="triangle"/>
          </a:ln>
        </p:spPr>
      </p:sp>
      <p:sp>
        <p:nvSpPr>
          <p:cNvPr id="7" name="Shape 5"/>
          <p:cNvSpPr/>
          <p:nvPr/>
        </p:nvSpPr>
        <p:spPr>
          <a:xfrm>
            <a:off x="7045452" y="1956816"/>
            <a:ext cx="251460" cy="0"/>
          </a:xfrm>
          <a:prstGeom prst="line">
            <a:avLst/>
          </a:prstGeom>
          <a:noFill/>
          <a:ln w="22225">
            <a:solidFill>
              <a:srgbClr val="6B7280"/>
            </a:solidFill>
            <a:prstDash val="solid"/>
            <a:tailEnd type="triangle"/>
          </a:ln>
        </p:spPr>
      </p:sp>
      <p:sp>
        <p:nvSpPr>
          <p:cNvPr id="8" name="Shape 6"/>
          <p:cNvSpPr/>
          <p:nvPr/>
        </p:nvSpPr>
        <p:spPr>
          <a:xfrm>
            <a:off x="365760" y="1517904"/>
            <a:ext cx="1481328" cy="877824"/>
          </a:xfrm>
          <a:prstGeom prst="roundRect">
            <a:avLst>
              <a:gd name="adj" fmla="val 6250"/>
            </a:avLst>
          </a:prstGeom>
          <a:solidFill>
            <a:srgbClr val="D6E6F2"/>
          </a:solidFill>
          <a:ln/>
        </p:spPr>
      </p:sp>
      <p:sp>
        <p:nvSpPr>
          <p:cNvPr id="9" name="Text 7"/>
          <p:cNvSpPr/>
          <p:nvPr/>
        </p:nvSpPr>
        <p:spPr>
          <a:xfrm>
            <a:off x="365760" y="1517904"/>
            <a:ext cx="1481328" cy="877824"/>
          </a:xfrm>
          <a:prstGeom prst="rect">
            <a:avLst/>
          </a:prstGeom>
          <a:noFill/>
          <a:ln/>
        </p:spPr>
        <p:txBody>
          <a:bodyPr wrap="square" lIns="0" tIns="0" rIns="0" bIns="0" rtlCol="0" anchor="ctr"/>
          <a:lstStyle/>
          <a:p>
            <a:pPr algn="ctr" indent="0" marL="0">
              <a:lnSpc>
                <a:spcPct val="92000"/>
              </a:lnSpc>
              <a:buNone/>
            </a:pPr>
            <a:r>
              <a:rPr lang="en-US" sz="1150" b="1" dirty="0">
                <a:solidFill>
                  <a:srgbClr val="1F4E6B"/>
                </a:solidFill>
                <a:latin typeface="Calibri" pitchFamily="34" charset="0"/>
                <a:ea typeface="Calibri" pitchFamily="34" charset="-122"/>
                <a:cs typeface="Calibri" pitchFamily="34" charset="-120"/>
              </a:rPr>
              <a:t>Observed items</a:t>
            </a:r>
            <a:endParaRPr lang="en-US" sz="1150" dirty="0"/>
          </a:p>
          <a:p>
            <a:pPr algn="ctr" indent="0" marL="0">
              <a:lnSpc>
                <a:spcPct val="92000"/>
              </a:lnSpc>
              <a:buNone/>
            </a:pPr>
            <a:r>
              <a:rPr lang="en-US" sz="1150" b="1" dirty="0">
                <a:solidFill>
                  <a:srgbClr val="1F4E6B"/>
                </a:solidFill>
                <a:latin typeface="Calibri" pitchFamily="34" charset="0"/>
                <a:ea typeface="Calibri" pitchFamily="34" charset="-122"/>
                <a:cs typeface="Calibri" pitchFamily="34" charset="-120"/>
              </a:rPr>
              <a:t>(+ missing item)</a:t>
            </a:r>
            <a:endParaRPr lang="en-US" sz="1150" dirty="0"/>
          </a:p>
        </p:txBody>
      </p:sp>
      <p:sp>
        <p:nvSpPr>
          <p:cNvPr id="10" name="Shape 8"/>
          <p:cNvSpPr/>
          <p:nvPr/>
        </p:nvSpPr>
        <p:spPr>
          <a:xfrm>
            <a:off x="2098548" y="1517904"/>
            <a:ext cx="1481328" cy="877824"/>
          </a:xfrm>
          <a:prstGeom prst="roundRect">
            <a:avLst>
              <a:gd name="adj" fmla="val 6250"/>
            </a:avLst>
          </a:prstGeom>
          <a:solidFill>
            <a:srgbClr val="D6E6F2"/>
          </a:solidFill>
          <a:ln/>
        </p:spPr>
      </p:sp>
      <p:sp>
        <p:nvSpPr>
          <p:cNvPr id="11" name="Text 9"/>
          <p:cNvSpPr/>
          <p:nvPr/>
        </p:nvSpPr>
        <p:spPr>
          <a:xfrm>
            <a:off x="2098548" y="1517904"/>
            <a:ext cx="1481328" cy="877824"/>
          </a:xfrm>
          <a:prstGeom prst="rect">
            <a:avLst/>
          </a:prstGeom>
          <a:noFill/>
          <a:ln/>
        </p:spPr>
        <p:txBody>
          <a:bodyPr wrap="square" lIns="0" tIns="0" rIns="0" bIns="0" rtlCol="0" anchor="ctr"/>
          <a:lstStyle/>
          <a:p>
            <a:pPr algn="ctr" indent="0" marL="0">
              <a:lnSpc>
                <a:spcPct val="92000"/>
              </a:lnSpc>
              <a:buNone/>
            </a:pPr>
            <a:r>
              <a:rPr lang="en-US" sz="1150" b="1" dirty="0">
                <a:solidFill>
                  <a:srgbClr val="1F4E6B"/>
                </a:solidFill>
                <a:latin typeface="Calibri" pitchFamily="34" charset="0"/>
                <a:ea typeface="Calibri" pitchFamily="34" charset="-122"/>
                <a:cs typeface="Calibri" pitchFamily="34" charset="-120"/>
              </a:rPr>
              <a:t>Psychometric model</a:t>
            </a:r>
            <a:endParaRPr lang="en-US" sz="1150" dirty="0"/>
          </a:p>
          <a:p>
            <a:pPr algn="ctr" indent="0" marL="0">
              <a:lnSpc>
                <a:spcPct val="92000"/>
              </a:lnSpc>
              <a:buNone/>
            </a:pPr>
            <a:r>
              <a:rPr lang="en-US" sz="1150" b="1" dirty="0">
                <a:solidFill>
                  <a:srgbClr val="1F4E6B"/>
                </a:solidFill>
                <a:latin typeface="Calibri" pitchFamily="34" charset="0"/>
                <a:ea typeface="Calibri" pitchFamily="34" charset="-122"/>
                <a:cs typeface="Calibri" pitchFamily="34" charset="-120"/>
              </a:rPr>
              <a:t>(IRT / CFA / LCA)</a:t>
            </a:r>
            <a:endParaRPr lang="en-US" sz="1150" dirty="0"/>
          </a:p>
        </p:txBody>
      </p:sp>
      <p:sp>
        <p:nvSpPr>
          <p:cNvPr id="12" name="Shape 10"/>
          <p:cNvSpPr/>
          <p:nvPr/>
        </p:nvSpPr>
        <p:spPr>
          <a:xfrm>
            <a:off x="3831336" y="1517904"/>
            <a:ext cx="1481328" cy="877824"/>
          </a:xfrm>
          <a:prstGeom prst="roundRect">
            <a:avLst>
              <a:gd name="adj" fmla="val 6250"/>
            </a:avLst>
          </a:prstGeom>
          <a:solidFill>
            <a:srgbClr val="F3E2CF"/>
          </a:solidFill>
          <a:ln/>
        </p:spPr>
      </p:sp>
      <p:sp>
        <p:nvSpPr>
          <p:cNvPr id="13" name="Text 11"/>
          <p:cNvSpPr/>
          <p:nvPr/>
        </p:nvSpPr>
        <p:spPr>
          <a:xfrm>
            <a:off x="3831336" y="1517904"/>
            <a:ext cx="1481328" cy="877824"/>
          </a:xfrm>
          <a:prstGeom prst="rect">
            <a:avLst/>
          </a:prstGeom>
          <a:noFill/>
          <a:ln/>
        </p:spPr>
        <p:txBody>
          <a:bodyPr wrap="square" lIns="0" tIns="0" rIns="0" bIns="0" rtlCol="0" anchor="ctr"/>
          <a:lstStyle/>
          <a:p>
            <a:pPr algn="ctr" indent="0" marL="0">
              <a:lnSpc>
                <a:spcPct val="92000"/>
              </a:lnSpc>
              <a:buNone/>
            </a:pPr>
            <a:r>
              <a:rPr lang="en-US" sz="1150" b="1" dirty="0">
                <a:solidFill>
                  <a:srgbClr val="7A4A12"/>
                </a:solidFill>
                <a:latin typeface="Calibri" pitchFamily="34" charset="0"/>
                <a:ea typeface="Calibri" pitchFamily="34" charset="-122"/>
                <a:cs typeface="Calibri" pitchFamily="34" charset="-120"/>
              </a:rPr>
              <a:t>Translate conclusions</a:t>
            </a:r>
            <a:endParaRPr lang="en-US" sz="1150" dirty="0"/>
          </a:p>
          <a:p>
            <a:pPr algn="ctr" indent="0" marL="0">
              <a:lnSpc>
                <a:spcPct val="92000"/>
              </a:lnSpc>
              <a:buNone/>
            </a:pPr>
            <a:r>
              <a:rPr lang="en-US" sz="1150" b="1" dirty="0">
                <a:solidFill>
                  <a:srgbClr val="7A4A12"/>
                </a:solidFill>
                <a:latin typeface="Calibri" pitchFamily="34" charset="0"/>
                <a:ea typeface="Calibri" pitchFamily="34" charset="-122"/>
                <a:cs typeface="Calibri" pitchFamily="34" charset="-120"/>
              </a:rPr>
              <a:t>to natural language</a:t>
            </a:r>
            <a:endParaRPr lang="en-US" sz="1150" dirty="0"/>
          </a:p>
        </p:txBody>
      </p:sp>
      <p:sp>
        <p:nvSpPr>
          <p:cNvPr id="14" name="Shape 12"/>
          <p:cNvSpPr/>
          <p:nvPr/>
        </p:nvSpPr>
        <p:spPr>
          <a:xfrm>
            <a:off x="5564124" y="1517904"/>
            <a:ext cx="1481328" cy="877824"/>
          </a:xfrm>
          <a:prstGeom prst="roundRect">
            <a:avLst>
              <a:gd name="adj" fmla="val 6250"/>
            </a:avLst>
          </a:prstGeom>
          <a:solidFill>
            <a:srgbClr val="F3E2CF"/>
          </a:solidFill>
          <a:ln/>
        </p:spPr>
      </p:sp>
      <p:sp>
        <p:nvSpPr>
          <p:cNvPr id="15" name="Text 13"/>
          <p:cNvSpPr/>
          <p:nvPr/>
        </p:nvSpPr>
        <p:spPr>
          <a:xfrm>
            <a:off x="5564124" y="1517904"/>
            <a:ext cx="1481328" cy="877824"/>
          </a:xfrm>
          <a:prstGeom prst="rect">
            <a:avLst/>
          </a:prstGeom>
          <a:noFill/>
          <a:ln/>
        </p:spPr>
        <p:txBody>
          <a:bodyPr wrap="square" lIns="0" tIns="0" rIns="0" bIns="0" rtlCol="0" anchor="ctr"/>
          <a:lstStyle/>
          <a:p>
            <a:pPr algn="ctr" indent="0" marL="0">
              <a:lnSpc>
                <a:spcPct val="92000"/>
              </a:lnSpc>
              <a:buNone/>
            </a:pPr>
            <a:r>
              <a:rPr lang="en-US" sz="1150" b="1" dirty="0">
                <a:solidFill>
                  <a:srgbClr val="7A4A12"/>
                </a:solidFill>
                <a:latin typeface="Calibri" pitchFamily="34" charset="0"/>
                <a:ea typeface="Calibri" pitchFamily="34" charset="-122"/>
                <a:cs typeface="Calibri" pitchFamily="34" charset="-120"/>
              </a:rPr>
              <a:t>LLM:</a:t>
            </a:r>
            <a:endParaRPr lang="en-US" sz="1150" dirty="0"/>
          </a:p>
          <a:p>
            <a:pPr algn="ctr" indent="0" marL="0">
              <a:lnSpc>
                <a:spcPct val="92000"/>
              </a:lnSpc>
              <a:buNone/>
            </a:pPr>
            <a:r>
              <a:rPr lang="en-US" sz="1150" b="1" dirty="0">
                <a:solidFill>
                  <a:srgbClr val="7A4A12"/>
                </a:solidFill>
                <a:latin typeface="Calibri" pitchFamily="34" charset="0"/>
                <a:ea typeface="Calibri" pitchFamily="34" charset="-122"/>
                <a:cs typeface="Calibri" pitchFamily="34" charset="-120"/>
              </a:rPr>
              <a:t>anchor &amp; adjust</a:t>
            </a:r>
            <a:endParaRPr lang="en-US" sz="1150" dirty="0"/>
          </a:p>
        </p:txBody>
      </p:sp>
      <p:sp>
        <p:nvSpPr>
          <p:cNvPr id="16" name="Shape 14"/>
          <p:cNvSpPr/>
          <p:nvPr/>
        </p:nvSpPr>
        <p:spPr>
          <a:xfrm>
            <a:off x="7296912" y="1517904"/>
            <a:ext cx="1481328" cy="877824"/>
          </a:xfrm>
          <a:prstGeom prst="roundRect">
            <a:avLst>
              <a:gd name="adj" fmla="val 6250"/>
            </a:avLst>
          </a:prstGeom>
          <a:solidFill>
            <a:srgbClr val="DCEADD"/>
          </a:solidFill>
          <a:ln/>
        </p:spPr>
      </p:sp>
      <p:sp>
        <p:nvSpPr>
          <p:cNvPr id="17" name="Text 15"/>
          <p:cNvSpPr/>
          <p:nvPr/>
        </p:nvSpPr>
        <p:spPr>
          <a:xfrm>
            <a:off x="7296912" y="1517904"/>
            <a:ext cx="1481328" cy="877824"/>
          </a:xfrm>
          <a:prstGeom prst="rect">
            <a:avLst/>
          </a:prstGeom>
          <a:noFill/>
          <a:ln/>
        </p:spPr>
        <p:txBody>
          <a:bodyPr wrap="square" lIns="0" tIns="0" rIns="0" bIns="0" rtlCol="0" anchor="ctr"/>
          <a:lstStyle/>
          <a:p>
            <a:pPr algn="ctr" indent="0" marL="0">
              <a:lnSpc>
                <a:spcPct val="92000"/>
              </a:lnSpc>
              <a:buNone/>
            </a:pPr>
            <a:r>
              <a:rPr lang="en-US" sz="1150" b="1" dirty="0">
                <a:solidFill>
                  <a:srgbClr val="2C5F34"/>
                </a:solidFill>
                <a:latin typeface="Calibri" pitchFamily="34" charset="0"/>
                <a:ea typeface="Calibri" pitchFamily="34" charset="-122"/>
                <a:cs typeface="Calibri" pitchFamily="34" charset="-120"/>
              </a:rPr>
              <a:t>Imputed</a:t>
            </a:r>
            <a:endParaRPr lang="en-US" sz="1150" dirty="0"/>
          </a:p>
          <a:p>
            <a:pPr algn="ctr" indent="0" marL="0">
              <a:lnSpc>
                <a:spcPct val="92000"/>
              </a:lnSpc>
              <a:buNone/>
            </a:pPr>
            <a:r>
              <a:rPr lang="en-US" sz="1150" b="1" dirty="0">
                <a:solidFill>
                  <a:srgbClr val="2C5F34"/>
                </a:solidFill>
                <a:latin typeface="Calibri" pitchFamily="34" charset="0"/>
                <a:ea typeface="Calibri" pitchFamily="34" charset="-122"/>
                <a:cs typeface="Calibri" pitchFamily="34" charset="-120"/>
              </a:rPr>
              <a:t>item value</a:t>
            </a:r>
            <a:endParaRPr lang="en-US" sz="1150" dirty="0"/>
          </a:p>
        </p:txBody>
      </p:sp>
      <p:sp>
        <p:nvSpPr>
          <p:cNvPr id="18" name="Text 16"/>
          <p:cNvSpPr/>
          <p:nvPr/>
        </p:nvSpPr>
        <p:spPr>
          <a:xfrm>
            <a:off x="502920" y="2651760"/>
            <a:ext cx="8229600" cy="310896"/>
          </a:xfrm>
          <a:prstGeom prst="rect">
            <a:avLst/>
          </a:prstGeom>
          <a:noFill/>
          <a:ln/>
        </p:spPr>
        <p:txBody>
          <a:bodyPr wrap="square" lIns="0" tIns="0" rIns="0" bIns="0" rtlCol="0" anchor="ctr"/>
          <a:lstStyle/>
          <a:p>
            <a:pPr algn="ctr" indent="0" marL="0">
              <a:buNone/>
            </a:pPr>
            <a:r>
              <a:rPr lang="en-US" sz="1200" b="1" i="1" dirty="0">
                <a:solidFill>
                  <a:srgbClr val="2C6E9C"/>
                </a:solidFill>
                <a:latin typeface="Calibri" pitchFamily="34" charset="0"/>
                <a:ea typeface="Calibri" pitchFamily="34" charset="-122"/>
                <a:cs typeface="Calibri" pitchFamily="34" charset="-120"/>
              </a:rPr>
              <a:t>Prompt tiers:  </a:t>
            </a:r>
            <a:pPr algn="ctr" indent="0" marL="0">
              <a:buNone/>
            </a:pPr>
            <a:r>
              <a:rPr lang="en-US" sz="1200" i="1" dirty="0">
                <a:solidFill>
                  <a:srgbClr val="2C6E9C"/>
                </a:solidFill>
                <a:latin typeface="Calibri" pitchFamily="34" charset="0"/>
                <a:ea typeface="Calibri" pitchFamily="34" charset="-122"/>
                <a:cs typeface="Calibri" pitchFamily="34" charset="-120"/>
              </a:rPr>
              <a:t>demographics + items  →  + latent score / percentile  →  + modal prediction &amp; confidence</a:t>
            </a:r>
            <a:endParaRPr lang="en-US" sz="1200" dirty="0"/>
          </a:p>
        </p:txBody>
      </p:sp>
      <p:sp>
        <p:nvSpPr>
          <p:cNvPr id="19" name="Text 17"/>
          <p:cNvSpPr/>
          <p:nvPr/>
        </p:nvSpPr>
        <p:spPr>
          <a:xfrm>
            <a:off x="502920" y="3072384"/>
            <a:ext cx="8229600" cy="640080"/>
          </a:xfrm>
          <a:prstGeom prst="rect">
            <a:avLst/>
          </a:prstGeom>
          <a:noFill/>
          <a:ln/>
        </p:spPr>
        <p:txBody>
          <a:bodyPr wrap="square" lIns="0" tIns="0" rIns="0" bIns="0" rtlCol="0" anchor="ctr"/>
          <a:lstStyle/>
          <a:p>
            <a:pPr indent="0" marL="0">
              <a:lnSpc>
                <a:spcPct val="105000"/>
              </a:lnSpc>
              <a:buNone/>
            </a:pPr>
            <a:r>
              <a:rPr lang="en-US" sz="1350" b="1" dirty="0">
                <a:solidFill>
                  <a:srgbClr val="1B2A4A"/>
                </a:solidFill>
                <a:latin typeface="Calibri" pitchFamily="34" charset="0"/>
                <a:ea typeface="Calibri" pitchFamily="34" charset="-122"/>
                <a:cs typeface="Calibri" pitchFamily="34" charset="-120"/>
              </a:rPr>
              <a:t>Translation, not raw parameters: </a:t>
            </a:r>
            <a:pPr indent="0" marL="0">
              <a:lnSpc>
                <a:spcPct val="105000"/>
              </a:lnSpc>
              <a:buNone/>
            </a:pPr>
            <a:r>
              <a:rPr lang="en-US" sz="1350" dirty="0">
                <a:solidFill>
                  <a:srgbClr val="262B33"/>
                </a:solidFill>
                <a:latin typeface="Calibri" pitchFamily="34" charset="0"/>
                <a:ea typeface="Calibri" pitchFamily="34" charset="-122"/>
                <a:cs typeface="Calibri" pitchFamily="34" charset="-120"/>
              </a:rPr>
              <a:t>don't feed the LLM factor loadings — convert model conclusions into a percentile, a confidence label, an adjustment direction, and correlated-item context.</a:t>
            </a:r>
            <a:endParaRPr lang="en-US" sz="1350" dirty="0"/>
          </a:p>
        </p:txBody>
      </p:sp>
      <p:sp>
        <p:nvSpPr>
          <p:cNvPr id="20" name="Text 18"/>
          <p:cNvSpPr/>
          <p:nvPr/>
        </p:nvSpPr>
        <p:spPr>
          <a:xfrm>
            <a:off x="502920" y="3730752"/>
            <a:ext cx="8229600" cy="548640"/>
          </a:xfrm>
          <a:prstGeom prst="rect">
            <a:avLst/>
          </a:prstGeom>
          <a:noFill/>
          <a:ln/>
        </p:spPr>
        <p:txBody>
          <a:bodyPr wrap="square" lIns="0" tIns="0" rIns="0" bIns="0" rtlCol="0" anchor="ctr"/>
          <a:lstStyle/>
          <a:p>
            <a:pPr indent="0" marL="0">
              <a:lnSpc>
                <a:spcPct val="105000"/>
              </a:lnSpc>
              <a:buNone/>
            </a:pPr>
            <a:r>
              <a:rPr lang="en-US" sz="1350" b="1" dirty="0">
                <a:solidFill>
                  <a:srgbClr val="1B2A4A"/>
                </a:solidFill>
                <a:latin typeface="Calibri" pitchFamily="34" charset="0"/>
                <a:ea typeface="Calibri" pitchFamily="34" charset="-122"/>
                <a:cs typeface="Calibri" pitchFamily="34" charset="-120"/>
              </a:rPr>
              <a:t>Anchor-and-adjust: </a:t>
            </a:r>
            <a:pPr indent="0" marL="0">
              <a:lnSpc>
                <a:spcPct val="105000"/>
              </a:lnSpc>
              <a:buNone/>
            </a:pPr>
            <a:r>
              <a:rPr lang="en-US" sz="1350" dirty="0">
                <a:solidFill>
                  <a:srgbClr val="262B33"/>
                </a:solidFill>
                <a:latin typeface="Calibri" pitchFamily="34" charset="0"/>
                <a:ea typeface="Calibri" pitchFamily="34" charset="-122"/>
                <a:cs typeface="Calibri" pitchFamily="34" charset="-120"/>
              </a:rPr>
              <a:t>give the LLM a persona and a few calibration examples, then ask it to refine the model's prediction rather than guess from scratch.</a:t>
            </a:r>
            <a:endParaRPr lang="en-US" sz="1350" dirty="0"/>
          </a:p>
        </p:txBody>
      </p:sp>
      <p:sp>
        <p:nvSpPr>
          <p:cNvPr id="21" name="Text 19"/>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B5651D"/>
                </a:solidFill>
                <a:latin typeface="Calibri" pitchFamily="34" charset="0"/>
                <a:ea typeface="Calibri" pitchFamily="34" charset="-122"/>
                <a:cs typeface="Calibri" pitchFamily="34" charset="-120"/>
              </a:rPr>
              <a:t>DESIGN &amp; EVALUATION</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What it guards against</a:t>
            </a:r>
            <a:endParaRPr lang="en-US" sz="2700" dirty="0"/>
          </a:p>
        </p:txBody>
      </p:sp>
      <p:sp>
        <p:nvSpPr>
          <p:cNvPr id="4" name="Shape 2"/>
          <p:cNvSpPr/>
          <p:nvPr/>
        </p:nvSpPr>
        <p:spPr>
          <a:xfrm>
            <a:off x="502920" y="1371600"/>
            <a:ext cx="8229600" cy="749808"/>
          </a:xfrm>
          <a:prstGeom prst="rect">
            <a:avLst/>
          </a:prstGeom>
          <a:solidFill>
            <a:srgbClr val="FFFFFF"/>
          </a:solidFill>
          <a:ln w="12700">
            <a:solidFill>
              <a:srgbClr val="EAECEF"/>
            </a:solidFill>
            <a:prstDash val="solid"/>
          </a:ln>
        </p:spPr>
      </p:sp>
      <p:sp>
        <p:nvSpPr>
          <p:cNvPr id="5" name="Shape 3"/>
          <p:cNvSpPr/>
          <p:nvPr/>
        </p:nvSpPr>
        <p:spPr>
          <a:xfrm>
            <a:off x="502920" y="1371600"/>
            <a:ext cx="82296" cy="749808"/>
          </a:xfrm>
          <a:prstGeom prst="rect">
            <a:avLst/>
          </a:prstGeom>
          <a:solidFill>
            <a:srgbClr val="2C6E9C"/>
          </a:solidFill>
          <a:ln/>
        </p:spPr>
      </p:sp>
      <p:sp>
        <p:nvSpPr>
          <p:cNvPr id="6" name="Text 4"/>
          <p:cNvSpPr/>
          <p:nvPr/>
        </p:nvSpPr>
        <p:spPr>
          <a:xfrm>
            <a:off x="713232" y="1371600"/>
            <a:ext cx="2286000" cy="749808"/>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Prompt tiers</a:t>
            </a:r>
            <a:endParaRPr lang="en-US" sz="1400" dirty="0"/>
          </a:p>
        </p:txBody>
      </p:sp>
      <p:sp>
        <p:nvSpPr>
          <p:cNvPr id="7" name="Text 5"/>
          <p:cNvSpPr/>
          <p:nvPr/>
        </p:nvSpPr>
        <p:spPr>
          <a:xfrm>
            <a:off x="3108960" y="1371600"/>
            <a:ext cx="5486400" cy="749808"/>
          </a:xfrm>
          <a:prstGeom prst="rect">
            <a:avLst/>
          </a:prstGeom>
          <a:noFill/>
          <a:ln/>
        </p:spPr>
        <p:txBody>
          <a:bodyPr wrap="square" lIns="0" tIns="0" rIns="0" bIns="0" rtlCol="0" anchor="ctr"/>
          <a:lstStyle/>
          <a:p>
            <a:pPr indent="0" marL="0">
              <a:lnSpc>
                <a:spcPct val="102000"/>
              </a:lnSpc>
              <a:buNone/>
            </a:pPr>
            <a:r>
              <a:rPr lang="en-US" sz="1250" dirty="0">
                <a:solidFill>
                  <a:srgbClr val="262B33"/>
                </a:solidFill>
                <a:latin typeface="Calibri" pitchFamily="34" charset="0"/>
                <a:ea typeface="Calibri" pitchFamily="34" charset="-122"/>
                <a:cs typeface="Calibri" pitchFamily="34" charset="-120"/>
              </a:rPr>
              <a:t>Isolate the value of psychometric context: demographics + items → + latent scores → + modal prediction and confidence.</a:t>
            </a:r>
            <a:endParaRPr lang="en-US" sz="1250" dirty="0"/>
          </a:p>
        </p:txBody>
      </p:sp>
      <p:sp>
        <p:nvSpPr>
          <p:cNvPr id="8" name="Shape 6"/>
          <p:cNvSpPr/>
          <p:nvPr/>
        </p:nvSpPr>
        <p:spPr>
          <a:xfrm>
            <a:off x="502920" y="2221992"/>
            <a:ext cx="8229600" cy="749808"/>
          </a:xfrm>
          <a:prstGeom prst="rect">
            <a:avLst/>
          </a:prstGeom>
          <a:solidFill>
            <a:srgbClr val="FFFFFF"/>
          </a:solidFill>
          <a:ln w="12700">
            <a:solidFill>
              <a:srgbClr val="EAECEF"/>
            </a:solidFill>
            <a:prstDash val="solid"/>
          </a:ln>
        </p:spPr>
      </p:sp>
      <p:sp>
        <p:nvSpPr>
          <p:cNvPr id="9" name="Shape 7"/>
          <p:cNvSpPr/>
          <p:nvPr/>
        </p:nvSpPr>
        <p:spPr>
          <a:xfrm>
            <a:off x="502920" y="2221992"/>
            <a:ext cx="82296" cy="749808"/>
          </a:xfrm>
          <a:prstGeom prst="rect">
            <a:avLst/>
          </a:prstGeom>
          <a:solidFill>
            <a:srgbClr val="2C6E9C"/>
          </a:solidFill>
          <a:ln/>
        </p:spPr>
      </p:sp>
      <p:sp>
        <p:nvSpPr>
          <p:cNvPr id="10" name="Text 8"/>
          <p:cNvSpPr/>
          <p:nvPr/>
        </p:nvSpPr>
        <p:spPr>
          <a:xfrm>
            <a:off x="713232" y="2221992"/>
            <a:ext cx="2286000" cy="749808"/>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Silicon sampling</a:t>
            </a:r>
            <a:endParaRPr lang="en-US" sz="1400" dirty="0"/>
          </a:p>
        </p:txBody>
      </p:sp>
      <p:sp>
        <p:nvSpPr>
          <p:cNvPr id="11" name="Text 9"/>
          <p:cNvSpPr/>
          <p:nvPr/>
        </p:nvSpPr>
        <p:spPr>
          <a:xfrm>
            <a:off x="3108960" y="2221992"/>
            <a:ext cx="5486400" cy="749808"/>
          </a:xfrm>
          <a:prstGeom prst="rect">
            <a:avLst/>
          </a:prstGeom>
          <a:noFill/>
          <a:ln/>
        </p:spPr>
        <p:txBody>
          <a:bodyPr wrap="square" lIns="0" tIns="0" rIns="0" bIns="0" rtlCol="0" anchor="ctr"/>
          <a:lstStyle/>
          <a:p>
            <a:pPr indent="0" marL="0">
              <a:lnSpc>
                <a:spcPct val="102000"/>
              </a:lnSpc>
              <a:buNone/>
            </a:pPr>
            <a:r>
              <a:rPr lang="en-US" sz="1250" dirty="0">
                <a:solidFill>
                  <a:srgbClr val="262B33"/>
                </a:solidFill>
                <a:latin typeface="Calibri" pitchFamily="34" charset="0"/>
                <a:ea typeface="Calibri" pitchFamily="34" charset="-122"/>
                <a:cs typeface="Calibri" pitchFamily="34" charset="-120"/>
              </a:rPr>
              <a:t>Constrained to real population segments — explored for unit nonresponse.</a:t>
            </a:r>
            <a:endParaRPr lang="en-US" sz="1250" dirty="0"/>
          </a:p>
        </p:txBody>
      </p:sp>
      <p:sp>
        <p:nvSpPr>
          <p:cNvPr id="12" name="Shape 10"/>
          <p:cNvSpPr/>
          <p:nvPr/>
        </p:nvSpPr>
        <p:spPr>
          <a:xfrm>
            <a:off x="502920" y="3072384"/>
            <a:ext cx="8229600" cy="749808"/>
          </a:xfrm>
          <a:prstGeom prst="rect">
            <a:avLst/>
          </a:prstGeom>
          <a:solidFill>
            <a:srgbClr val="FFFFFF"/>
          </a:solidFill>
          <a:ln w="12700">
            <a:solidFill>
              <a:srgbClr val="EAECEF"/>
            </a:solidFill>
            <a:prstDash val="solid"/>
          </a:ln>
        </p:spPr>
      </p:sp>
      <p:sp>
        <p:nvSpPr>
          <p:cNvPr id="13" name="Shape 11"/>
          <p:cNvSpPr/>
          <p:nvPr/>
        </p:nvSpPr>
        <p:spPr>
          <a:xfrm>
            <a:off x="502920" y="3072384"/>
            <a:ext cx="82296" cy="749808"/>
          </a:xfrm>
          <a:prstGeom prst="rect">
            <a:avLst/>
          </a:prstGeom>
          <a:solidFill>
            <a:srgbClr val="3A7D44"/>
          </a:solidFill>
          <a:ln/>
        </p:spPr>
      </p:sp>
      <p:sp>
        <p:nvSpPr>
          <p:cNvPr id="14" name="Text 12"/>
          <p:cNvSpPr/>
          <p:nvPr/>
        </p:nvSpPr>
        <p:spPr>
          <a:xfrm>
            <a:off x="713232" y="3072384"/>
            <a:ext cx="2286000" cy="749808"/>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Out-of-sample evaluation</a:t>
            </a:r>
            <a:endParaRPr lang="en-US" sz="1400" dirty="0"/>
          </a:p>
        </p:txBody>
      </p:sp>
      <p:sp>
        <p:nvSpPr>
          <p:cNvPr id="15" name="Text 13"/>
          <p:cNvSpPr/>
          <p:nvPr/>
        </p:nvSpPr>
        <p:spPr>
          <a:xfrm>
            <a:off x="3108960" y="3072384"/>
            <a:ext cx="5486400" cy="749808"/>
          </a:xfrm>
          <a:prstGeom prst="rect">
            <a:avLst/>
          </a:prstGeom>
          <a:noFill/>
          <a:ln/>
        </p:spPr>
        <p:txBody>
          <a:bodyPr wrap="square" lIns="0" tIns="0" rIns="0" bIns="0" rtlCol="0" anchor="ctr"/>
          <a:lstStyle/>
          <a:p>
            <a:pPr indent="0" marL="0">
              <a:lnSpc>
                <a:spcPct val="102000"/>
              </a:lnSpc>
              <a:buNone/>
            </a:pPr>
            <a:r>
              <a:rPr lang="en-US" sz="1250" dirty="0">
                <a:solidFill>
                  <a:srgbClr val="262B33"/>
                </a:solidFill>
                <a:latin typeface="Calibri" pitchFamily="34" charset="0"/>
                <a:ea typeface="Calibri" pitchFamily="34" charset="-122"/>
                <a:cs typeface="Calibri" pitchFamily="34" charset="-120"/>
              </a:rPr>
              <a:t>Cross-validation on per-case accuracy and distributional fidelity, watching for mode collapse.</a:t>
            </a:r>
            <a:endParaRPr lang="en-US" sz="1250" dirty="0"/>
          </a:p>
        </p:txBody>
      </p:sp>
      <p:sp>
        <p:nvSpPr>
          <p:cNvPr id="16" name="Shape 14"/>
          <p:cNvSpPr/>
          <p:nvPr/>
        </p:nvSpPr>
        <p:spPr>
          <a:xfrm>
            <a:off x="502920" y="3922776"/>
            <a:ext cx="8229600" cy="749808"/>
          </a:xfrm>
          <a:prstGeom prst="rect">
            <a:avLst/>
          </a:prstGeom>
          <a:solidFill>
            <a:srgbClr val="FFFFFF"/>
          </a:solidFill>
          <a:ln w="12700">
            <a:solidFill>
              <a:srgbClr val="EAECEF"/>
            </a:solidFill>
            <a:prstDash val="solid"/>
          </a:ln>
        </p:spPr>
      </p:sp>
      <p:sp>
        <p:nvSpPr>
          <p:cNvPr id="17" name="Shape 15"/>
          <p:cNvSpPr/>
          <p:nvPr/>
        </p:nvSpPr>
        <p:spPr>
          <a:xfrm>
            <a:off x="502920" y="3922776"/>
            <a:ext cx="82296" cy="749808"/>
          </a:xfrm>
          <a:prstGeom prst="rect">
            <a:avLst/>
          </a:prstGeom>
          <a:solidFill>
            <a:srgbClr val="9C2C2C"/>
          </a:solidFill>
          <a:ln/>
        </p:spPr>
      </p:sp>
      <p:sp>
        <p:nvSpPr>
          <p:cNvPr id="18" name="Text 16"/>
          <p:cNvSpPr/>
          <p:nvPr/>
        </p:nvSpPr>
        <p:spPr>
          <a:xfrm>
            <a:off x="713232" y="3922776"/>
            <a:ext cx="2286000" cy="749808"/>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A new TSE risk</a:t>
            </a:r>
            <a:endParaRPr lang="en-US" sz="1400" dirty="0"/>
          </a:p>
        </p:txBody>
      </p:sp>
      <p:sp>
        <p:nvSpPr>
          <p:cNvPr id="19" name="Text 17"/>
          <p:cNvSpPr/>
          <p:nvPr/>
        </p:nvSpPr>
        <p:spPr>
          <a:xfrm>
            <a:off x="3108960" y="3922776"/>
            <a:ext cx="5486400" cy="749808"/>
          </a:xfrm>
          <a:prstGeom prst="rect">
            <a:avLst/>
          </a:prstGeom>
          <a:noFill/>
          <a:ln/>
        </p:spPr>
        <p:txBody>
          <a:bodyPr wrap="square" lIns="0" tIns="0" rIns="0" bIns="0" rtlCol="0" anchor="ctr"/>
          <a:lstStyle/>
          <a:p>
            <a:pPr indent="0" marL="0">
              <a:lnSpc>
                <a:spcPct val="102000"/>
              </a:lnSpc>
              <a:buNone/>
            </a:pPr>
            <a:r>
              <a:rPr lang="en-US" sz="1250" dirty="0">
                <a:solidFill>
                  <a:srgbClr val="262B33"/>
                </a:solidFill>
                <a:latin typeface="Calibri" pitchFamily="34" charset="0"/>
                <a:ea typeface="Calibri" pitchFamily="34" charset="-122"/>
                <a:cs typeface="Calibri" pitchFamily="34" charset="-120"/>
              </a:rPr>
              <a:t>Translating model output into text is itself a processing-error step to check (world-knowledge bias, differential-item-functioning cues).</a:t>
            </a:r>
            <a:endParaRPr lang="en-US" sz="1250" dirty="0"/>
          </a:p>
        </p:txBody>
      </p:sp>
      <p:sp>
        <p:nvSpPr>
          <p:cNvPr id="20" name="Text 18"/>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1B2A4A"/>
                </a:solidFill>
                <a:latin typeface="Calibri" pitchFamily="34" charset="0"/>
                <a:ea typeface="Calibri" pitchFamily="34" charset="-122"/>
                <a:cs typeface="Calibri" pitchFamily="34" charset="-120"/>
              </a:rPr>
              <a:t>WHERE I TRAINED</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JPSM &amp; the Michigan SRC</a:t>
            </a:r>
            <a:endParaRPr lang="en-US" sz="2700" dirty="0"/>
          </a:p>
        </p:txBody>
      </p:sp>
      <p:sp>
        <p:nvSpPr>
          <p:cNvPr id="4" name="Shape 2"/>
          <p:cNvSpPr/>
          <p:nvPr/>
        </p:nvSpPr>
        <p:spPr>
          <a:xfrm>
            <a:off x="502920" y="1335024"/>
            <a:ext cx="2697480" cy="548640"/>
          </a:xfrm>
          <a:prstGeom prst="roundRect">
            <a:avLst>
              <a:gd name="adj" fmla="val 10000"/>
            </a:avLst>
          </a:prstGeom>
          <a:solidFill>
            <a:srgbClr val="1B2A4A"/>
          </a:solidFill>
          <a:ln/>
        </p:spPr>
      </p:sp>
      <p:sp>
        <p:nvSpPr>
          <p:cNvPr id="5" name="Text 3"/>
          <p:cNvSpPr/>
          <p:nvPr/>
        </p:nvSpPr>
        <p:spPr>
          <a:xfrm>
            <a:off x="502920" y="1335024"/>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University of Maryland</a:t>
            </a:r>
            <a:endParaRPr lang="en-US" sz="1300" dirty="0"/>
          </a:p>
        </p:txBody>
      </p:sp>
      <p:sp>
        <p:nvSpPr>
          <p:cNvPr id="6" name="Shape 4"/>
          <p:cNvSpPr/>
          <p:nvPr/>
        </p:nvSpPr>
        <p:spPr>
          <a:xfrm>
            <a:off x="3447288" y="1335024"/>
            <a:ext cx="2697480" cy="548640"/>
          </a:xfrm>
          <a:prstGeom prst="roundRect">
            <a:avLst>
              <a:gd name="adj" fmla="val 10000"/>
            </a:avLst>
          </a:prstGeom>
          <a:solidFill>
            <a:srgbClr val="1B2A4A"/>
          </a:solidFill>
          <a:ln/>
        </p:spPr>
      </p:sp>
      <p:sp>
        <p:nvSpPr>
          <p:cNvPr id="7" name="Text 5"/>
          <p:cNvSpPr/>
          <p:nvPr/>
        </p:nvSpPr>
        <p:spPr>
          <a:xfrm>
            <a:off x="3447288" y="1335024"/>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University of Michigan</a:t>
            </a:r>
            <a:endParaRPr lang="en-US" sz="1300" dirty="0"/>
          </a:p>
        </p:txBody>
      </p:sp>
      <p:sp>
        <p:nvSpPr>
          <p:cNvPr id="8" name="Shape 6"/>
          <p:cNvSpPr/>
          <p:nvPr/>
        </p:nvSpPr>
        <p:spPr>
          <a:xfrm>
            <a:off x="6391656" y="1335024"/>
            <a:ext cx="2697480" cy="548640"/>
          </a:xfrm>
          <a:prstGeom prst="roundRect">
            <a:avLst>
              <a:gd name="adj" fmla="val 10000"/>
            </a:avLst>
          </a:prstGeom>
          <a:solidFill>
            <a:srgbClr val="1B2A4A"/>
          </a:solidFill>
          <a:ln/>
        </p:spPr>
      </p:sp>
      <p:sp>
        <p:nvSpPr>
          <p:cNvPr id="9" name="Text 7"/>
          <p:cNvSpPr/>
          <p:nvPr/>
        </p:nvSpPr>
        <p:spPr>
          <a:xfrm>
            <a:off x="6391656" y="1335024"/>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Westat</a:t>
            </a:r>
            <a:endParaRPr lang="en-US" sz="1300" dirty="0"/>
          </a:p>
        </p:txBody>
      </p:sp>
      <p:sp>
        <p:nvSpPr>
          <p:cNvPr id="10" name="Text 8"/>
          <p:cNvSpPr/>
          <p:nvPr/>
        </p:nvSpPr>
        <p:spPr>
          <a:xfrm>
            <a:off x="502920" y="2139696"/>
            <a:ext cx="8229600" cy="1097280"/>
          </a:xfrm>
          <a:prstGeom prst="rect">
            <a:avLst/>
          </a:prstGeom>
          <a:noFill/>
          <a:ln/>
        </p:spPr>
        <p:txBody>
          <a:bodyPr wrap="square" lIns="0" tIns="0" rIns="0" bIns="0" rtlCol="0" anchor="ctr"/>
          <a:lstStyle/>
          <a:p>
            <a:pPr indent="0" marL="0">
              <a:lnSpc>
                <a:spcPct val="110000"/>
              </a:lnSpc>
              <a:buNone/>
            </a:pPr>
            <a:r>
              <a:rPr lang="en-US" sz="1400" b="1" dirty="0">
                <a:solidFill>
                  <a:srgbClr val="262B33"/>
                </a:solidFill>
                <a:latin typeface="Calibri" pitchFamily="34" charset="0"/>
                <a:ea typeface="Calibri" pitchFamily="34" charset="-122"/>
                <a:cs typeface="Calibri" pitchFamily="34" charset="-120"/>
              </a:rPr>
              <a:t>The Joint Program in Survey Methodology (JPSM) </a:t>
            </a:r>
            <a:pPr indent="0" marL="0">
              <a:lnSpc>
                <a:spcPct val="110000"/>
              </a:lnSpc>
              <a:buNone/>
            </a:pPr>
            <a:r>
              <a:rPr lang="en-US" sz="1400" dirty="0">
                <a:solidFill>
                  <a:srgbClr val="262B33"/>
                </a:solidFill>
                <a:latin typeface="Calibri" pitchFamily="34" charset="0"/>
                <a:ea typeface="Calibri" pitchFamily="34" charset="-122"/>
                <a:cs typeface="Calibri" pitchFamily="34" charset="-120"/>
              </a:rPr>
              <a:t>is a graduate program in survey methodology and survey &amp; data science, run jointly by these partners and anchored by the </a:t>
            </a:r>
            <a:pPr indent="0" marL="0">
              <a:lnSpc>
                <a:spcPct val="110000"/>
              </a:lnSpc>
              <a:buNone/>
            </a:pPr>
            <a:r>
              <a:rPr lang="en-US" sz="1400" b="1" dirty="0">
                <a:solidFill>
                  <a:srgbClr val="262B33"/>
                </a:solidFill>
                <a:latin typeface="Calibri" pitchFamily="34" charset="0"/>
                <a:ea typeface="Calibri" pitchFamily="34" charset="-122"/>
                <a:cs typeface="Calibri" pitchFamily="34" charset="-120"/>
              </a:rPr>
              <a:t>Michigan SRC </a:t>
            </a:r>
            <a:pPr indent="0" marL="0">
              <a:lnSpc>
                <a:spcPct val="110000"/>
              </a:lnSpc>
              <a:buNone/>
            </a:pPr>
            <a:r>
              <a:rPr lang="en-US" sz="1400" dirty="0">
                <a:solidFill>
                  <a:srgbClr val="262B33"/>
                </a:solidFill>
                <a:latin typeface="Calibri" pitchFamily="34" charset="0"/>
                <a:ea typeface="Calibri" pitchFamily="34" charset="-122"/>
                <a:cs typeface="Calibri" pitchFamily="34" charset="-120"/>
              </a:rPr>
              <a:t>at the Institute for Social Research — home to long-running national studies and the Summer Institute in Survey Research Techniques.</a:t>
            </a:r>
            <a:endParaRPr lang="en-US" sz="1400" dirty="0"/>
          </a:p>
        </p:txBody>
      </p:sp>
      <p:sp>
        <p:nvSpPr>
          <p:cNvPr id="11" name="Shape 9"/>
          <p:cNvSpPr/>
          <p:nvPr/>
        </p:nvSpPr>
        <p:spPr>
          <a:xfrm>
            <a:off x="502920" y="3383280"/>
            <a:ext cx="82296" cy="1234440"/>
          </a:xfrm>
          <a:prstGeom prst="rect">
            <a:avLst/>
          </a:prstGeom>
          <a:solidFill>
            <a:srgbClr val="B5651D"/>
          </a:solidFill>
          <a:ln/>
        </p:spPr>
      </p:sp>
      <p:sp>
        <p:nvSpPr>
          <p:cNvPr id="12" name="Text 10"/>
          <p:cNvSpPr/>
          <p:nvPr/>
        </p:nvSpPr>
        <p:spPr>
          <a:xfrm>
            <a:off x="731520" y="3401568"/>
            <a:ext cx="8001000" cy="822960"/>
          </a:xfrm>
          <a:prstGeom prst="rect">
            <a:avLst/>
          </a:prstGeom>
          <a:noFill/>
          <a:ln/>
        </p:spPr>
        <p:txBody>
          <a:bodyPr wrap="square" lIns="0" tIns="0" rIns="0" bIns="0" rtlCol="0" anchor="ctr"/>
          <a:lstStyle/>
          <a:p>
            <a:pPr indent="0" marL="0">
              <a:lnSpc>
                <a:spcPct val="108000"/>
              </a:lnSpc>
              <a:buNone/>
            </a:pPr>
            <a:r>
              <a:rPr lang="en-US" sz="1350" b="1" dirty="0">
                <a:solidFill>
                  <a:srgbClr val="1B2A4A"/>
                </a:solidFill>
                <a:latin typeface="Calibri" pitchFamily="34" charset="0"/>
                <a:ea typeface="Calibri" pitchFamily="34" charset="-122"/>
                <a:cs typeface="Calibri" pitchFamily="34" charset="-120"/>
              </a:rPr>
              <a:t>My training:  </a:t>
            </a:r>
            <a:pPr indent="0" marL="0">
              <a:lnSpc>
                <a:spcPct val="108000"/>
              </a:lnSpc>
              <a:buNone/>
            </a:pPr>
            <a:r>
              <a:rPr lang="en-US" sz="1350" dirty="0">
                <a:solidFill>
                  <a:srgbClr val="262B33"/>
                </a:solidFill>
                <a:latin typeface="Calibri" pitchFamily="34" charset="0"/>
                <a:ea typeface="Calibri" pitchFamily="34" charset="-122"/>
                <a:cs typeface="Calibri" pitchFamily="34" charset="-120"/>
              </a:rPr>
              <a:t>an MS in Survey and Data Science (plus an MA in Psychology) — design-based sampling, measurement and latent-variable modeling, multilevel and Bayesian methods, and responsible ML / LLM integration.</a:t>
            </a:r>
            <a:endParaRPr lang="en-US" sz="1350" dirty="0"/>
          </a:p>
        </p:txBody>
      </p:sp>
      <p:sp>
        <p:nvSpPr>
          <p:cNvPr id="13" name="Text 11"/>
          <p:cNvSpPr/>
          <p:nvPr/>
        </p:nvSpPr>
        <p:spPr>
          <a:xfrm>
            <a:off x="731520" y="4224528"/>
            <a:ext cx="8001000" cy="365760"/>
          </a:xfrm>
          <a:prstGeom prst="rect">
            <a:avLst/>
          </a:prstGeom>
          <a:noFill/>
          <a:ln/>
        </p:spPr>
        <p:txBody>
          <a:bodyPr wrap="square" lIns="0" tIns="0" rIns="0" bIns="0" rtlCol="0" anchor="ctr"/>
          <a:lstStyle/>
          <a:p>
            <a:pPr indent="0" marL="0">
              <a:buNone/>
            </a:pPr>
            <a:r>
              <a:rPr lang="en-US" sz="1350" b="1" dirty="0">
                <a:solidFill>
                  <a:srgbClr val="B5651D"/>
                </a:solidFill>
                <a:latin typeface="Calibri" pitchFamily="34" charset="0"/>
                <a:ea typeface="Calibri" pitchFamily="34" charset="-122"/>
                <a:cs typeface="Calibri" pitchFamily="34" charset="-120"/>
              </a:rPr>
              <a:t>The throughline:  </a:t>
            </a:r>
            <a:pPr indent="0" marL="0">
              <a:buNone/>
            </a:pPr>
            <a:r>
              <a:rPr lang="en-US" sz="1350" b="1" dirty="0">
                <a:solidFill>
                  <a:srgbClr val="1B2A4A"/>
                </a:solidFill>
                <a:latin typeface="Calibri" pitchFamily="34" charset="0"/>
                <a:ea typeface="Calibri" pitchFamily="34" charset="-122"/>
                <a:cs typeface="Calibri" pitchFamily="34" charset="-120"/>
              </a:rPr>
              <a:t>reproducible, auditable pipelines in R and Quarto.</a:t>
            </a:r>
            <a:endParaRPr lang="en-US" sz="1350" dirty="0"/>
          </a:p>
        </p:txBody>
      </p:sp>
      <p:sp>
        <p:nvSpPr>
          <p:cNvPr id="14" name="Text 12"/>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40080" y="1993392"/>
            <a:ext cx="566928" cy="82296"/>
          </a:xfrm>
          <a:prstGeom prst="rect">
            <a:avLst/>
          </a:prstGeom>
          <a:solidFill>
            <a:srgbClr val="B5651D"/>
          </a:solidFill>
          <a:ln/>
        </p:spPr>
      </p:sp>
      <p:sp>
        <p:nvSpPr>
          <p:cNvPr id="3" name="Text 1"/>
          <p:cNvSpPr/>
          <p:nvPr/>
        </p:nvSpPr>
        <p:spPr>
          <a:xfrm>
            <a:off x="640080" y="1517904"/>
            <a:ext cx="7863840" cy="365760"/>
          </a:xfrm>
          <a:prstGeom prst="rect">
            <a:avLst/>
          </a:prstGeom>
          <a:noFill/>
          <a:ln/>
        </p:spPr>
        <p:txBody>
          <a:bodyPr wrap="square" lIns="0" tIns="0" rIns="0" bIns="0" rtlCol="0" anchor="ctr"/>
          <a:lstStyle/>
          <a:p>
            <a:pPr indent="0" marL="0">
              <a:buNone/>
            </a:pPr>
            <a:r>
              <a:rPr lang="en-US" sz="1400" b="1" spc="300" kern="0" dirty="0">
                <a:solidFill>
                  <a:srgbClr val="D6E6F2"/>
                </a:solidFill>
                <a:latin typeface="Calibri" pitchFamily="34" charset="0"/>
                <a:ea typeface="Calibri" pitchFamily="34" charset="-122"/>
                <a:cs typeface="Calibri" pitchFamily="34" charset="-120"/>
              </a:rPr>
              <a:t>SECTION 5</a:t>
            </a:r>
            <a:endParaRPr lang="en-US" sz="1400" dirty="0"/>
          </a:p>
        </p:txBody>
      </p:sp>
      <p:sp>
        <p:nvSpPr>
          <p:cNvPr id="4" name="Text 2"/>
          <p:cNvSpPr/>
          <p:nvPr/>
        </p:nvSpPr>
        <p:spPr>
          <a:xfrm>
            <a:off x="640080" y="2212848"/>
            <a:ext cx="7863840" cy="1188720"/>
          </a:xfrm>
          <a:prstGeom prst="rect">
            <a:avLst/>
          </a:prstGeom>
          <a:noFill/>
          <a:ln/>
        </p:spPr>
        <p:txBody>
          <a:bodyPr wrap="square" lIns="0" tIns="0" rIns="0" bIns="0"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Bringing It Back</a:t>
            </a:r>
            <a:endParaRPr lang="en-US" sz="3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3A7D44"/>
                </a:solidFill>
                <a:latin typeface="Calibri" pitchFamily="34" charset="0"/>
                <a:ea typeface="Calibri" pitchFamily="34" charset="-122"/>
                <a:cs typeface="Calibri" pitchFamily="34" charset="-120"/>
              </a:rPr>
              <a:t>FOR OUR SHOP</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Two commitments</a:t>
            </a:r>
            <a:endParaRPr lang="en-US" sz="2700" dirty="0"/>
          </a:p>
        </p:txBody>
      </p:sp>
      <p:sp>
        <p:nvSpPr>
          <p:cNvPr id="4" name="Shape 2"/>
          <p:cNvSpPr/>
          <p:nvPr/>
        </p:nvSpPr>
        <p:spPr>
          <a:xfrm>
            <a:off x="502920" y="1371600"/>
            <a:ext cx="4023360" cy="3017520"/>
          </a:xfrm>
          <a:prstGeom prst="rect">
            <a:avLst/>
          </a:prstGeom>
          <a:solidFill>
            <a:srgbClr val="FFFFFF"/>
          </a:solidFill>
          <a:ln w="12700">
            <a:solidFill>
              <a:srgbClr val="EAECEF"/>
            </a:solidFill>
            <a:prstDash val="solid"/>
          </a:ln>
          <a:effectLst>
            <a:outerShdw sx="100000" sy="100000" kx="0" ky="0" algn="bl" rotWithShape="0" blurRad="88900" dist="25400" dir="8100000">
              <a:srgbClr val="000000">
                <a:alpha val="16000"/>
              </a:srgbClr>
            </a:outerShdw>
          </a:effectLst>
        </p:spPr>
      </p:sp>
      <p:sp>
        <p:nvSpPr>
          <p:cNvPr id="5" name="Shape 3"/>
          <p:cNvSpPr/>
          <p:nvPr/>
        </p:nvSpPr>
        <p:spPr>
          <a:xfrm>
            <a:off x="502920" y="1371600"/>
            <a:ext cx="4023360" cy="786384"/>
          </a:xfrm>
          <a:prstGeom prst="rect">
            <a:avLst/>
          </a:prstGeom>
          <a:solidFill>
            <a:srgbClr val="2C6E9C"/>
          </a:solidFill>
          <a:ln/>
        </p:spPr>
      </p:sp>
      <p:sp>
        <p:nvSpPr>
          <p:cNvPr id="6" name="Shape 4"/>
          <p:cNvSpPr/>
          <p:nvPr/>
        </p:nvSpPr>
        <p:spPr>
          <a:xfrm>
            <a:off x="758952" y="1572768"/>
            <a:ext cx="384048" cy="384048"/>
          </a:xfrm>
          <a:prstGeom prst="ellipse">
            <a:avLst/>
          </a:prstGeom>
          <a:solidFill>
            <a:srgbClr val="FFFFFF"/>
          </a:solidFill>
          <a:ln/>
        </p:spPr>
      </p:sp>
      <p:sp>
        <p:nvSpPr>
          <p:cNvPr id="7" name="Text 5"/>
          <p:cNvSpPr/>
          <p:nvPr/>
        </p:nvSpPr>
        <p:spPr>
          <a:xfrm>
            <a:off x="758952" y="1572768"/>
            <a:ext cx="384048" cy="384048"/>
          </a:xfrm>
          <a:prstGeom prst="rect">
            <a:avLst/>
          </a:prstGeom>
          <a:noFill/>
          <a:ln/>
        </p:spPr>
        <p:txBody>
          <a:bodyPr wrap="square" lIns="0" tIns="0" rIns="0" bIns="0" rtlCol="0" anchor="ctr"/>
          <a:lstStyle/>
          <a:p>
            <a:pPr algn="ctr" indent="0" marL="0">
              <a:buNone/>
            </a:pPr>
            <a:r>
              <a:rPr lang="en-US" sz="1800" b="1" dirty="0">
                <a:solidFill>
                  <a:srgbClr val="2C6E9C"/>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280160" y="1371600"/>
            <a:ext cx="3063240" cy="786384"/>
          </a:xfrm>
          <a:prstGeom prst="rect">
            <a:avLst/>
          </a:prstGeom>
          <a:noFill/>
          <a:ln/>
        </p:spPr>
        <p:txBody>
          <a:bodyPr wrap="square" lIns="0" tIns="0" rIns="0" bIns="0" rtlCol="0" anchor="ctr"/>
          <a:lstStyle/>
          <a:p>
            <a:pPr indent="0" marL="0">
              <a:lnSpc>
                <a:spcPct val="95000"/>
              </a:lnSpc>
              <a:buNone/>
            </a:pPr>
            <a:r>
              <a:rPr lang="en-US" sz="1500" b="1" dirty="0">
                <a:solidFill>
                  <a:srgbClr val="FFFFFF"/>
                </a:solidFill>
                <a:latin typeface="Georgia" pitchFamily="34" charset="0"/>
                <a:ea typeface="Georgia" pitchFamily="34" charset="-122"/>
                <a:cs typeface="Georgia" pitchFamily="34" charset="-120"/>
              </a:rPr>
              <a:t>Monitor survey data quality — continuously</a:t>
            </a:r>
            <a:endParaRPr lang="en-US" sz="1500" dirty="0"/>
          </a:p>
        </p:txBody>
      </p:sp>
      <p:sp>
        <p:nvSpPr>
          <p:cNvPr id="9" name="Text 7"/>
          <p:cNvSpPr/>
          <p:nvPr/>
        </p:nvSpPr>
        <p:spPr>
          <a:xfrm>
            <a:off x="777240" y="2340864"/>
            <a:ext cx="3520440" cy="187452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300" dirty="0">
                <a:solidFill>
                  <a:srgbClr val="262B33"/>
                </a:solidFill>
                <a:latin typeface="Calibri" pitchFamily="34" charset="0"/>
                <a:ea typeface="Calibri" pitchFamily="34" charset="-122"/>
                <a:cs typeface="Calibri" pitchFamily="34" charset="-120"/>
              </a:rPr>
              <a:t>Treat quality as multi-dimensional (TSE + fitness-for-use), not just a response rate.</a:t>
            </a:r>
            <a:endParaRPr lang="en-US" sz="1300" dirty="0"/>
          </a:p>
          <a:p>
            <a:pPr marL="342900" indent="-342900">
              <a:lnSpc>
                <a:spcPct val="105000"/>
              </a:lnSpc>
              <a:spcAft>
                <a:spcPts val="900"/>
              </a:spcAft>
              <a:buSzPct val="100000"/>
              <a:buChar char="•"/>
            </a:pPr>
            <a:r>
              <a:rPr lang="en-US" sz="1300" dirty="0">
                <a:solidFill>
                  <a:srgbClr val="262B33"/>
                </a:solidFill>
                <a:latin typeface="Calibri" pitchFamily="34" charset="0"/>
                <a:ea typeface="Calibri" pitchFamily="34" charset="-122"/>
                <a:cs typeface="Calibri" pitchFamily="34" charset="-120"/>
              </a:rPr>
              <a:t>Track indicators and paradata over time; flag and investigate departures; keep design-based inference honest.</a:t>
            </a:r>
            <a:endParaRPr lang="en-US" sz="1300" dirty="0"/>
          </a:p>
        </p:txBody>
      </p:sp>
      <p:sp>
        <p:nvSpPr>
          <p:cNvPr id="10" name="Shape 8"/>
          <p:cNvSpPr/>
          <p:nvPr/>
        </p:nvSpPr>
        <p:spPr>
          <a:xfrm>
            <a:off x="4892040" y="1371600"/>
            <a:ext cx="4023360" cy="3017520"/>
          </a:xfrm>
          <a:prstGeom prst="rect">
            <a:avLst/>
          </a:prstGeom>
          <a:solidFill>
            <a:srgbClr val="FFFFFF"/>
          </a:solidFill>
          <a:ln w="12700">
            <a:solidFill>
              <a:srgbClr val="EAECEF"/>
            </a:solidFill>
            <a:prstDash val="solid"/>
          </a:ln>
          <a:effectLst>
            <a:outerShdw sx="100000" sy="100000" kx="0" ky="0" algn="bl" rotWithShape="0" blurRad="88900" dist="25400" dir="8100000">
              <a:srgbClr val="000000">
                <a:alpha val="16000"/>
              </a:srgbClr>
            </a:outerShdw>
          </a:effectLst>
        </p:spPr>
      </p:sp>
      <p:sp>
        <p:nvSpPr>
          <p:cNvPr id="11" name="Shape 9"/>
          <p:cNvSpPr/>
          <p:nvPr/>
        </p:nvSpPr>
        <p:spPr>
          <a:xfrm>
            <a:off x="4892040" y="1371600"/>
            <a:ext cx="4023360" cy="786384"/>
          </a:xfrm>
          <a:prstGeom prst="rect">
            <a:avLst/>
          </a:prstGeom>
          <a:solidFill>
            <a:srgbClr val="3A7D44"/>
          </a:solidFill>
          <a:ln/>
        </p:spPr>
      </p:sp>
      <p:sp>
        <p:nvSpPr>
          <p:cNvPr id="12" name="Shape 10"/>
          <p:cNvSpPr/>
          <p:nvPr/>
        </p:nvSpPr>
        <p:spPr>
          <a:xfrm>
            <a:off x="5148072" y="1572768"/>
            <a:ext cx="384048" cy="384048"/>
          </a:xfrm>
          <a:prstGeom prst="ellipse">
            <a:avLst/>
          </a:prstGeom>
          <a:solidFill>
            <a:srgbClr val="FFFFFF"/>
          </a:solidFill>
          <a:ln/>
        </p:spPr>
      </p:sp>
      <p:sp>
        <p:nvSpPr>
          <p:cNvPr id="13" name="Text 11"/>
          <p:cNvSpPr/>
          <p:nvPr/>
        </p:nvSpPr>
        <p:spPr>
          <a:xfrm>
            <a:off x="5148072" y="1572768"/>
            <a:ext cx="384048" cy="384048"/>
          </a:xfrm>
          <a:prstGeom prst="rect">
            <a:avLst/>
          </a:prstGeom>
          <a:noFill/>
          <a:ln/>
        </p:spPr>
        <p:txBody>
          <a:bodyPr wrap="square" lIns="0" tIns="0" rIns="0" bIns="0" rtlCol="0" anchor="ctr"/>
          <a:lstStyle/>
          <a:p>
            <a:pPr algn="ctr" indent="0" marL="0">
              <a:buNone/>
            </a:pPr>
            <a:r>
              <a:rPr lang="en-US" sz="1800" b="1" dirty="0">
                <a:solidFill>
                  <a:srgbClr val="3A7D44"/>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5669280" y="1371600"/>
            <a:ext cx="3063240" cy="786384"/>
          </a:xfrm>
          <a:prstGeom prst="rect">
            <a:avLst/>
          </a:prstGeom>
          <a:noFill/>
          <a:ln/>
        </p:spPr>
        <p:txBody>
          <a:bodyPr wrap="square" lIns="0" tIns="0" rIns="0" bIns="0" rtlCol="0" anchor="ctr"/>
          <a:lstStyle/>
          <a:p>
            <a:pPr indent="0" marL="0">
              <a:lnSpc>
                <a:spcPct val="95000"/>
              </a:lnSpc>
              <a:buNone/>
            </a:pPr>
            <a:r>
              <a:rPr lang="en-US" sz="1500" b="1" dirty="0">
                <a:solidFill>
                  <a:srgbClr val="FFFFFF"/>
                </a:solidFill>
                <a:latin typeface="Georgia" pitchFamily="34" charset="0"/>
                <a:ea typeface="Georgia" pitchFamily="34" charset="-122"/>
                <a:cs typeface="Georgia" pitchFamily="34" charset="-120"/>
              </a:rPr>
              <a:t>Experiment with SurvAI — responsibly</a:t>
            </a:r>
            <a:endParaRPr lang="en-US" sz="1500" dirty="0"/>
          </a:p>
        </p:txBody>
      </p:sp>
      <p:sp>
        <p:nvSpPr>
          <p:cNvPr id="15" name="Text 13"/>
          <p:cNvSpPr/>
          <p:nvPr/>
        </p:nvSpPr>
        <p:spPr>
          <a:xfrm>
            <a:off x="5166360" y="2340864"/>
            <a:ext cx="3520440" cy="187452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300" dirty="0">
                <a:solidFill>
                  <a:srgbClr val="262B33"/>
                </a:solidFill>
                <a:latin typeface="Calibri" pitchFamily="34" charset="0"/>
                <a:ea typeface="Calibri" pitchFamily="34" charset="-122"/>
                <a:cs typeface="Calibri" pitchFamily="34" charset="-120"/>
              </a:rPr>
              <a:t>Pilot LLMs where they help (item drafting, coding, probing, imputation) — each with a fitness-for-use evaluation and a human in the loop.</a:t>
            </a:r>
            <a:endParaRPr lang="en-US" sz="1300" dirty="0"/>
          </a:p>
          <a:p>
            <a:pPr marL="342900" indent="-342900">
              <a:lnSpc>
                <a:spcPct val="105000"/>
              </a:lnSpc>
              <a:spcAft>
                <a:spcPts val="900"/>
              </a:spcAft>
              <a:buSzPct val="100000"/>
              <a:buChar char="•"/>
            </a:pPr>
            <a:r>
              <a:rPr lang="en-US" sz="1300" dirty="0">
                <a:solidFill>
                  <a:srgbClr val="262B33"/>
                </a:solidFill>
                <a:latin typeface="Calibri" pitchFamily="34" charset="0"/>
                <a:ea typeface="Calibri" pitchFamily="34" charset="-122"/>
                <a:cs typeface="Calibri" pitchFamily="34" charset="-120"/>
              </a:rPr>
              <a:t>Insist on transparency and disclosure; prefer enterprise / closed deployments for sensitive data; watch for new error sources.</a:t>
            </a:r>
            <a:endParaRPr lang="en-US" sz="1300" dirty="0"/>
          </a:p>
        </p:txBody>
      </p:sp>
      <p:sp>
        <p:nvSpPr>
          <p:cNvPr id="16" name="Text 14"/>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3A7D44"/>
                </a:solidFill>
                <a:latin typeface="Calibri" pitchFamily="34" charset="0"/>
                <a:ea typeface="Calibri" pitchFamily="34" charset="-122"/>
                <a:cs typeface="Calibri" pitchFamily="34" charset="-120"/>
              </a:rPr>
              <a:t>MADE CONCRETE</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Continuous quality monitoring</a:t>
            </a:r>
            <a:endParaRPr lang="en-US" sz="2700" dirty="0"/>
          </a:p>
        </p:txBody>
      </p:sp>
      <p:graphicFrame>
        <p:nvGraphicFramePr>
          <p:cNvPr id="4" name="Chart 0" descr=""/>
          <p:cNvGraphicFramePr/>
          <p:nvPr/>
        </p:nvGraphicFramePr>
        <p:xfrm>
          <a:off x="457200" y="1417320"/>
          <a:ext cx="6126480" cy="3154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4608576"/>
            <a:ext cx="612648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Illustrative: track an indicator over time, set limits, and act on signals — earlier detection, not after-the-fact surprise.</a:t>
            </a:r>
            <a:endParaRPr lang="en-US" sz="1050" dirty="0"/>
          </a:p>
        </p:txBody>
      </p:sp>
      <p:sp>
        <p:nvSpPr>
          <p:cNvPr id="6" name="Shape 3"/>
          <p:cNvSpPr/>
          <p:nvPr/>
        </p:nvSpPr>
        <p:spPr>
          <a:xfrm>
            <a:off x="6858000" y="1554480"/>
            <a:ext cx="1874520" cy="2834640"/>
          </a:xfrm>
          <a:prstGeom prst="rect">
            <a:avLst/>
          </a:prstGeom>
          <a:solidFill>
            <a:srgbClr val="EAECEF"/>
          </a:solidFill>
          <a:ln/>
        </p:spPr>
      </p:sp>
      <p:sp>
        <p:nvSpPr>
          <p:cNvPr id="7" name="Shape 4"/>
          <p:cNvSpPr/>
          <p:nvPr/>
        </p:nvSpPr>
        <p:spPr>
          <a:xfrm>
            <a:off x="6858000" y="1554480"/>
            <a:ext cx="1874520" cy="457200"/>
          </a:xfrm>
          <a:prstGeom prst="rect">
            <a:avLst/>
          </a:prstGeom>
          <a:solidFill>
            <a:srgbClr val="9C2C2C"/>
          </a:solidFill>
          <a:ln/>
        </p:spPr>
      </p:sp>
      <p:sp>
        <p:nvSpPr>
          <p:cNvPr id="8" name="Text 5"/>
          <p:cNvSpPr/>
          <p:nvPr/>
        </p:nvSpPr>
        <p:spPr>
          <a:xfrm>
            <a:off x="6858000" y="1554480"/>
            <a:ext cx="187452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WEEK 18–19</a:t>
            </a:r>
            <a:endParaRPr lang="en-US" sz="1250" dirty="0"/>
          </a:p>
        </p:txBody>
      </p:sp>
      <p:sp>
        <p:nvSpPr>
          <p:cNvPr id="9" name="Text 6"/>
          <p:cNvSpPr/>
          <p:nvPr/>
        </p:nvSpPr>
        <p:spPr>
          <a:xfrm>
            <a:off x="7022592" y="2139696"/>
            <a:ext cx="1600200" cy="2148840"/>
          </a:xfrm>
          <a:prstGeom prst="rect">
            <a:avLst/>
          </a:prstGeom>
          <a:noFill/>
          <a:ln/>
        </p:spPr>
        <p:txBody>
          <a:bodyPr wrap="square" lIns="0" tIns="0" rIns="0" bIns="0" rtlCol="0" anchor="ctr"/>
          <a:lstStyle/>
          <a:p>
            <a:pPr indent="0" marL="0">
              <a:lnSpc>
                <a:spcPct val="108000"/>
              </a:lnSpc>
              <a:buNone/>
            </a:pPr>
            <a:r>
              <a:rPr lang="en-US" sz="1250" b="1" dirty="0">
                <a:solidFill>
                  <a:srgbClr val="262B33"/>
                </a:solidFill>
                <a:latin typeface="Calibri" pitchFamily="34" charset="0"/>
                <a:ea typeface="Calibri" pitchFamily="34" charset="-122"/>
                <a:cs typeface="Calibri" pitchFamily="34" charset="-120"/>
              </a:rPr>
              <a:t>Indicator breaches the lower limit.</a:t>
            </a:r>
            <a:endParaRPr lang="en-US" sz="1250" dirty="0"/>
          </a:p>
          <a:p>
            <a:pPr indent="0" marL="0">
              <a:lnSpc>
                <a:spcPct val="108000"/>
              </a:lnSpc>
              <a:buNone/>
            </a:pPr>
            <a:endParaRPr lang="en-US" sz="1250" dirty="0"/>
          </a:p>
          <a:p>
            <a:pPr indent="0" marL="0">
              <a:lnSpc>
                <a:spcPct val="108000"/>
              </a:lnSpc>
              <a:buNone/>
            </a:pPr>
            <a:r>
              <a:rPr lang="en-US" sz="1250" dirty="0">
                <a:solidFill>
                  <a:srgbClr val="262B33"/>
                </a:solidFill>
                <a:latin typeface="Calibri" pitchFamily="34" charset="0"/>
                <a:ea typeface="Calibri" pitchFamily="34" charset="-122"/>
                <a:cs typeface="Calibri" pitchFamily="34" charset="-120"/>
              </a:rPr>
              <a:t>Signal → investigate before it becomes an end-of-field surprise.</a:t>
            </a:r>
            <a:endParaRPr lang="en-US" sz="1250" dirty="0"/>
          </a:p>
        </p:txBody>
      </p:sp>
      <p:sp>
        <p:nvSpPr>
          <p:cNvPr id="10" name="Text 7"/>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250" b="1" spc="200" kern="0" dirty="0">
                <a:solidFill>
                  <a:srgbClr val="3A7D44"/>
                </a:solidFill>
                <a:latin typeface="Calibri" pitchFamily="34" charset="0"/>
                <a:ea typeface="Calibri" pitchFamily="34" charset="-122"/>
                <a:cs typeface="Calibri" pitchFamily="34" charset="-120"/>
              </a:rPr>
              <a:t>THE BOTTOM LINE</a:t>
            </a:r>
            <a:endParaRPr lang="en-US" sz="1250" dirty="0"/>
          </a:p>
        </p:txBody>
      </p:sp>
      <p:sp>
        <p:nvSpPr>
          <p:cNvPr id="3" name="Text 1"/>
          <p:cNvSpPr/>
          <p:nvPr/>
        </p:nvSpPr>
        <p:spPr>
          <a:xfrm>
            <a:off x="502920" y="548640"/>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Why this matters here — and what I'd do next</a:t>
            </a:r>
            <a:endParaRPr lang="en-US" sz="2700" dirty="0"/>
          </a:p>
        </p:txBody>
      </p:sp>
      <p:sp>
        <p:nvSpPr>
          <p:cNvPr id="4" name="Text 2"/>
          <p:cNvSpPr/>
          <p:nvPr/>
        </p:nvSpPr>
        <p:spPr>
          <a:xfrm>
            <a:off x="502920" y="1371600"/>
            <a:ext cx="8229600" cy="1691640"/>
          </a:xfrm>
          <a:prstGeom prst="rect">
            <a:avLst/>
          </a:prstGeom>
          <a:noFill/>
          <a:ln/>
        </p:spPr>
        <p:txBody>
          <a:bodyPr wrap="square" lIns="0" tIns="0" rIns="0" bIns="0" rtlCol="0" anchor="ctr"/>
          <a:lstStyle/>
          <a:p>
            <a:pPr marL="342900" indent="-342900">
              <a:lnSpc>
                <a:spcPct val="106000"/>
              </a:lnSpc>
              <a:spcAft>
                <a:spcPts val="1100"/>
              </a:spcAft>
              <a:buSzPct val="100000"/>
              <a:buChar char="•"/>
            </a:pPr>
            <a:r>
              <a:rPr lang="en-US" sz="1500" b="1" dirty="0">
                <a:solidFill>
                  <a:srgbClr val="262B33"/>
                </a:solidFill>
                <a:latin typeface="Calibri" pitchFamily="34" charset="0"/>
                <a:ea typeface="Calibri" pitchFamily="34" charset="-122"/>
                <a:cs typeface="Calibri" pitchFamily="34" charset="-120"/>
              </a:rPr>
              <a:t>Our decisions ride on data we must be able to defend and reproduce.</a:t>
            </a:r>
            <a:endParaRPr lang="en-US" sz="1500" dirty="0"/>
          </a:p>
          <a:p>
            <a:pPr marL="342900" indent="-342900">
              <a:lnSpc>
                <a:spcPct val="106000"/>
              </a:lnSpc>
              <a:spcAft>
                <a:spcPts val="1100"/>
              </a:spcAft>
              <a:buSzPct val="100000"/>
              <a:buChar char="•"/>
            </a:pPr>
            <a:r>
              <a:rPr lang="en-US" sz="1500" dirty="0">
                <a:solidFill>
                  <a:srgbClr val="262B33"/>
                </a:solidFill>
                <a:latin typeface="Calibri" pitchFamily="34" charset="0"/>
                <a:ea typeface="Calibri" pitchFamily="34" charset="-122"/>
                <a:cs typeface="Calibri" pitchFamily="34" charset="-120"/>
              </a:rPr>
              <a:t>The discipline that protects a public survey protects analytic products: know the error structure, document the pipeline, disclose any tool use.</a:t>
            </a:r>
            <a:endParaRPr lang="en-US" sz="1500" dirty="0"/>
          </a:p>
          <a:p>
            <a:pPr marL="342900" indent="-342900">
              <a:lnSpc>
                <a:spcPct val="106000"/>
              </a:lnSpc>
              <a:spcAft>
                <a:spcPts val="1100"/>
              </a:spcAft>
              <a:buSzPct val="100000"/>
              <a:buChar char="•"/>
            </a:pPr>
            <a:r>
              <a:rPr lang="en-US" sz="1500" dirty="0">
                <a:solidFill>
                  <a:srgbClr val="262B33"/>
                </a:solidFill>
                <a:latin typeface="Calibri" pitchFamily="34" charset="0"/>
                <a:ea typeface="Calibri" pitchFamily="34" charset="-122"/>
                <a:cs typeface="Calibri" pitchFamily="34" charset="-120"/>
              </a:rPr>
              <a:t>For public opinion analysis, AI is a force multiplier inside a sound methodology — not a substitute for it.</a:t>
            </a:r>
            <a:endParaRPr lang="en-US" sz="1500" dirty="0"/>
          </a:p>
        </p:txBody>
      </p:sp>
      <p:sp>
        <p:nvSpPr>
          <p:cNvPr id="5" name="Shape 3"/>
          <p:cNvSpPr/>
          <p:nvPr/>
        </p:nvSpPr>
        <p:spPr>
          <a:xfrm>
            <a:off x="502920" y="3291840"/>
            <a:ext cx="8229600" cy="1325880"/>
          </a:xfrm>
          <a:prstGeom prst="rect">
            <a:avLst/>
          </a:prstGeom>
          <a:solidFill>
            <a:srgbClr val="1B2A4A"/>
          </a:solidFill>
          <a:ln/>
        </p:spPr>
      </p:sp>
      <p:sp>
        <p:nvSpPr>
          <p:cNvPr id="6" name="Text 4"/>
          <p:cNvSpPr/>
          <p:nvPr/>
        </p:nvSpPr>
        <p:spPr>
          <a:xfrm>
            <a:off x="713232" y="3419856"/>
            <a:ext cx="8229600" cy="292608"/>
          </a:xfrm>
          <a:prstGeom prst="rect">
            <a:avLst/>
          </a:prstGeom>
          <a:noFill/>
          <a:ln/>
        </p:spPr>
        <p:txBody>
          <a:bodyPr wrap="square" lIns="0" tIns="0" rIns="0" bIns="0" rtlCol="0" anchor="ctr"/>
          <a:lstStyle/>
          <a:p>
            <a:pPr indent="0" marL="0">
              <a:buNone/>
            </a:pPr>
            <a:r>
              <a:rPr lang="en-US" sz="1250" b="1" spc="200" kern="0" dirty="0">
                <a:solidFill>
                  <a:srgbClr val="D6E6F2"/>
                </a:solidFill>
                <a:latin typeface="Calibri" pitchFamily="34" charset="0"/>
                <a:ea typeface="Calibri" pitchFamily="34" charset="-122"/>
                <a:cs typeface="Calibri" pitchFamily="34" charset="-120"/>
              </a:rPr>
              <a:t>NEXT STEPS</a:t>
            </a:r>
            <a:endParaRPr lang="en-US" sz="1250" dirty="0"/>
          </a:p>
        </p:txBody>
      </p:sp>
      <p:sp>
        <p:nvSpPr>
          <p:cNvPr id="7" name="Text 5"/>
          <p:cNvSpPr/>
          <p:nvPr/>
        </p:nvSpPr>
        <p:spPr>
          <a:xfrm>
            <a:off x="713232" y="3785616"/>
            <a:ext cx="2670048" cy="2743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Monitor</a:t>
            </a:r>
            <a:endParaRPr lang="en-US" sz="1500" dirty="0"/>
          </a:p>
        </p:txBody>
      </p:sp>
      <p:sp>
        <p:nvSpPr>
          <p:cNvPr id="8" name="Text 6"/>
          <p:cNvSpPr/>
          <p:nvPr/>
        </p:nvSpPr>
        <p:spPr>
          <a:xfrm>
            <a:off x="713232" y="4078224"/>
            <a:ext cx="2670048" cy="502920"/>
          </a:xfrm>
          <a:prstGeom prst="rect">
            <a:avLst/>
          </a:prstGeom>
          <a:noFill/>
          <a:ln/>
        </p:spPr>
        <p:txBody>
          <a:bodyPr wrap="square" lIns="0" tIns="0" rIns="0" bIns="0" rtlCol="0" anchor="ctr"/>
          <a:lstStyle/>
          <a:p>
            <a:pPr indent="0" marL="0">
              <a:lnSpc>
                <a:spcPct val="102000"/>
              </a:lnSpc>
              <a:buNone/>
            </a:pPr>
            <a:r>
              <a:rPr lang="en-US" sz="1200" dirty="0">
                <a:solidFill>
                  <a:srgbClr val="D7DEEA"/>
                </a:solidFill>
                <a:latin typeface="Calibri" pitchFamily="34" charset="0"/>
                <a:ea typeface="Calibri" pitchFamily="34" charset="-122"/>
                <a:cs typeface="Calibri" pitchFamily="34" charset="-120"/>
              </a:rPr>
              <a:t>Stand up lightweight quality monitoring.</a:t>
            </a:r>
            <a:endParaRPr lang="en-US" sz="1200" dirty="0"/>
          </a:p>
        </p:txBody>
      </p:sp>
      <p:sp>
        <p:nvSpPr>
          <p:cNvPr id="9" name="Text 7"/>
          <p:cNvSpPr/>
          <p:nvPr/>
        </p:nvSpPr>
        <p:spPr>
          <a:xfrm>
            <a:off x="3493008" y="3785616"/>
            <a:ext cx="2670048" cy="2743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Pilot</a:t>
            </a:r>
            <a:endParaRPr lang="en-US" sz="1500" dirty="0"/>
          </a:p>
        </p:txBody>
      </p:sp>
      <p:sp>
        <p:nvSpPr>
          <p:cNvPr id="10" name="Text 8"/>
          <p:cNvSpPr/>
          <p:nvPr/>
        </p:nvSpPr>
        <p:spPr>
          <a:xfrm>
            <a:off x="3493008" y="4078224"/>
            <a:ext cx="2670048" cy="502920"/>
          </a:xfrm>
          <a:prstGeom prst="rect">
            <a:avLst/>
          </a:prstGeom>
          <a:noFill/>
          <a:ln/>
        </p:spPr>
        <p:txBody>
          <a:bodyPr wrap="square" lIns="0" tIns="0" rIns="0" bIns="0" rtlCol="0" anchor="ctr"/>
          <a:lstStyle/>
          <a:p>
            <a:pPr indent="0" marL="0">
              <a:lnSpc>
                <a:spcPct val="102000"/>
              </a:lnSpc>
              <a:buNone/>
            </a:pPr>
            <a:r>
              <a:rPr lang="en-US" sz="1200" dirty="0">
                <a:solidFill>
                  <a:srgbClr val="D7DEEA"/>
                </a:solidFill>
                <a:latin typeface="Calibri" pitchFamily="34" charset="0"/>
                <a:ea typeface="Calibri" pitchFamily="34" charset="-122"/>
                <a:cs typeface="Calibri" pitchFamily="34" charset="-120"/>
              </a:rPr>
              <a:t>Run small, well-evaluated SurvAI pilots.</a:t>
            </a:r>
            <a:endParaRPr lang="en-US" sz="1200" dirty="0"/>
          </a:p>
        </p:txBody>
      </p:sp>
      <p:sp>
        <p:nvSpPr>
          <p:cNvPr id="11" name="Text 9"/>
          <p:cNvSpPr/>
          <p:nvPr/>
        </p:nvSpPr>
        <p:spPr>
          <a:xfrm>
            <a:off x="6272784" y="3785616"/>
            <a:ext cx="2670048" cy="2743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Disclose</a:t>
            </a:r>
            <a:endParaRPr lang="en-US" sz="1500" dirty="0"/>
          </a:p>
        </p:txBody>
      </p:sp>
      <p:sp>
        <p:nvSpPr>
          <p:cNvPr id="12" name="Text 10"/>
          <p:cNvSpPr/>
          <p:nvPr/>
        </p:nvSpPr>
        <p:spPr>
          <a:xfrm>
            <a:off x="6272784" y="4078224"/>
            <a:ext cx="2670048" cy="502920"/>
          </a:xfrm>
          <a:prstGeom prst="rect">
            <a:avLst/>
          </a:prstGeom>
          <a:noFill/>
          <a:ln/>
        </p:spPr>
        <p:txBody>
          <a:bodyPr wrap="square" lIns="0" tIns="0" rIns="0" bIns="0" rtlCol="0" anchor="ctr"/>
          <a:lstStyle/>
          <a:p>
            <a:pPr indent="0" marL="0">
              <a:lnSpc>
                <a:spcPct val="102000"/>
              </a:lnSpc>
              <a:buNone/>
            </a:pPr>
            <a:r>
              <a:rPr lang="en-US" sz="1200" dirty="0">
                <a:solidFill>
                  <a:srgbClr val="D7DEEA"/>
                </a:solidFill>
                <a:latin typeface="Calibri" pitchFamily="34" charset="0"/>
                <a:ea typeface="Calibri" pitchFamily="34" charset="-122"/>
                <a:cs typeface="Calibri" pitchFamily="34" charset="-120"/>
              </a:rPr>
              <a:t>Adopt a standard for disclosing AI use.</a:t>
            </a:r>
            <a:endParaRPr lang="en-US" sz="1200" dirty="0"/>
          </a:p>
        </p:txBody>
      </p:sp>
      <p:sp>
        <p:nvSpPr>
          <p:cNvPr id="13" name="Text 11"/>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658368"/>
          </a:xfrm>
          <a:prstGeom prst="rect">
            <a:avLst/>
          </a:prstGeom>
          <a:noFill/>
          <a:ln/>
        </p:spPr>
        <p:txBody>
          <a:bodyPr wrap="square" lIns="0" tIns="0" rIns="0" bIns="0" rtlCol="0" anchor="ctr"/>
          <a:lstStyle/>
          <a:p>
            <a:pPr indent="0" marL="0">
              <a:buNone/>
            </a:pPr>
            <a:r>
              <a:rPr lang="en-US" sz="2700" b="1" dirty="0">
                <a:solidFill>
                  <a:srgbClr val="1B2A4A"/>
                </a:solidFill>
                <a:latin typeface="Georgia" pitchFamily="34" charset="0"/>
                <a:ea typeface="Georgia" pitchFamily="34" charset="-122"/>
                <a:cs typeface="Georgia" pitchFamily="34" charset="-120"/>
              </a:rPr>
              <a:t>Selected references</a:t>
            </a:r>
            <a:endParaRPr lang="en-US" sz="2700" dirty="0"/>
          </a:p>
        </p:txBody>
      </p:sp>
      <p:sp>
        <p:nvSpPr>
          <p:cNvPr id="3" name="Text 1"/>
          <p:cNvSpPr/>
          <p:nvPr/>
        </p:nvSpPr>
        <p:spPr>
          <a:xfrm>
            <a:off x="502920" y="1298448"/>
            <a:ext cx="4069080" cy="3474720"/>
          </a:xfrm>
          <a:prstGeom prst="rect">
            <a:avLst/>
          </a:prstGeom>
          <a:noFill/>
          <a:ln/>
        </p:spPr>
        <p:txBody>
          <a:bodyPr wrap="square" lIns="0" tIns="0" rIns="0" bIns="0" rtlCol="0" anchor="ctr"/>
          <a:lstStyle/>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West, B. T., Heeringa, S. G., &amp; Berglund, P. A. (2025). Applied Survey Data Analysis (3rd ed.). Chapman &amp; Hall/CRC.</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Groves, R. M., et al. (2009). Survey Methodology (2nd ed.). Wiley.  (Total Survey Error)</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Amaya, A., Biemer, P. P., &amp; Kinyon, D. (2020). Total error in a big data world.  (Total Error Framework, TEF)</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Biemer, P. P. (2016b).  (row / column / cell view of big-data error — distinct from the 2020 TEF)</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Hsieh, Y. P., &amp; Murphy, J. (2017). Total Twitter error. In Total Survey Error in Practice (Wiley).</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Schober, M. F., et al. (2016). Social media analyses for social measurement. Public Opinion Quarterly.</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Lazer, D., et al. (2014). The parable of Google Flu. Science.</a:t>
            </a:r>
            <a:endParaRPr lang="en-US" sz="1000" dirty="0"/>
          </a:p>
        </p:txBody>
      </p:sp>
      <p:sp>
        <p:nvSpPr>
          <p:cNvPr id="4" name="Text 2"/>
          <p:cNvSpPr/>
          <p:nvPr/>
        </p:nvSpPr>
        <p:spPr>
          <a:xfrm>
            <a:off x="4709160" y="1298448"/>
            <a:ext cx="4069080" cy="3474720"/>
          </a:xfrm>
          <a:prstGeom prst="rect">
            <a:avLst/>
          </a:prstGeom>
          <a:noFill/>
          <a:ln/>
        </p:spPr>
        <p:txBody>
          <a:bodyPr wrap="square" lIns="0" tIns="0" rIns="0" bIns="0" rtlCol="0" anchor="ctr"/>
          <a:lstStyle/>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Groves, R. M. (2006). Nonresponse rates and nonresponse bias in household surveys. Public Opinion Quarterly, 70(5).</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Curtin, R., Presser, S., &amp; Singer, E. (2000). The effects of response rate changes on the Index of Consumer Sentiment. Public Opinion Quarterly, 64(4).</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Little, R. J., &amp; Vartivarian, S. L. (2005). Does weighting for nonresponse increase the variance of survey means? Survey Methodology, 31.</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West, B. T., Sakshaug, J. W., &amp; Aurelien, G. A. S. (2016). How big of a problem is analytic error in secondary analyses of survey data? PLoS One, 11(6).</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Buskirk, T. D. (2026). Let's Not Leave Probability Panels to Chance. CIPHER Keynote.</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Argyle, L. P., et al. (2023). Out of one, many: language models as substitutes for human samples.</a:t>
            </a:r>
            <a:endParaRPr lang="en-US" sz="1000" dirty="0"/>
          </a:p>
          <a:p>
            <a:pPr marL="342900" indent="-342900">
              <a:lnSpc>
                <a:spcPct val="100000"/>
              </a:lnSpc>
              <a:spcAft>
                <a:spcPts val="600"/>
              </a:spcAft>
              <a:buSzPct val="100000"/>
              <a:buChar char="•"/>
            </a:pPr>
            <a:r>
              <a:rPr lang="en-US" sz="1000" dirty="0">
                <a:solidFill>
                  <a:srgbClr val="262B33"/>
                </a:solidFill>
                <a:latin typeface="Calibri" pitchFamily="34" charset="0"/>
                <a:ea typeface="Calibri" pitchFamily="34" charset="-122"/>
                <a:cs typeface="Calibri" pitchFamily="34" charset="-120"/>
              </a:rPr>
              <a:t>Latent-to-Language capstone: github.com/klinares/Latent_to_Language</a:t>
            </a:r>
            <a:endParaRPr lang="en-US" sz="1000" dirty="0"/>
          </a:p>
        </p:txBody>
      </p:sp>
      <p:sp>
        <p:nvSpPr>
          <p:cNvPr id="5" name="Text 3"/>
          <p:cNvSpPr/>
          <p:nvPr/>
        </p:nvSpPr>
        <p:spPr>
          <a:xfrm>
            <a:off x="8641080" y="4828032"/>
            <a:ext cx="41148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22960" y="1828800"/>
            <a:ext cx="1371600" cy="91440"/>
          </a:xfrm>
          <a:prstGeom prst="rect">
            <a:avLst/>
          </a:prstGeom>
          <a:solidFill>
            <a:srgbClr val="2C6E9C"/>
          </a:solidFill>
          <a:ln/>
        </p:spPr>
      </p:sp>
      <p:sp>
        <p:nvSpPr>
          <p:cNvPr id="3" name="Shape 1"/>
          <p:cNvSpPr/>
          <p:nvPr/>
        </p:nvSpPr>
        <p:spPr>
          <a:xfrm>
            <a:off x="822960" y="2029968"/>
            <a:ext cx="868680" cy="91440"/>
          </a:xfrm>
          <a:prstGeom prst="rect">
            <a:avLst/>
          </a:prstGeom>
          <a:solidFill>
            <a:srgbClr val="B5651D"/>
          </a:solidFill>
          <a:ln/>
        </p:spPr>
      </p:sp>
      <p:sp>
        <p:nvSpPr>
          <p:cNvPr id="4" name="Text 2"/>
          <p:cNvSpPr/>
          <p:nvPr/>
        </p:nvSpPr>
        <p:spPr>
          <a:xfrm>
            <a:off x="777240" y="228600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5" name="Text 3"/>
          <p:cNvSpPr/>
          <p:nvPr/>
        </p:nvSpPr>
        <p:spPr>
          <a:xfrm>
            <a:off x="822960" y="3291840"/>
            <a:ext cx="7315200" cy="457200"/>
          </a:xfrm>
          <a:prstGeom prst="rect">
            <a:avLst/>
          </a:prstGeom>
          <a:noFill/>
          <a:ln/>
        </p:spPr>
        <p:txBody>
          <a:bodyPr wrap="square" lIns="0" tIns="0" rIns="0" bIns="0" rtlCol="0" anchor="ctr"/>
          <a:lstStyle/>
          <a:p>
            <a:pPr indent="0" marL="0">
              <a:buNone/>
            </a:pPr>
            <a:r>
              <a:rPr lang="en-US" sz="1800" i="1" dirty="0">
                <a:solidFill>
                  <a:srgbClr val="D6E6F2"/>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822960" y="4297680"/>
            <a:ext cx="7863840" cy="365760"/>
          </a:xfrm>
          <a:prstGeom prst="rect">
            <a:avLst/>
          </a:prstGeom>
          <a:noFill/>
          <a:ln/>
        </p:spPr>
        <p:txBody>
          <a:bodyPr wrap="square" lIns="0" tIns="0" rIns="0" bIns="0" rtlCol="0" anchor="ctr"/>
          <a:lstStyle/>
          <a:p>
            <a:pPr indent="0" marL="0">
              <a:buNone/>
            </a:pPr>
            <a:r>
              <a:rPr lang="en-US" sz="1300" dirty="0">
                <a:solidFill>
                  <a:srgbClr val="AEB9CC"/>
                </a:solidFill>
                <a:latin typeface="Calibri" pitchFamily="34" charset="0"/>
                <a:ea typeface="Calibri" pitchFamily="34" charset="-122"/>
                <a:cs typeface="Calibri" pitchFamily="34" charset="-120"/>
              </a:rPr>
              <a:t>Kevin Linares  ·  University of Maryland JPSM  ·  University of Michigan SRC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Garbage In, Inference Out?</dc:title>
  <dc:subject>PptxGenJS Presentation</dc:subject>
  <dc:creator>Kevin Linares</dc:creator>
  <cp:lastModifiedBy>Kevin Linares</cp:lastModifiedBy>
  <cp:revision>1</cp:revision>
  <dcterms:created xsi:type="dcterms:W3CDTF">2026-06-10T02:39:25Z</dcterms:created>
  <dcterms:modified xsi:type="dcterms:W3CDTF">2026-06-10T02:39:25Z</dcterms:modified>
</cp:coreProperties>
</file>